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3D_3B2A7349.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50" r:id="rId3"/>
    <p:sldId id="351" r:id="rId4"/>
    <p:sldId id="273" r:id="rId5"/>
    <p:sldId id="274" r:id="rId6"/>
    <p:sldId id="293" r:id="rId7"/>
    <p:sldId id="310" r:id="rId8"/>
    <p:sldId id="311" r:id="rId9"/>
    <p:sldId id="312" r:id="rId10"/>
    <p:sldId id="313" r:id="rId11"/>
    <p:sldId id="314" r:id="rId12"/>
    <p:sldId id="315" r:id="rId13"/>
    <p:sldId id="316" r:id="rId14"/>
    <p:sldId id="317" r:id="rId15"/>
    <p:sldId id="277" r:id="rId16"/>
    <p:sldId id="324" r:id="rId17"/>
    <p:sldId id="325" r:id="rId18"/>
    <p:sldId id="326" r:id="rId19"/>
    <p:sldId id="335" r:id="rId20"/>
    <p:sldId id="323" r:id="rId21"/>
    <p:sldId id="327" r:id="rId22"/>
    <p:sldId id="328" r:id="rId23"/>
    <p:sldId id="329" r:id="rId24"/>
    <p:sldId id="330" r:id="rId25"/>
    <p:sldId id="331" r:id="rId26"/>
    <p:sldId id="332" r:id="rId27"/>
    <p:sldId id="334" r:id="rId28"/>
    <p:sldId id="336" r:id="rId29"/>
    <p:sldId id="337" r:id="rId30"/>
    <p:sldId id="338" r:id="rId31"/>
    <p:sldId id="339" r:id="rId32"/>
    <p:sldId id="340" r:id="rId33"/>
    <p:sldId id="343" r:id="rId34"/>
    <p:sldId id="341" r:id="rId35"/>
    <p:sldId id="342" r:id="rId36"/>
    <p:sldId id="344" r:id="rId37"/>
    <p:sldId id="345" r:id="rId38"/>
    <p:sldId id="346" r:id="rId39"/>
    <p:sldId id="347" r:id="rId40"/>
    <p:sldId id="348" r:id="rId41"/>
    <p:sldId id="349" r:id="rId42"/>
    <p:sldId id="353" r:id="rId43"/>
    <p:sldId id="354" r:id="rId44"/>
    <p:sldId id="352" r:id="rId45"/>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3706BD-CCB0-60C8-6C0E-CA1F2AE884FC}" name="Shaked Chen" initials="SC" userId="S::shaked.chen1@live.biu.ac.il::8c4cd366-80f7-4101-b277-36e5d248af1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86"/>
    <p:restoredTop sz="94694"/>
  </p:normalViewPr>
  <p:slideViewPr>
    <p:cSldViewPr snapToGrid="0">
      <p:cViewPr varScale="1">
        <p:scale>
          <a:sx n="109" d="100"/>
          <a:sy n="109" d="100"/>
        </p:scale>
        <p:origin x="184" y="44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modernComment_13D_3B2A7349.xml><?xml version="1.0" encoding="utf-8"?>
<p188:cmLst xmlns:a="http://schemas.openxmlformats.org/drawingml/2006/main" xmlns:r="http://schemas.openxmlformats.org/officeDocument/2006/relationships" xmlns:p188="http://schemas.microsoft.com/office/powerpoint/2018/8/main">
  <p188:cm id="{957B4B32-EE65-AF4F-91B6-9690C9659E0A}" authorId="{1A3706BD-CCB0-60C8-6C0E-CA1F2AE884FC}" created="2023-01-16T00:14:41.902">
    <pc:sldMkLst xmlns:pc="http://schemas.microsoft.com/office/powerpoint/2013/main/command">
      <pc:docMk/>
      <pc:sldMk cId="992637769" sldId="317"/>
    </pc:sldMkLst>
    <p188:txBody>
      <a:bodyPr/>
      <a:lstStyle/>
      <a:p>
        <a:r>
          <a:rPr lang="en-IL"/>
          <a:t>See in future</a:t>
        </a:r>
      </a:p>
    </p188:txBody>
  </p188:cm>
</p188:cmLst>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3E667-3E26-488A-977B-80AA728C9E91}"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FFE4B00-2F28-4B41-A12C-0F968E224663}">
      <dgm:prSet/>
      <dgm:spPr/>
      <dgm:t>
        <a:bodyPr/>
        <a:lstStyle/>
        <a:p>
          <a:r>
            <a:rPr lang="en-US"/>
            <a:t>The transform property in CSS allows you to apply a transformation to an element. A transformation is a visual effect that changes the appearance of an element in some way.</a:t>
          </a:r>
        </a:p>
      </dgm:t>
    </dgm:pt>
    <dgm:pt modelId="{9FCC0AA4-92F3-4AD4-9107-2EE88BF9C202}" type="parTrans" cxnId="{DE46911C-7D11-4A71-B9A4-3608AD71270F}">
      <dgm:prSet/>
      <dgm:spPr/>
      <dgm:t>
        <a:bodyPr/>
        <a:lstStyle/>
        <a:p>
          <a:endParaRPr lang="en-US"/>
        </a:p>
      </dgm:t>
    </dgm:pt>
    <dgm:pt modelId="{3E0ADBE9-F7A5-4084-8740-4A7DBF6818FF}" type="sibTrans" cxnId="{DE46911C-7D11-4A71-B9A4-3608AD71270F}">
      <dgm:prSet/>
      <dgm:spPr/>
      <dgm:t>
        <a:bodyPr/>
        <a:lstStyle/>
        <a:p>
          <a:endParaRPr lang="en-US"/>
        </a:p>
      </dgm:t>
    </dgm:pt>
    <dgm:pt modelId="{B4A078E5-C706-4F32-BC5B-8F72E92995DC}">
      <dgm:prSet/>
      <dgm:spPr/>
      <dgm:t>
        <a:bodyPr/>
        <a:lstStyle/>
        <a:p>
          <a:r>
            <a:rPr lang="en-US"/>
            <a:t>The transform property has a number of different functions that you can use to transform an element, including:</a:t>
          </a:r>
        </a:p>
      </dgm:t>
    </dgm:pt>
    <dgm:pt modelId="{0EBFD6C1-832D-4D90-A021-2BA648B7691A}" type="parTrans" cxnId="{84C3501C-438F-45E0-BD91-6639BD41294D}">
      <dgm:prSet/>
      <dgm:spPr/>
      <dgm:t>
        <a:bodyPr/>
        <a:lstStyle/>
        <a:p>
          <a:endParaRPr lang="en-US"/>
        </a:p>
      </dgm:t>
    </dgm:pt>
    <dgm:pt modelId="{2EA8A9BF-6FF0-42D6-891B-F476B143BB16}" type="sibTrans" cxnId="{84C3501C-438F-45E0-BD91-6639BD41294D}">
      <dgm:prSet/>
      <dgm:spPr/>
      <dgm:t>
        <a:bodyPr/>
        <a:lstStyle/>
        <a:p>
          <a:endParaRPr lang="en-US"/>
        </a:p>
      </dgm:t>
    </dgm:pt>
    <dgm:pt modelId="{95E3E6F8-DE5C-4AD9-8146-2CA6D0D82F1B}">
      <dgm:prSet/>
      <dgm:spPr/>
      <dgm:t>
        <a:bodyPr/>
        <a:lstStyle/>
        <a:p>
          <a:r>
            <a:rPr lang="en-US"/>
            <a:t>translate: Moves an element along the X and Y axes.</a:t>
          </a:r>
        </a:p>
      </dgm:t>
    </dgm:pt>
    <dgm:pt modelId="{2DB566C8-C858-4730-A4D5-217DDCFB6A1C}" type="parTrans" cxnId="{FFE2932E-8CE9-4341-A6AF-B5CC48E4BCA4}">
      <dgm:prSet/>
      <dgm:spPr/>
      <dgm:t>
        <a:bodyPr/>
        <a:lstStyle/>
        <a:p>
          <a:endParaRPr lang="en-US"/>
        </a:p>
      </dgm:t>
    </dgm:pt>
    <dgm:pt modelId="{EAF659F6-A98E-4156-B714-02A3ED1D6D77}" type="sibTrans" cxnId="{FFE2932E-8CE9-4341-A6AF-B5CC48E4BCA4}">
      <dgm:prSet/>
      <dgm:spPr/>
      <dgm:t>
        <a:bodyPr/>
        <a:lstStyle/>
        <a:p>
          <a:endParaRPr lang="en-US"/>
        </a:p>
      </dgm:t>
    </dgm:pt>
    <dgm:pt modelId="{3A27EBA2-9253-4B52-83CF-D57A913A7D84}">
      <dgm:prSet/>
      <dgm:spPr/>
      <dgm:t>
        <a:bodyPr/>
        <a:lstStyle/>
        <a:p>
          <a:r>
            <a:rPr lang="en-US"/>
            <a:t>scale: Scales an element up or down in size.</a:t>
          </a:r>
        </a:p>
      </dgm:t>
    </dgm:pt>
    <dgm:pt modelId="{4B7CC33B-0822-49F9-9AE2-3DFB7D2E7B1A}" type="parTrans" cxnId="{45348E6B-C314-41C1-BD21-25AD00D061FE}">
      <dgm:prSet/>
      <dgm:spPr/>
      <dgm:t>
        <a:bodyPr/>
        <a:lstStyle/>
        <a:p>
          <a:endParaRPr lang="en-US"/>
        </a:p>
      </dgm:t>
    </dgm:pt>
    <dgm:pt modelId="{5229620B-4ACB-40FB-978F-F55F9BAA29EE}" type="sibTrans" cxnId="{45348E6B-C314-41C1-BD21-25AD00D061FE}">
      <dgm:prSet/>
      <dgm:spPr/>
      <dgm:t>
        <a:bodyPr/>
        <a:lstStyle/>
        <a:p>
          <a:endParaRPr lang="en-US"/>
        </a:p>
      </dgm:t>
    </dgm:pt>
    <dgm:pt modelId="{163D6EC5-707C-4376-91B2-CBE986C0A7FB}">
      <dgm:prSet/>
      <dgm:spPr/>
      <dgm:t>
        <a:bodyPr/>
        <a:lstStyle/>
        <a:p>
          <a:r>
            <a:rPr lang="en-US"/>
            <a:t>rotate: Rotates an element clockwise or counterclockwise.</a:t>
          </a:r>
        </a:p>
      </dgm:t>
    </dgm:pt>
    <dgm:pt modelId="{85DBAE08-ABE8-4941-8073-C4349F0AD10C}" type="parTrans" cxnId="{E4DC753B-0C3E-4199-85EF-4A8F43753955}">
      <dgm:prSet/>
      <dgm:spPr/>
      <dgm:t>
        <a:bodyPr/>
        <a:lstStyle/>
        <a:p>
          <a:endParaRPr lang="en-US"/>
        </a:p>
      </dgm:t>
    </dgm:pt>
    <dgm:pt modelId="{2A9C4831-4ECB-44F6-AD95-6B8022D6A0D3}" type="sibTrans" cxnId="{E4DC753B-0C3E-4199-85EF-4A8F43753955}">
      <dgm:prSet/>
      <dgm:spPr/>
      <dgm:t>
        <a:bodyPr/>
        <a:lstStyle/>
        <a:p>
          <a:endParaRPr lang="en-US"/>
        </a:p>
      </dgm:t>
    </dgm:pt>
    <dgm:pt modelId="{4FA2D888-1122-494A-8C42-4E7291DA4ECD}">
      <dgm:prSet/>
      <dgm:spPr/>
      <dgm:t>
        <a:bodyPr/>
        <a:lstStyle/>
        <a:p>
          <a:r>
            <a:rPr lang="en-US"/>
            <a:t>skew: Skews an element horizontally or vertically.</a:t>
          </a:r>
        </a:p>
      </dgm:t>
    </dgm:pt>
    <dgm:pt modelId="{BEA16B0C-CC78-4377-BE33-8F81DA955435}" type="parTrans" cxnId="{FACD3ABB-AF21-423A-8754-0F4CB64A52C3}">
      <dgm:prSet/>
      <dgm:spPr/>
      <dgm:t>
        <a:bodyPr/>
        <a:lstStyle/>
        <a:p>
          <a:endParaRPr lang="en-US"/>
        </a:p>
      </dgm:t>
    </dgm:pt>
    <dgm:pt modelId="{1EFC0C9B-FE3E-44C3-95BF-6529195FFBD7}" type="sibTrans" cxnId="{FACD3ABB-AF21-423A-8754-0F4CB64A52C3}">
      <dgm:prSet/>
      <dgm:spPr/>
      <dgm:t>
        <a:bodyPr/>
        <a:lstStyle/>
        <a:p>
          <a:endParaRPr lang="en-US"/>
        </a:p>
      </dgm:t>
    </dgm:pt>
    <dgm:pt modelId="{6749A960-0A26-BA43-8DE6-68E1A69AAA92}" type="pres">
      <dgm:prSet presAssocID="{DD33E667-3E26-488A-977B-80AA728C9E91}" presName="linear" presStyleCnt="0">
        <dgm:presLayoutVars>
          <dgm:animLvl val="lvl"/>
          <dgm:resizeHandles val="exact"/>
        </dgm:presLayoutVars>
      </dgm:prSet>
      <dgm:spPr/>
    </dgm:pt>
    <dgm:pt modelId="{F2F8CFBA-16E5-6044-ACDD-FBFE3C51C872}" type="pres">
      <dgm:prSet presAssocID="{1FFE4B00-2F28-4B41-A12C-0F968E224663}" presName="parentText" presStyleLbl="node1" presStyleIdx="0" presStyleCnt="6">
        <dgm:presLayoutVars>
          <dgm:chMax val="0"/>
          <dgm:bulletEnabled val="1"/>
        </dgm:presLayoutVars>
      </dgm:prSet>
      <dgm:spPr/>
    </dgm:pt>
    <dgm:pt modelId="{AFD71B62-E65E-8340-8886-2441DDE6EB28}" type="pres">
      <dgm:prSet presAssocID="{3E0ADBE9-F7A5-4084-8740-4A7DBF6818FF}" presName="spacer" presStyleCnt="0"/>
      <dgm:spPr/>
    </dgm:pt>
    <dgm:pt modelId="{3D1AF046-C3C4-6C4C-87AA-40E4993E689D}" type="pres">
      <dgm:prSet presAssocID="{B4A078E5-C706-4F32-BC5B-8F72E92995DC}" presName="parentText" presStyleLbl="node1" presStyleIdx="1" presStyleCnt="6">
        <dgm:presLayoutVars>
          <dgm:chMax val="0"/>
          <dgm:bulletEnabled val="1"/>
        </dgm:presLayoutVars>
      </dgm:prSet>
      <dgm:spPr/>
    </dgm:pt>
    <dgm:pt modelId="{D02FE34B-B77E-E143-BE0F-66CB924342B7}" type="pres">
      <dgm:prSet presAssocID="{2EA8A9BF-6FF0-42D6-891B-F476B143BB16}" presName="spacer" presStyleCnt="0"/>
      <dgm:spPr/>
    </dgm:pt>
    <dgm:pt modelId="{D97CC709-5301-984C-93E1-935AECA59674}" type="pres">
      <dgm:prSet presAssocID="{95E3E6F8-DE5C-4AD9-8146-2CA6D0D82F1B}" presName="parentText" presStyleLbl="node1" presStyleIdx="2" presStyleCnt="6">
        <dgm:presLayoutVars>
          <dgm:chMax val="0"/>
          <dgm:bulletEnabled val="1"/>
        </dgm:presLayoutVars>
      </dgm:prSet>
      <dgm:spPr/>
    </dgm:pt>
    <dgm:pt modelId="{F14B41C3-566E-784C-B9A4-071D1162A304}" type="pres">
      <dgm:prSet presAssocID="{EAF659F6-A98E-4156-B714-02A3ED1D6D77}" presName="spacer" presStyleCnt="0"/>
      <dgm:spPr/>
    </dgm:pt>
    <dgm:pt modelId="{327A4E1A-8EA6-AD4D-8645-9CD49329D83F}" type="pres">
      <dgm:prSet presAssocID="{3A27EBA2-9253-4B52-83CF-D57A913A7D84}" presName="parentText" presStyleLbl="node1" presStyleIdx="3" presStyleCnt="6">
        <dgm:presLayoutVars>
          <dgm:chMax val="0"/>
          <dgm:bulletEnabled val="1"/>
        </dgm:presLayoutVars>
      </dgm:prSet>
      <dgm:spPr/>
    </dgm:pt>
    <dgm:pt modelId="{F00A0682-2361-BB47-A48C-84E7C228D4E2}" type="pres">
      <dgm:prSet presAssocID="{5229620B-4ACB-40FB-978F-F55F9BAA29EE}" presName="spacer" presStyleCnt="0"/>
      <dgm:spPr/>
    </dgm:pt>
    <dgm:pt modelId="{E62E91BC-C944-1B4A-862F-08389EF546B9}" type="pres">
      <dgm:prSet presAssocID="{163D6EC5-707C-4376-91B2-CBE986C0A7FB}" presName="parentText" presStyleLbl="node1" presStyleIdx="4" presStyleCnt="6">
        <dgm:presLayoutVars>
          <dgm:chMax val="0"/>
          <dgm:bulletEnabled val="1"/>
        </dgm:presLayoutVars>
      </dgm:prSet>
      <dgm:spPr/>
    </dgm:pt>
    <dgm:pt modelId="{2416012F-D2B4-7048-A9EA-9BF70DEF73D7}" type="pres">
      <dgm:prSet presAssocID="{2A9C4831-4ECB-44F6-AD95-6B8022D6A0D3}" presName="spacer" presStyleCnt="0"/>
      <dgm:spPr/>
    </dgm:pt>
    <dgm:pt modelId="{13979A95-3A6B-6D40-833E-D539D3E019B1}" type="pres">
      <dgm:prSet presAssocID="{4FA2D888-1122-494A-8C42-4E7291DA4ECD}" presName="parentText" presStyleLbl="node1" presStyleIdx="5" presStyleCnt="6">
        <dgm:presLayoutVars>
          <dgm:chMax val="0"/>
          <dgm:bulletEnabled val="1"/>
        </dgm:presLayoutVars>
      </dgm:prSet>
      <dgm:spPr/>
    </dgm:pt>
  </dgm:ptLst>
  <dgm:cxnLst>
    <dgm:cxn modelId="{F638D60C-3690-4641-9592-78C0834FEE90}" type="presOf" srcId="{4FA2D888-1122-494A-8C42-4E7291DA4ECD}" destId="{13979A95-3A6B-6D40-833E-D539D3E019B1}" srcOrd="0" destOrd="0" presId="urn:microsoft.com/office/officeart/2005/8/layout/vList2"/>
    <dgm:cxn modelId="{6754C910-EDCA-1649-A485-EC9EEBD3A025}" type="presOf" srcId="{1FFE4B00-2F28-4B41-A12C-0F968E224663}" destId="{F2F8CFBA-16E5-6044-ACDD-FBFE3C51C872}" srcOrd="0" destOrd="0" presId="urn:microsoft.com/office/officeart/2005/8/layout/vList2"/>
    <dgm:cxn modelId="{84C3501C-438F-45E0-BD91-6639BD41294D}" srcId="{DD33E667-3E26-488A-977B-80AA728C9E91}" destId="{B4A078E5-C706-4F32-BC5B-8F72E92995DC}" srcOrd="1" destOrd="0" parTransId="{0EBFD6C1-832D-4D90-A021-2BA648B7691A}" sibTransId="{2EA8A9BF-6FF0-42D6-891B-F476B143BB16}"/>
    <dgm:cxn modelId="{DE46911C-7D11-4A71-B9A4-3608AD71270F}" srcId="{DD33E667-3E26-488A-977B-80AA728C9E91}" destId="{1FFE4B00-2F28-4B41-A12C-0F968E224663}" srcOrd="0" destOrd="0" parTransId="{9FCC0AA4-92F3-4AD4-9107-2EE88BF9C202}" sibTransId="{3E0ADBE9-F7A5-4084-8740-4A7DBF6818FF}"/>
    <dgm:cxn modelId="{FFE2932E-8CE9-4341-A6AF-B5CC48E4BCA4}" srcId="{DD33E667-3E26-488A-977B-80AA728C9E91}" destId="{95E3E6F8-DE5C-4AD9-8146-2CA6D0D82F1B}" srcOrd="2" destOrd="0" parTransId="{2DB566C8-C858-4730-A4D5-217DDCFB6A1C}" sibTransId="{EAF659F6-A98E-4156-B714-02A3ED1D6D77}"/>
    <dgm:cxn modelId="{E4DC753B-0C3E-4199-85EF-4A8F43753955}" srcId="{DD33E667-3E26-488A-977B-80AA728C9E91}" destId="{163D6EC5-707C-4376-91B2-CBE986C0A7FB}" srcOrd="4" destOrd="0" parTransId="{85DBAE08-ABE8-4941-8073-C4349F0AD10C}" sibTransId="{2A9C4831-4ECB-44F6-AD95-6B8022D6A0D3}"/>
    <dgm:cxn modelId="{CEF2023D-0572-C24A-AA8E-3DA987EE8204}" type="presOf" srcId="{DD33E667-3E26-488A-977B-80AA728C9E91}" destId="{6749A960-0A26-BA43-8DE6-68E1A69AAA92}" srcOrd="0" destOrd="0" presId="urn:microsoft.com/office/officeart/2005/8/layout/vList2"/>
    <dgm:cxn modelId="{FC71DE50-76E5-494A-89AF-B60BE97DA092}" type="presOf" srcId="{95E3E6F8-DE5C-4AD9-8146-2CA6D0D82F1B}" destId="{D97CC709-5301-984C-93E1-935AECA59674}" srcOrd="0" destOrd="0" presId="urn:microsoft.com/office/officeart/2005/8/layout/vList2"/>
    <dgm:cxn modelId="{24511A63-DD49-AA49-8474-A7C0F5799D02}" type="presOf" srcId="{163D6EC5-707C-4376-91B2-CBE986C0A7FB}" destId="{E62E91BC-C944-1B4A-862F-08389EF546B9}" srcOrd="0" destOrd="0" presId="urn:microsoft.com/office/officeart/2005/8/layout/vList2"/>
    <dgm:cxn modelId="{45348E6B-C314-41C1-BD21-25AD00D061FE}" srcId="{DD33E667-3E26-488A-977B-80AA728C9E91}" destId="{3A27EBA2-9253-4B52-83CF-D57A913A7D84}" srcOrd="3" destOrd="0" parTransId="{4B7CC33B-0822-49F9-9AE2-3DFB7D2E7B1A}" sibTransId="{5229620B-4ACB-40FB-978F-F55F9BAA29EE}"/>
    <dgm:cxn modelId="{5BADEA9C-2B3C-CC41-B396-0A56BB2C87B8}" type="presOf" srcId="{3A27EBA2-9253-4B52-83CF-D57A913A7D84}" destId="{327A4E1A-8EA6-AD4D-8645-9CD49329D83F}" srcOrd="0" destOrd="0" presId="urn:microsoft.com/office/officeart/2005/8/layout/vList2"/>
    <dgm:cxn modelId="{FACD3ABB-AF21-423A-8754-0F4CB64A52C3}" srcId="{DD33E667-3E26-488A-977B-80AA728C9E91}" destId="{4FA2D888-1122-494A-8C42-4E7291DA4ECD}" srcOrd="5" destOrd="0" parTransId="{BEA16B0C-CC78-4377-BE33-8F81DA955435}" sibTransId="{1EFC0C9B-FE3E-44C3-95BF-6529195FFBD7}"/>
    <dgm:cxn modelId="{DA209FF5-DC39-CA47-914C-E9FE69DF0F57}" type="presOf" srcId="{B4A078E5-C706-4F32-BC5B-8F72E92995DC}" destId="{3D1AF046-C3C4-6C4C-87AA-40E4993E689D}" srcOrd="0" destOrd="0" presId="urn:microsoft.com/office/officeart/2005/8/layout/vList2"/>
    <dgm:cxn modelId="{CDD3EDD2-E6AC-354F-AEC4-191564F520A9}" type="presParOf" srcId="{6749A960-0A26-BA43-8DE6-68E1A69AAA92}" destId="{F2F8CFBA-16E5-6044-ACDD-FBFE3C51C872}" srcOrd="0" destOrd="0" presId="urn:microsoft.com/office/officeart/2005/8/layout/vList2"/>
    <dgm:cxn modelId="{7849E2B4-578E-D34C-BBF1-EED61F46DA57}" type="presParOf" srcId="{6749A960-0A26-BA43-8DE6-68E1A69AAA92}" destId="{AFD71B62-E65E-8340-8886-2441DDE6EB28}" srcOrd="1" destOrd="0" presId="urn:microsoft.com/office/officeart/2005/8/layout/vList2"/>
    <dgm:cxn modelId="{0E15CA2D-0F9D-D340-A9B8-4C1EA6BD2D7D}" type="presParOf" srcId="{6749A960-0A26-BA43-8DE6-68E1A69AAA92}" destId="{3D1AF046-C3C4-6C4C-87AA-40E4993E689D}" srcOrd="2" destOrd="0" presId="urn:microsoft.com/office/officeart/2005/8/layout/vList2"/>
    <dgm:cxn modelId="{4C04F90E-F596-6643-A425-C55E8DEA4C73}" type="presParOf" srcId="{6749A960-0A26-BA43-8DE6-68E1A69AAA92}" destId="{D02FE34B-B77E-E143-BE0F-66CB924342B7}" srcOrd="3" destOrd="0" presId="urn:microsoft.com/office/officeart/2005/8/layout/vList2"/>
    <dgm:cxn modelId="{84036634-ED91-EB46-B90D-56114CB28D28}" type="presParOf" srcId="{6749A960-0A26-BA43-8DE6-68E1A69AAA92}" destId="{D97CC709-5301-984C-93E1-935AECA59674}" srcOrd="4" destOrd="0" presId="urn:microsoft.com/office/officeart/2005/8/layout/vList2"/>
    <dgm:cxn modelId="{BBD20278-3939-C641-851B-D02E71230864}" type="presParOf" srcId="{6749A960-0A26-BA43-8DE6-68E1A69AAA92}" destId="{F14B41C3-566E-784C-B9A4-071D1162A304}" srcOrd="5" destOrd="0" presId="urn:microsoft.com/office/officeart/2005/8/layout/vList2"/>
    <dgm:cxn modelId="{A2F9B7AD-34F5-5044-8CE1-87EE4CB7B159}" type="presParOf" srcId="{6749A960-0A26-BA43-8DE6-68E1A69AAA92}" destId="{327A4E1A-8EA6-AD4D-8645-9CD49329D83F}" srcOrd="6" destOrd="0" presId="urn:microsoft.com/office/officeart/2005/8/layout/vList2"/>
    <dgm:cxn modelId="{C4F1BB70-51EA-0F44-A5B0-38827174D6F9}" type="presParOf" srcId="{6749A960-0A26-BA43-8DE6-68E1A69AAA92}" destId="{F00A0682-2361-BB47-A48C-84E7C228D4E2}" srcOrd="7" destOrd="0" presId="urn:microsoft.com/office/officeart/2005/8/layout/vList2"/>
    <dgm:cxn modelId="{277919F7-92E6-DD4D-9EC3-0229E6AE94F4}" type="presParOf" srcId="{6749A960-0A26-BA43-8DE6-68E1A69AAA92}" destId="{E62E91BC-C944-1B4A-862F-08389EF546B9}" srcOrd="8" destOrd="0" presId="urn:microsoft.com/office/officeart/2005/8/layout/vList2"/>
    <dgm:cxn modelId="{A0D6CEEF-827B-2744-94F5-2E617D70F0BC}" type="presParOf" srcId="{6749A960-0A26-BA43-8DE6-68E1A69AAA92}" destId="{2416012F-D2B4-7048-A9EA-9BF70DEF73D7}" srcOrd="9" destOrd="0" presId="urn:microsoft.com/office/officeart/2005/8/layout/vList2"/>
    <dgm:cxn modelId="{B43E05D5-7DEB-4743-93DA-979F11F45709}" type="presParOf" srcId="{6749A960-0A26-BA43-8DE6-68E1A69AAA92}" destId="{13979A95-3A6B-6D40-833E-D539D3E019B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29FB0F-5B5D-44F4-9907-C5F62D19785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1488D6D-8F0D-4FE1-85D7-1C715C77BA45}">
      <dgm:prSet/>
      <dgm:spPr/>
      <dgm:t>
        <a:bodyPr/>
        <a:lstStyle/>
        <a:p>
          <a:r>
            <a:rPr lang="en-US"/>
            <a:t>The CSS float property is used to make an element float to the left or right of its containing element. When an element is floated, it is removed from the normal flow of the document and other elements will flow around it.</a:t>
          </a:r>
        </a:p>
      </dgm:t>
    </dgm:pt>
    <dgm:pt modelId="{A0E71B88-E54B-4A48-9FBD-92B3D9528738}" type="parTrans" cxnId="{AEDAA519-B082-4519-8846-287691B9E008}">
      <dgm:prSet/>
      <dgm:spPr/>
      <dgm:t>
        <a:bodyPr/>
        <a:lstStyle/>
        <a:p>
          <a:endParaRPr lang="en-US"/>
        </a:p>
      </dgm:t>
    </dgm:pt>
    <dgm:pt modelId="{126DA5ED-8B73-4EBB-9696-3185578A0CE9}" type="sibTrans" cxnId="{AEDAA519-B082-4519-8846-287691B9E008}">
      <dgm:prSet/>
      <dgm:spPr/>
      <dgm:t>
        <a:bodyPr/>
        <a:lstStyle/>
        <a:p>
          <a:endParaRPr lang="en-US"/>
        </a:p>
      </dgm:t>
    </dgm:pt>
    <dgm:pt modelId="{A6CB0FDB-FF14-48EC-B65B-1184EBDCC5B7}">
      <dgm:prSet/>
      <dgm:spPr/>
      <dgm:t>
        <a:bodyPr/>
        <a:lstStyle/>
        <a:p>
          <a:r>
            <a:rPr lang="en-US"/>
            <a:t>The float property can be set to left, right, or none.</a:t>
          </a:r>
        </a:p>
      </dgm:t>
    </dgm:pt>
    <dgm:pt modelId="{5082267A-6A49-4A5F-93A0-8C29542ED3F1}" type="parTrans" cxnId="{D7BCE6CA-B129-4835-AC45-5B4303E2C0E0}">
      <dgm:prSet/>
      <dgm:spPr/>
      <dgm:t>
        <a:bodyPr/>
        <a:lstStyle/>
        <a:p>
          <a:endParaRPr lang="en-US"/>
        </a:p>
      </dgm:t>
    </dgm:pt>
    <dgm:pt modelId="{F8C358CE-865B-44FB-BFC1-CC94CE9EC66D}" type="sibTrans" cxnId="{D7BCE6CA-B129-4835-AC45-5B4303E2C0E0}">
      <dgm:prSet/>
      <dgm:spPr/>
      <dgm:t>
        <a:bodyPr/>
        <a:lstStyle/>
        <a:p>
          <a:endParaRPr lang="en-US"/>
        </a:p>
      </dgm:t>
    </dgm:pt>
    <dgm:pt modelId="{088A3D75-6568-447E-B9B4-00978362CDAF}">
      <dgm:prSet/>
      <dgm:spPr/>
      <dgm:t>
        <a:bodyPr/>
        <a:lstStyle/>
        <a:p>
          <a:r>
            <a:rPr lang="en-US"/>
            <a:t>left will make the element float to the left of its containing element.</a:t>
          </a:r>
        </a:p>
      </dgm:t>
    </dgm:pt>
    <dgm:pt modelId="{C1555B3B-F51F-47A7-B094-2693B755853A}" type="parTrans" cxnId="{22D08FCA-8D5D-4098-8E61-8CCAF82B4197}">
      <dgm:prSet/>
      <dgm:spPr/>
      <dgm:t>
        <a:bodyPr/>
        <a:lstStyle/>
        <a:p>
          <a:endParaRPr lang="en-US"/>
        </a:p>
      </dgm:t>
    </dgm:pt>
    <dgm:pt modelId="{0362E6C2-B463-4FA9-B1AE-FCA32939FC4D}" type="sibTrans" cxnId="{22D08FCA-8D5D-4098-8E61-8CCAF82B4197}">
      <dgm:prSet/>
      <dgm:spPr/>
      <dgm:t>
        <a:bodyPr/>
        <a:lstStyle/>
        <a:p>
          <a:endParaRPr lang="en-US"/>
        </a:p>
      </dgm:t>
    </dgm:pt>
    <dgm:pt modelId="{E2485293-4E43-4F3E-9E03-DAC22147F4D8}">
      <dgm:prSet/>
      <dgm:spPr/>
      <dgm:t>
        <a:bodyPr/>
        <a:lstStyle/>
        <a:p>
          <a:r>
            <a:rPr lang="en-US"/>
            <a:t>right will make the element float to the right of its containing element.</a:t>
          </a:r>
        </a:p>
      </dgm:t>
    </dgm:pt>
    <dgm:pt modelId="{E1FFEBB8-79FE-4815-BB01-B28C503E8958}" type="parTrans" cxnId="{9023BAAE-1928-4EC7-B387-1A409E329843}">
      <dgm:prSet/>
      <dgm:spPr/>
      <dgm:t>
        <a:bodyPr/>
        <a:lstStyle/>
        <a:p>
          <a:endParaRPr lang="en-US"/>
        </a:p>
      </dgm:t>
    </dgm:pt>
    <dgm:pt modelId="{93D1906B-ED33-4352-A18E-3F1820EAD9B9}" type="sibTrans" cxnId="{9023BAAE-1928-4EC7-B387-1A409E329843}">
      <dgm:prSet/>
      <dgm:spPr/>
      <dgm:t>
        <a:bodyPr/>
        <a:lstStyle/>
        <a:p>
          <a:endParaRPr lang="en-US"/>
        </a:p>
      </dgm:t>
    </dgm:pt>
    <dgm:pt modelId="{FE714A85-EA9A-4C33-889F-BA406E9F954E}">
      <dgm:prSet/>
      <dgm:spPr/>
      <dgm:t>
        <a:bodyPr/>
        <a:lstStyle/>
        <a:p>
          <a:r>
            <a:rPr lang="en-US"/>
            <a:t>none will make the element not float and be in normal flow</a:t>
          </a:r>
        </a:p>
      </dgm:t>
    </dgm:pt>
    <dgm:pt modelId="{AE50BC4A-B1BC-490F-BFBA-F39654C53BB8}" type="parTrans" cxnId="{54DEF576-87FA-4258-81D4-0234FBD6DE7D}">
      <dgm:prSet/>
      <dgm:spPr/>
      <dgm:t>
        <a:bodyPr/>
        <a:lstStyle/>
        <a:p>
          <a:endParaRPr lang="en-US"/>
        </a:p>
      </dgm:t>
    </dgm:pt>
    <dgm:pt modelId="{1BA742BB-7C01-4382-96BA-9AD3EDDB4C3B}" type="sibTrans" cxnId="{54DEF576-87FA-4258-81D4-0234FBD6DE7D}">
      <dgm:prSet/>
      <dgm:spPr/>
      <dgm:t>
        <a:bodyPr/>
        <a:lstStyle/>
        <a:p>
          <a:endParaRPr lang="en-US"/>
        </a:p>
      </dgm:t>
    </dgm:pt>
    <dgm:pt modelId="{CDC8FB5E-1E19-1141-95B4-CDD264EA745D}" type="pres">
      <dgm:prSet presAssocID="{2E29FB0F-5B5D-44F4-9907-C5F62D197857}" presName="linear" presStyleCnt="0">
        <dgm:presLayoutVars>
          <dgm:animLvl val="lvl"/>
          <dgm:resizeHandles val="exact"/>
        </dgm:presLayoutVars>
      </dgm:prSet>
      <dgm:spPr/>
    </dgm:pt>
    <dgm:pt modelId="{1F59887A-1CA3-2A4F-B9B8-4AE460161ADE}" type="pres">
      <dgm:prSet presAssocID="{C1488D6D-8F0D-4FE1-85D7-1C715C77BA45}" presName="parentText" presStyleLbl="node1" presStyleIdx="0" presStyleCnt="5">
        <dgm:presLayoutVars>
          <dgm:chMax val="0"/>
          <dgm:bulletEnabled val="1"/>
        </dgm:presLayoutVars>
      </dgm:prSet>
      <dgm:spPr/>
    </dgm:pt>
    <dgm:pt modelId="{9D54650F-D077-EC46-BEB4-D8A8F73F124F}" type="pres">
      <dgm:prSet presAssocID="{126DA5ED-8B73-4EBB-9696-3185578A0CE9}" presName="spacer" presStyleCnt="0"/>
      <dgm:spPr/>
    </dgm:pt>
    <dgm:pt modelId="{CF5572EF-8116-6D47-9C82-9878EF97530E}" type="pres">
      <dgm:prSet presAssocID="{A6CB0FDB-FF14-48EC-B65B-1184EBDCC5B7}" presName="parentText" presStyleLbl="node1" presStyleIdx="1" presStyleCnt="5">
        <dgm:presLayoutVars>
          <dgm:chMax val="0"/>
          <dgm:bulletEnabled val="1"/>
        </dgm:presLayoutVars>
      </dgm:prSet>
      <dgm:spPr/>
    </dgm:pt>
    <dgm:pt modelId="{5039CBF8-E6D4-5745-807E-4B3D5384CD64}" type="pres">
      <dgm:prSet presAssocID="{F8C358CE-865B-44FB-BFC1-CC94CE9EC66D}" presName="spacer" presStyleCnt="0"/>
      <dgm:spPr/>
    </dgm:pt>
    <dgm:pt modelId="{D583BBEE-55EF-9B44-893D-8A6405281279}" type="pres">
      <dgm:prSet presAssocID="{088A3D75-6568-447E-B9B4-00978362CDAF}" presName="parentText" presStyleLbl="node1" presStyleIdx="2" presStyleCnt="5">
        <dgm:presLayoutVars>
          <dgm:chMax val="0"/>
          <dgm:bulletEnabled val="1"/>
        </dgm:presLayoutVars>
      </dgm:prSet>
      <dgm:spPr/>
    </dgm:pt>
    <dgm:pt modelId="{FCCD69FD-ADE3-A343-B93C-832B24A9EEAB}" type="pres">
      <dgm:prSet presAssocID="{0362E6C2-B463-4FA9-B1AE-FCA32939FC4D}" presName="spacer" presStyleCnt="0"/>
      <dgm:spPr/>
    </dgm:pt>
    <dgm:pt modelId="{1270715D-199A-FE43-A662-E54F6F0EDE3E}" type="pres">
      <dgm:prSet presAssocID="{E2485293-4E43-4F3E-9E03-DAC22147F4D8}" presName="parentText" presStyleLbl="node1" presStyleIdx="3" presStyleCnt="5">
        <dgm:presLayoutVars>
          <dgm:chMax val="0"/>
          <dgm:bulletEnabled val="1"/>
        </dgm:presLayoutVars>
      </dgm:prSet>
      <dgm:spPr/>
    </dgm:pt>
    <dgm:pt modelId="{48E165E0-4B69-BE4C-832A-68E81BF7797C}" type="pres">
      <dgm:prSet presAssocID="{93D1906B-ED33-4352-A18E-3F1820EAD9B9}" presName="spacer" presStyleCnt="0"/>
      <dgm:spPr/>
    </dgm:pt>
    <dgm:pt modelId="{7647DBA3-19A0-224B-9F51-403E3C3FAE35}" type="pres">
      <dgm:prSet presAssocID="{FE714A85-EA9A-4C33-889F-BA406E9F954E}" presName="parentText" presStyleLbl="node1" presStyleIdx="4" presStyleCnt="5">
        <dgm:presLayoutVars>
          <dgm:chMax val="0"/>
          <dgm:bulletEnabled val="1"/>
        </dgm:presLayoutVars>
      </dgm:prSet>
      <dgm:spPr/>
    </dgm:pt>
  </dgm:ptLst>
  <dgm:cxnLst>
    <dgm:cxn modelId="{AEDAA519-B082-4519-8846-287691B9E008}" srcId="{2E29FB0F-5B5D-44F4-9907-C5F62D197857}" destId="{C1488D6D-8F0D-4FE1-85D7-1C715C77BA45}" srcOrd="0" destOrd="0" parTransId="{A0E71B88-E54B-4A48-9FBD-92B3D9528738}" sibTransId="{126DA5ED-8B73-4EBB-9696-3185578A0CE9}"/>
    <dgm:cxn modelId="{03DD5220-1CBB-4643-A40C-2C0D319AB7D4}" type="presOf" srcId="{C1488D6D-8F0D-4FE1-85D7-1C715C77BA45}" destId="{1F59887A-1CA3-2A4F-B9B8-4AE460161ADE}" srcOrd="0" destOrd="0" presId="urn:microsoft.com/office/officeart/2005/8/layout/vList2"/>
    <dgm:cxn modelId="{F5373944-5543-1A4C-AC9F-7712B1F3AF94}" type="presOf" srcId="{E2485293-4E43-4F3E-9E03-DAC22147F4D8}" destId="{1270715D-199A-FE43-A662-E54F6F0EDE3E}" srcOrd="0" destOrd="0" presId="urn:microsoft.com/office/officeart/2005/8/layout/vList2"/>
    <dgm:cxn modelId="{161CB960-AA49-C342-A9CF-876FC0FEBB54}" type="presOf" srcId="{088A3D75-6568-447E-B9B4-00978362CDAF}" destId="{D583BBEE-55EF-9B44-893D-8A6405281279}" srcOrd="0" destOrd="0" presId="urn:microsoft.com/office/officeart/2005/8/layout/vList2"/>
    <dgm:cxn modelId="{54DEF576-87FA-4258-81D4-0234FBD6DE7D}" srcId="{2E29FB0F-5B5D-44F4-9907-C5F62D197857}" destId="{FE714A85-EA9A-4C33-889F-BA406E9F954E}" srcOrd="4" destOrd="0" parTransId="{AE50BC4A-B1BC-490F-BFBA-F39654C53BB8}" sibTransId="{1BA742BB-7C01-4382-96BA-9AD3EDDB4C3B}"/>
    <dgm:cxn modelId="{34B43EA7-8BFD-5A49-A961-9BB95F5CCB56}" type="presOf" srcId="{FE714A85-EA9A-4C33-889F-BA406E9F954E}" destId="{7647DBA3-19A0-224B-9F51-403E3C3FAE35}" srcOrd="0" destOrd="0" presId="urn:microsoft.com/office/officeart/2005/8/layout/vList2"/>
    <dgm:cxn modelId="{9023BAAE-1928-4EC7-B387-1A409E329843}" srcId="{2E29FB0F-5B5D-44F4-9907-C5F62D197857}" destId="{E2485293-4E43-4F3E-9E03-DAC22147F4D8}" srcOrd="3" destOrd="0" parTransId="{E1FFEBB8-79FE-4815-BB01-B28C503E8958}" sibTransId="{93D1906B-ED33-4352-A18E-3F1820EAD9B9}"/>
    <dgm:cxn modelId="{22D08FCA-8D5D-4098-8E61-8CCAF82B4197}" srcId="{2E29FB0F-5B5D-44F4-9907-C5F62D197857}" destId="{088A3D75-6568-447E-B9B4-00978362CDAF}" srcOrd="2" destOrd="0" parTransId="{C1555B3B-F51F-47A7-B094-2693B755853A}" sibTransId="{0362E6C2-B463-4FA9-B1AE-FCA32939FC4D}"/>
    <dgm:cxn modelId="{D7BCE6CA-B129-4835-AC45-5B4303E2C0E0}" srcId="{2E29FB0F-5B5D-44F4-9907-C5F62D197857}" destId="{A6CB0FDB-FF14-48EC-B65B-1184EBDCC5B7}" srcOrd="1" destOrd="0" parTransId="{5082267A-6A49-4A5F-93A0-8C29542ED3F1}" sibTransId="{F8C358CE-865B-44FB-BFC1-CC94CE9EC66D}"/>
    <dgm:cxn modelId="{15F0B5CF-8504-7742-AC15-9436251CA8F0}" type="presOf" srcId="{A6CB0FDB-FF14-48EC-B65B-1184EBDCC5B7}" destId="{CF5572EF-8116-6D47-9C82-9878EF97530E}" srcOrd="0" destOrd="0" presId="urn:microsoft.com/office/officeart/2005/8/layout/vList2"/>
    <dgm:cxn modelId="{24CAD0DC-FB03-4B49-86D4-2BCB31652742}" type="presOf" srcId="{2E29FB0F-5B5D-44F4-9907-C5F62D197857}" destId="{CDC8FB5E-1E19-1141-95B4-CDD264EA745D}" srcOrd="0" destOrd="0" presId="urn:microsoft.com/office/officeart/2005/8/layout/vList2"/>
    <dgm:cxn modelId="{C26C058B-E17D-CE42-9622-972802173FD0}" type="presParOf" srcId="{CDC8FB5E-1E19-1141-95B4-CDD264EA745D}" destId="{1F59887A-1CA3-2A4F-B9B8-4AE460161ADE}" srcOrd="0" destOrd="0" presId="urn:microsoft.com/office/officeart/2005/8/layout/vList2"/>
    <dgm:cxn modelId="{45C41830-51FD-B34D-85C1-5CE19CA65525}" type="presParOf" srcId="{CDC8FB5E-1E19-1141-95B4-CDD264EA745D}" destId="{9D54650F-D077-EC46-BEB4-D8A8F73F124F}" srcOrd="1" destOrd="0" presId="urn:microsoft.com/office/officeart/2005/8/layout/vList2"/>
    <dgm:cxn modelId="{F9C07CD5-9BE4-8949-8CFC-BE9A763876BC}" type="presParOf" srcId="{CDC8FB5E-1E19-1141-95B4-CDD264EA745D}" destId="{CF5572EF-8116-6D47-9C82-9878EF97530E}" srcOrd="2" destOrd="0" presId="urn:microsoft.com/office/officeart/2005/8/layout/vList2"/>
    <dgm:cxn modelId="{7182AD44-951D-734A-80CF-F3B5D7761D34}" type="presParOf" srcId="{CDC8FB5E-1E19-1141-95B4-CDD264EA745D}" destId="{5039CBF8-E6D4-5745-807E-4B3D5384CD64}" srcOrd="3" destOrd="0" presId="urn:microsoft.com/office/officeart/2005/8/layout/vList2"/>
    <dgm:cxn modelId="{22B1290E-E8F6-8649-B4C6-6EC23D33BE54}" type="presParOf" srcId="{CDC8FB5E-1E19-1141-95B4-CDD264EA745D}" destId="{D583BBEE-55EF-9B44-893D-8A6405281279}" srcOrd="4" destOrd="0" presId="urn:microsoft.com/office/officeart/2005/8/layout/vList2"/>
    <dgm:cxn modelId="{000D89AE-9D78-D746-A2E5-974211B5BA41}" type="presParOf" srcId="{CDC8FB5E-1E19-1141-95B4-CDD264EA745D}" destId="{FCCD69FD-ADE3-A343-B93C-832B24A9EEAB}" srcOrd="5" destOrd="0" presId="urn:microsoft.com/office/officeart/2005/8/layout/vList2"/>
    <dgm:cxn modelId="{5395D5DD-7D8C-A846-82F3-36E600C18670}" type="presParOf" srcId="{CDC8FB5E-1E19-1141-95B4-CDD264EA745D}" destId="{1270715D-199A-FE43-A662-E54F6F0EDE3E}" srcOrd="6" destOrd="0" presId="urn:microsoft.com/office/officeart/2005/8/layout/vList2"/>
    <dgm:cxn modelId="{B51B8379-4153-F744-ACF4-93FACE2B1AF8}" type="presParOf" srcId="{CDC8FB5E-1E19-1141-95B4-CDD264EA745D}" destId="{48E165E0-4B69-BE4C-832A-68E81BF7797C}" srcOrd="7" destOrd="0" presId="urn:microsoft.com/office/officeart/2005/8/layout/vList2"/>
    <dgm:cxn modelId="{968275D3-98B8-AF48-A09A-F1DB82BD1B91}" type="presParOf" srcId="{CDC8FB5E-1E19-1141-95B4-CDD264EA745D}" destId="{7647DBA3-19A0-224B-9F51-403E3C3FAE3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9600A7-79E9-499A-ADDF-DC64C627F70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3F934C2-DA45-46FD-A236-4772C0347DA5}">
      <dgm:prSet/>
      <dgm:spPr/>
      <dgm:t>
        <a:bodyPr/>
        <a:lstStyle/>
        <a:p>
          <a:r>
            <a:rPr lang="en-US"/>
            <a:t>"align-content" is a CSS property that is used to align the whole block of flex lines within a flex container along the cross-axis, after the flexible lengths and auto margins are resolved. It is used in conjunction with the "display: flex" property and "flex-wrap:wrap" or "flex-wrap:wrap-reverse" to align the flex lines.</a:t>
          </a:r>
        </a:p>
      </dgm:t>
    </dgm:pt>
    <dgm:pt modelId="{2A9BE59E-0653-496D-B854-DC283869D166}" type="parTrans" cxnId="{5D7534AD-1145-4759-A0A4-0332F62CC38C}">
      <dgm:prSet/>
      <dgm:spPr/>
      <dgm:t>
        <a:bodyPr/>
        <a:lstStyle/>
        <a:p>
          <a:endParaRPr lang="en-US"/>
        </a:p>
      </dgm:t>
    </dgm:pt>
    <dgm:pt modelId="{1F86991D-5EFD-4991-9F2A-B8ABAD0943AB}" type="sibTrans" cxnId="{5D7534AD-1145-4759-A0A4-0332F62CC38C}">
      <dgm:prSet/>
      <dgm:spPr/>
      <dgm:t>
        <a:bodyPr/>
        <a:lstStyle/>
        <a:p>
          <a:endParaRPr lang="en-US"/>
        </a:p>
      </dgm:t>
    </dgm:pt>
    <dgm:pt modelId="{A7138651-1E0F-48EF-B419-70F5701055AB}">
      <dgm:prSet/>
      <dgm:spPr/>
      <dgm:t>
        <a:bodyPr/>
        <a:lstStyle/>
        <a:p>
          <a:r>
            <a:rPr lang="en-US"/>
            <a:t>The available options for the "align-content" property are:</a:t>
          </a:r>
        </a:p>
      </dgm:t>
    </dgm:pt>
    <dgm:pt modelId="{D4A1E503-02F0-4C1E-BC07-CB5F1F7ECB3D}" type="parTrans" cxnId="{0384E28F-F335-49E0-A7AE-1ED293B9499E}">
      <dgm:prSet/>
      <dgm:spPr/>
      <dgm:t>
        <a:bodyPr/>
        <a:lstStyle/>
        <a:p>
          <a:endParaRPr lang="en-US"/>
        </a:p>
      </dgm:t>
    </dgm:pt>
    <dgm:pt modelId="{987A0B23-6F87-47D0-B25A-8ED8D213D542}" type="sibTrans" cxnId="{0384E28F-F335-49E0-A7AE-1ED293B9499E}">
      <dgm:prSet/>
      <dgm:spPr/>
      <dgm:t>
        <a:bodyPr/>
        <a:lstStyle/>
        <a:p>
          <a:endParaRPr lang="en-US"/>
        </a:p>
      </dgm:t>
    </dgm:pt>
    <dgm:pt modelId="{9969DE50-9631-4FB8-9530-D95FCFFC44CF}">
      <dgm:prSet/>
      <dgm:spPr/>
      <dgm:t>
        <a:bodyPr/>
        <a:lstStyle/>
        <a:p>
          <a:r>
            <a:rPr lang="en-US"/>
            <a:t>"flex-start": This aligns the flex lines to the start of the flex container along the vertical axis.</a:t>
          </a:r>
        </a:p>
      </dgm:t>
    </dgm:pt>
    <dgm:pt modelId="{C48C7822-E54A-4EED-98E7-C6B85CA76605}" type="parTrans" cxnId="{07CD0258-C49F-467B-84DF-80E96B4896A9}">
      <dgm:prSet/>
      <dgm:spPr/>
      <dgm:t>
        <a:bodyPr/>
        <a:lstStyle/>
        <a:p>
          <a:endParaRPr lang="en-US"/>
        </a:p>
      </dgm:t>
    </dgm:pt>
    <dgm:pt modelId="{BA48CAF6-0CAB-4524-B5B8-A28A3697502F}" type="sibTrans" cxnId="{07CD0258-C49F-467B-84DF-80E96B4896A9}">
      <dgm:prSet/>
      <dgm:spPr/>
      <dgm:t>
        <a:bodyPr/>
        <a:lstStyle/>
        <a:p>
          <a:endParaRPr lang="en-US"/>
        </a:p>
      </dgm:t>
    </dgm:pt>
    <dgm:pt modelId="{2B56EF22-2600-4879-91F6-5E01AE9CCBD1}">
      <dgm:prSet/>
      <dgm:spPr/>
      <dgm:t>
        <a:bodyPr/>
        <a:lstStyle/>
        <a:p>
          <a:r>
            <a:rPr lang="en-US"/>
            <a:t>"flex-end": This aligns the flex lines to the end of the flex container along the vertical axis.</a:t>
          </a:r>
        </a:p>
      </dgm:t>
    </dgm:pt>
    <dgm:pt modelId="{B627B136-62E1-4713-934D-FCD0709E22EF}" type="parTrans" cxnId="{B8326DE1-95F1-4907-808F-259D568F1A81}">
      <dgm:prSet/>
      <dgm:spPr/>
      <dgm:t>
        <a:bodyPr/>
        <a:lstStyle/>
        <a:p>
          <a:endParaRPr lang="en-US"/>
        </a:p>
      </dgm:t>
    </dgm:pt>
    <dgm:pt modelId="{11CA5626-BC73-4F01-97F9-7F6635F3E5E5}" type="sibTrans" cxnId="{B8326DE1-95F1-4907-808F-259D568F1A81}">
      <dgm:prSet/>
      <dgm:spPr/>
      <dgm:t>
        <a:bodyPr/>
        <a:lstStyle/>
        <a:p>
          <a:endParaRPr lang="en-US"/>
        </a:p>
      </dgm:t>
    </dgm:pt>
    <dgm:pt modelId="{88170610-79B9-4DF5-9F11-2DC9BEB5417A}">
      <dgm:prSet/>
      <dgm:spPr/>
      <dgm:t>
        <a:bodyPr/>
        <a:lstStyle/>
        <a:p>
          <a:r>
            <a:rPr lang="en-US"/>
            <a:t>"center": This aligns the flex lines at the center of the flex container along the vertical axis.</a:t>
          </a:r>
        </a:p>
      </dgm:t>
    </dgm:pt>
    <dgm:pt modelId="{45563173-C149-44B7-85EE-B3F42EB03AC0}" type="parTrans" cxnId="{D74B9D0C-5F44-43A6-9F94-EBB5C6FED1D5}">
      <dgm:prSet/>
      <dgm:spPr/>
      <dgm:t>
        <a:bodyPr/>
        <a:lstStyle/>
        <a:p>
          <a:endParaRPr lang="en-US"/>
        </a:p>
      </dgm:t>
    </dgm:pt>
    <dgm:pt modelId="{2F9A86A7-E258-4836-9A9E-D06C618E0795}" type="sibTrans" cxnId="{D74B9D0C-5F44-43A6-9F94-EBB5C6FED1D5}">
      <dgm:prSet/>
      <dgm:spPr/>
      <dgm:t>
        <a:bodyPr/>
        <a:lstStyle/>
        <a:p>
          <a:endParaRPr lang="en-US"/>
        </a:p>
      </dgm:t>
    </dgm:pt>
    <dgm:pt modelId="{F096CE28-9438-4DE2-A880-035D3C49C572}">
      <dgm:prSet/>
      <dgm:spPr/>
      <dgm:t>
        <a:bodyPr/>
        <a:lstStyle/>
        <a:p>
          <a:r>
            <a:rPr lang="en-US"/>
            <a:t>"space-between": This distributes the flex lines evenly along the vertical axis, with the first flex line at the start of the flex container and the last flex line at the end.</a:t>
          </a:r>
        </a:p>
      </dgm:t>
    </dgm:pt>
    <dgm:pt modelId="{6B04B782-7293-4794-9998-A1097D27FB25}" type="parTrans" cxnId="{94544313-B74F-4A92-9FA5-37E09B9A95BA}">
      <dgm:prSet/>
      <dgm:spPr/>
      <dgm:t>
        <a:bodyPr/>
        <a:lstStyle/>
        <a:p>
          <a:endParaRPr lang="en-US"/>
        </a:p>
      </dgm:t>
    </dgm:pt>
    <dgm:pt modelId="{7F0C676A-D082-4327-8916-3EF0DBEDF23E}" type="sibTrans" cxnId="{94544313-B74F-4A92-9FA5-37E09B9A95BA}">
      <dgm:prSet/>
      <dgm:spPr/>
      <dgm:t>
        <a:bodyPr/>
        <a:lstStyle/>
        <a:p>
          <a:endParaRPr lang="en-US"/>
        </a:p>
      </dgm:t>
    </dgm:pt>
    <dgm:pt modelId="{EA7F6DE0-9163-41B0-841E-5453D0A6B110}">
      <dgm:prSet/>
      <dgm:spPr/>
      <dgm:t>
        <a:bodyPr/>
        <a:lstStyle/>
        <a:p>
          <a:r>
            <a:rPr lang="en-US"/>
            <a:t>"space-around": This distributes the flex lines evenly along the vertical axis, with equal space around each flex line.</a:t>
          </a:r>
        </a:p>
      </dgm:t>
    </dgm:pt>
    <dgm:pt modelId="{080AAED5-87B8-436A-9AE2-78AFAB7900C3}" type="parTrans" cxnId="{F6324EAA-884C-4E24-B5E7-65B737CB701C}">
      <dgm:prSet/>
      <dgm:spPr/>
      <dgm:t>
        <a:bodyPr/>
        <a:lstStyle/>
        <a:p>
          <a:endParaRPr lang="en-US"/>
        </a:p>
      </dgm:t>
    </dgm:pt>
    <dgm:pt modelId="{31BB2543-6B82-4D23-8AB2-84810A40D777}" type="sibTrans" cxnId="{F6324EAA-884C-4E24-B5E7-65B737CB701C}">
      <dgm:prSet/>
      <dgm:spPr/>
      <dgm:t>
        <a:bodyPr/>
        <a:lstStyle/>
        <a:p>
          <a:endParaRPr lang="en-US"/>
        </a:p>
      </dgm:t>
    </dgm:pt>
    <dgm:pt modelId="{806B8E61-2844-444E-81A4-BF4539BA90FD}">
      <dgm:prSet/>
      <dgm:spPr/>
      <dgm:t>
        <a:bodyPr/>
        <a:lstStyle/>
        <a:p>
          <a:r>
            <a:rPr lang="en-US"/>
            <a:t>"stretch": This stretches the flex lines to fill the flex container along the vertical axis.</a:t>
          </a:r>
        </a:p>
      </dgm:t>
    </dgm:pt>
    <dgm:pt modelId="{205CBAEB-B5FE-4261-9D20-CE22CB94BE79}" type="parTrans" cxnId="{DAD3EBD0-8061-467F-9480-B19F5DBC9358}">
      <dgm:prSet/>
      <dgm:spPr/>
      <dgm:t>
        <a:bodyPr/>
        <a:lstStyle/>
        <a:p>
          <a:endParaRPr lang="en-US"/>
        </a:p>
      </dgm:t>
    </dgm:pt>
    <dgm:pt modelId="{BAAA9AB9-E2EF-4CF4-8940-B84562C1878A}" type="sibTrans" cxnId="{DAD3EBD0-8061-467F-9480-B19F5DBC9358}">
      <dgm:prSet/>
      <dgm:spPr/>
      <dgm:t>
        <a:bodyPr/>
        <a:lstStyle/>
        <a:p>
          <a:endParaRPr lang="en-US"/>
        </a:p>
      </dgm:t>
    </dgm:pt>
    <dgm:pt modelId="{C50663C4-63B9-438F-9015-BFE8585CC4E2}">
      <dgm:prSet/>
      <dgm:spPr/>
      <dgm:t>
        <a:bodyPr/>
        <a:lstStyle/>
        <a:p>
          <a:r>
            <a:rPr lang="en-US"/>
            <a:t>The align-content property tells the flex container how should it align the flex lines along the cross-axis (vertical). It can be set as flex-start, flex-end, center, space-between, space-around, stretch. This property is used along with display: flex property and flex-wrap:wrap or flex-wrap:wrap-reverse.</a:t>
          </a:r>
        </a:p>
      </dgm:t>
    </dgm:pt>
    <dgm:pt modelId="{EF860BC3-2917-4660-BEC5-FC1E8AAB151D}" type="parTrans" cxnId="{7A3A8030-8A79-4CCD-A090-F5A303120B7E}">
      <dgm:prSet/>
      <dgm:spPr/>
      <dgm:t>
        <a:bodyPr/>
        <a:lstStyle/>
        <a:p>
          <a:endParaRPr lang="en-US"/>
        </a:p>
      </dgm:t>
    </dgm:pt>
    <dgm:pt modelId="{272BCF0A-463C-4D10-8885-C8ECFBA007F4}" type="sibTrans" cxnId="{7A3A8030-8A79-4CCD-A090-F5A303120B7E}">
      <dgm:prSet/>
      <dgm:spPr/>
      <dgm:t>
        <a:bodyPr/>
        <a:lstStyle/>
        <a:p>
          <a:endParaRPr lang="en-US"/>
        </a:p>
      </dgm:t>
    </dgm:pt>
    <dgm:pt modelId="{D03293CF-EF89-40BB-BC06-CE64F2FE4E37}">
      <dgm:prSet/>
      <dgm:spPr/>
      <dgm:t>
        <a:bodyPr/>
        <a:lstStyle/>
        <a:p>
          <a:r>
            <a:rPr lang="en-US"/>
            <a:t>It's worth noting that if the flex container has only one line of items, align-content property won't have any effect.</a:t>
          </a:r>
        </a:p>
      </dgm:t>
    </dgm:pt>
    <dgm:pt modelId="{8C5C6AF4-710B-4A66-BA92-A8C120BA2AA5}" type="parTrans" cxnId="{38C6ADF3-F0F3-4C29-9995-0CC6E3528455}">
      <dgm:prSet/>
      <dgm:spPr/>
      <dgm:t>
        <a:bodyPr/>
        <a:lstStyle/>
        <a:p>
          <a:endParaRPr lang="en-US"/>
        </a:p>
      </dgm:t>
    </dgm:pt>
    <dgm:pt modelId="{C81EE8A7-FE9A-414E-887A-797B4259A70C}" type="sibTrans" cxnId="{38C6ADF3-F0F3-4C29-9995-0CC6E3528455}">
      <dgm:prSet/>
      <dgm:spPr/>
      <dgm:t>
        <a:bodyPr/>
        <a:lstStyle/>
        <a:p>
          <a:endParaRPr lang="en-US"/>
        </a:p>
      </dgm:t>
    </dgm:pt>
    <dgm:pt modelId="{D07DFFB5-A659-DC4B-A42C-21255C8D8E65}" type="pres">
      <dgm:prSet presAssocID="{F69600A7-79E9-499A-ADDF-DC64C627F70E}" presName="linear" presStyleCnt="0">
        <dgm:presLayoutVars>
          <dgm:animLvl val="lvl"/>
          <dgm:resizeHandles val="exact"/>
        </dgm:presLayoutVars>
      </dgm:prSet>
      <dgm:spPr/>
    </dgm:pt>
    <dgm:pt modelId="{C60C9240-CD06-5A40-91A3-82E26621814D}" type="pres">
      <dgm:prSet presAssocID="{23F934C2-DA45-46FD-A236-4772C0347DA5}" presName="parentText" presStyleLbl="node1" presStyleIdx="0" presStyleCnt="10">
        <dgm:presLayoutVars>
          <dgm:chMax val="0"/>
          <dgm:bulletEnabled val="1"/>
        </dgm:presLayoutVars>
      </dgm:prSet>
      <dgm:spPr/>
    </dgm:pt>
    <dgm:pt modelId="{CEFC5569-D5A0-1541-ABB8-B3B90536E971}" type="pres">
      <dgm:prSet presAssocID="{1F86991D-5EFD-4991-9F2A-B8ABAD0943AB}" presName="spacer" presStyleCnt="0"/>
      <dgm:spPr/>
    </dgm:pt>
    <dgm:pt modelId="{4BEA23EC-637E-F64B-9EA9-92A7843677E4}" type="pres">
      <dgm:prSet presAssocID="{A7138651-1E0F-48EF-B419-70F5701055AB}" presName="parentText" presStyleLbl="node1" presStyleIdx="1" presStyleCnt="10">
        <dgm:presLayoutVars>
          <dgm:chMax val="0"/>
          <dgm:bulletEnabled val="1"/>
        </dgm:presLayoutVars>
      </dgm:prSet>
      <dgm:spPr/>
    </dgm:pt>
    <dgm:pt modelId="{52124671-25DD-BC45-B91B-9387AE8929CA}" type="pres">
      <dgm:prSet presAssocID="{987A0B23-6F87-47D0-B25A-8ED8D213D542}" presName="spacer" presStyleCnt="0"/>
      <dgm:spPr/>
    </dgm:pt>
    <dgm:pt modelId="{60EAEF8B-D560-8E47-9D24-2B7155BFD0EC}" type="pres">
      <dgm:prSet presAssocID="{9969DE50-9631-4FB8-9530-D95FCFFC44CF}" presName="parentText" presStyleLbl="node1" presStyleIdx="2" presStyleCnt="10">
        <dgm:presLayoutVars>
          <dgm:chMax val="0"/>
          <dgm:bulletEnabled val="1"/>
        </dgm:presLayoutVars>
      </dgm:prSet>
      <dgm:spPr/>
    </dgm:pt>
    <dgm:pt modelId="{79D63296-41A6-7747-B6FC-D8431163E20D}" type="pres">
      <dgm:prSet presAssocID="{BA48CAF6-0CAB-4524-B5B8-A28A3697502F}" presName="spacer" presStyleCnt="0"/>
      <dgm:spPr/>
    </dgm:pt>
    <dgm:pt modelId="{C538010E-8425-814A-8F7F-5746A89D717A}" type="pres">
      <dgm:prSet presAssocID="{2B56EF22-2600-4879-91F6-5E01AE9CCBD1}" presName="parentText" presStyleLbl="node1" presStyleIdx="3" presStyleCnt="10">
        <dgm:presLayoutVars>
          <dgm:chMax val="0"/>
          <dgm:bulletEnabled val="1"/>
        </dgm:presLayoutVars>
      </dgm:prSet>
      <dgm:spPr/>
    </dgm:pt>
    <dgm:pt modelId="{F5F2AEF0-B11A-334B-8685-A53590D60EEF}" type="pres">
      <dgm:prSet presAssocID="{11CA5626-BC73-4F01-97F9-7F6635F3E5E5}" presName="spacer" presStyleCnt="0"/>
      <dgm:spPr/>
    </dgm:pt>
    <dgm:pt modelId="{A7C7A6D3-1823-DC43-A438-D01D508B6853}" type="pres">
      <dgm:prSet presAssocID="{88170610-79B9-4DF5-9F11-2DC9BEB5417A}" presName="parentText" presStyleLbl="node1" presStyleIdx="4" presStyleCnt="10">
        <dgm:presLayoutVars>
          <dgm:chMax val="0"/>
          <dgm:bulletEnabled val="1"/>
        </dgm:presLayoutVars>
      </dgm:prSet>
      <dgm:spPr/>
    </dgm:pt>
    <dgm:pt modelId="{A3CE1CE7-B9FA-EA49-A98A-9210E5147148}" type="pres">
      <dgm:prSet presAssocID="{2F9A86A7-E258-4836-9A9E-D06C618E0795}" presName="spacer" presStyleCnt="0"/>
      <dgm:spPr/>
    </dgm:pt>
    <dgm:pt modelId="{266C584B-5300-BD4A-919F-497115C6CA74}" type="pres">
      <dgm:prSet presAssocID="{F096CE28-9438-4DE2-A880-035D3C49C572}" presName="parentText" presStyleLbl="node1" presStyleIdx="5" presStyleCnt="10">
        <dgm:presLayoutVars>
          <dgm:chMax val="0"/>
          <dgm:bulletEnabled val="1"/>
        </dgm:presLayoutVars>
      </dgm:prSet>
      <dgm:spPr/>
    </dgm:pt>
    <dgm:pt modelId="{CE6BFFAB-3271-D746-BB63-D1431A5E70CB}" type="pres">
      <dgm:prSet presAssocID="{7F0C676A-D082-4327-8916-3EF0DBEDF23E}" presName="spacer" presStyleCnt="0"/>
      <dgm:spPr/>
    </dgm:pt>
    <dgm:pt modelId="{D5B34E28-F959-DB48-A24C-6C0B510F7427}" type="pres">
      <dgm:prSet presAssocID="{EA7F6DE0-9163-41B0-841E-5453D0A6B110}" presName="parentText" presStyleLbl="node1" presStyleIdx="6" presStyleCnt="10">
        <dgm:presLayoutVars>
          <dgm:chMax val="0"/>
          <dgm:bulletEnabled val="1"/>
        </dgm:presLayoutVars>
      </dgm:prSet>
      <dgm:spPr/>
    </dgm:pt>
    <dgm:pt modelId="{51D6E21D-1027-E443-A7E8-4122E5459953}" type="pres">
      <dgm:prSet presAssocID="{31BB2543-6B82-4D23-8AB2-84810A40D777}" presName="spacer" presStyleCnt="0"/>
      <dgm:spPr/>
    </dgm:pt>
    <dgm:pt modelId="{2711F4E1-18D9-EC42-8052-E258E4ACE67B}" type="pres">
      <dgm:prSet presAssocID="{806B8E61-2844-444E-81A4-BF4539BA90FD}" presName="parentText" presStyleLbl="node1" presStyleIdx="7" presStyleCnt="10">
        <dgm:presLayoutVars>
          <dgm:chMax val="0"/>
          <dgm:bulletEnabled val="1"/>
        </dgm:presLayoutVars>
      </dgm:prSet>
      <dgm:spPr/>
    </dgm:pt>
    <dgm:pt modelId="{10A7DEF9-F9CB-0343-A26D-154E1CFF3FF0}" type="pres">
      <dgm:prSet presAssocID="{BAAA9AB9-E2EF-4CF4-8940-B84562C1878A}" presName="spacer" presStyleCnt="0"/>
      <dgm:spPr/>
    </dgm:pt>
    <dgm:pt modelId="{478D695E-10D5-4246-A01A-FC62367A0E48}" type="pres">
      <dgm:prSet presAssocID="{C50663C4-63B9-438F-9015-BFE8585CC4E2}" presName="parentText" presStyleLbl="node1" presStyleIdx="8" presStyleCnt="10">
        <dgm:presLayoutVars>
          <dgm:chMax val="0"/>
          <dgm:bulletEnabled val="1"/>
        </dgm:presLayoutVars>
      </dgm:prSet>
      <dgm:spPr/>
    </dgm:pt>
    <dgm:pt modelId="{1AEABD2C-DBEC-2441-8BE0-E4573AF7BCFE}" type="pres">
      <dgm:prSet presAssocID="{272BCF0A-463C-4D10-8885-C8ECFBA007F4}" presName="spacer" presStyleCnt="0"/>
      <dgm:spPr/>
    </dgm:pt>
    <dgm:pt modelId="{FD21854E-E91E-264E-A0C3-137DCE0E0B32}" type="pres">
      <dgm:prSet presAssocID="{D03293CF-EF89-40BB-BC06-CE64F2FE4E37}" presName="parentText" presStyleLbl="node1" presStyleIdx="9" presStyleCnt="10">
        <dgm:presLayoutVars>
          <dgm:chMax val="0"/>
          <dgm:bulletEnabled val="1"/>
        </dgm:presLayoutVars>
      </dgm:prSet>
      <dgm:spPr/>
    </dgm:pt>
  </dgm:ptLst>
  <dgm:cxnLst>
    <dgm:cxn modelId="{D74B9D0C-5F44-43A6-9F94-EBB5C6FED1D5}" srcId="{F69600A7-79E9-499A-ADDF-DC64C627F70E}" destId="{88170610-79B9-4DF5-9F11-2DC9BEB5417A}" srcOrd="4" destOrd="0" parTransId="{45563173-C149-44B7-85EE-B3F42EB03AC0}" sibTransId="{2F9A86A7-E258-4836-9A9E-D06C618E0795}"/>
    <dgm:cxn modelId="{2BF17612-87C5-C346-857D-EB90481BFCF0}" type="presOf" srcId="{D03293CF-EF89-40BB-BC06-CE64F2FE4E37}" destId="{FD21854E-E91E-264E-A0C3-137DCE0E0B32}" srcOrd="0" destOrd="0" presId="urn:microsoft.com/office/officeart/2005/8/layout/vList2"/>
    <dgm:cxn modelId="{94544313-B74F-4A92-9FA5-37E09B9A95BA}" srcId="{F69600A7-79E9-499A-ADDF-DC64C627F70E}" destId="{F096CE28-9438-4DE2-A880-035D3C49C572}" srcOrd="5" destOrd="0" parTransId="{6B04B782-7293-4794-9998-A1097D27FB25}" sibTransId="{7F0C676A-D082-4327-8916-3EF0DBEDF23E}"/>
    <dgm:cxn modelId="{C2F2D115-6437-964D-9817-601A20104ECE}" type="presOf" srcId="{C50663C4-63B9-438F-9015-BFE8585CC4E2}" destId="{478D695E-10D5-4246-A01A-FC62367A0E48}" srcOrd="0" destOrd="0" presId="urn:microsoft.com/office/officeart/2005/8/layout/vList2"/>
    <dgm:cxn modelId="{7A3A8030-8A79-4CCD-A090-F5A303120B7E}" srcId="{F69600A7-79E9-499A-ADDF-DC64C627F70E}" destId="{C50663C4-63B9-438F-9015-BFE8585CC4E2}" srcOrd="8" destOrd="0" parTransId="{EF860BC3-2917-4660-BEC5-FC1E8AAB151D}" sibTransId="{272BCF0A-463C-4D10-8885-C8ECFBA007F4}"/>
    <dgm:cxn modelId="{9B037742-3F7D-CB40-B130-4E827032AB18}" type="presOf" srcId="{23F934C2-DA45-46FD-A236-4772C0347DA5}" destId="{C60C9240-CD06-5A40-91A3-82E26621814D}" srcOrd="0" destOrd="0" presId="urn:microsoft.com/office/officeart/2005/8/layout/vList2"/>
    <dgm:cxn modelId="{07CD0258-C49F-467B-84DF-80E96B4896A9}" srcId="{F69600A7-79E9-499A-ADDF-DC64C627F70E}" destId="{9969DE50-9631-4FB8-9530-D95FCFFC44CF}" srcOrd="2" destOrd="0" parTransId="{C48C7822-E54A-4EED-98E7-C6B85CA76605}" sibTransId="{BA48CAF6-0CAB-4524-B5B8-A28A3697502F}"/>
    <dgm:cxn modelId="{7ACB6A59-D221-604C-B255-9A97DC31BBD2}" type="presOf" srcId="{F69600A7-79E9-499A-ADDF-DC64C627F70E}" destId="{D07DFFB5-A659-DC4B-A42C-21255C8D8E65}" srcOrd="0" destOrd="0" presId="urn:microsoft.com/office/officeart/2005/8/layout/vList2"/>
    <dgm:cxn modelId="{4B567159-60FA-0047-9317-9A19265D00B9}" type="presOf" srcId="{2B56EF22-2600-4879-91F6-5E01AE9CCBD1}" destId="{C538010E-8425-814A-8F7F-5746A89D717A}" srcOrd="0" destOrd="0" presId="urn:microsoft.com/office/officeart/2005/8/layout/vList2"/>
    <dgm:cxn modelId="{3114356B-D43E-6644-A26A-780738504BF1}" type="presOf" srcId="{88170610-79B9-4DF5-9F11-2DC9BEB5417A}" destId="{A7C7A6D3-1823-DC43-A438-D01D508B6853}" srcOrd="0" destOrd="0" presId="urn:microsoft.com/office/officeart/2005/8/layout/vList2"/>
    <dgm:cxn modelId="{10A44870-7F7B-F847-A026-FFA25A671323}" type="presOf" srcId="{9969DE50-9631-4FB8-9530-D95FCFFC44CF}" destId="{60EAEF8B-D560-8E47-9D24-2B7155BFD0EC}" srcOrd="0" destOrd="0" presId="urn:microsoft.com/office/officeart/2005/8/layout/vList2"/>
    <dgm:cxn modelId="{0384E28F-F335-49E0-A7AE-1ED293B9499E}" srcId="{F69600A7-79E9-499A-ADDF-DC64C627F70E}" destId="{A7138651-1E0F-48EF-B419-70F5701055AB}" srcOrd="1" destOrd="0" parTransId="{D4A1E503-02F0-4C1E-BC07-CB5F1F7ECB3D}" sibTransId="{987A0B23-6F87-47D0-B25A-8ED8D213D542}"/>
    <dgm:cxn modelId="{790047A0-6308-7A41-AC13-4087E80DEE60}" type="presOf" srcId="{F096CE28-9438-4DE2-A880-035D3C49C572}" destId="{266C584B-5300-BD4A-919F-497115C6CA74}" srcOrd="0" destOrd="0" presId="urn:microsoft.com/office/officeart/2005/8/layout/vList2"/>
    <dgm:cxn modelId="{F6324EAA-884C-4E24-B5E7-65B737CB701C}" srcId="{F69600A7-79E9-499A-ADDF-DC64C627F70E}" destId="{EA7F6DE0-9163-41B0-841E-5453D0A6B110}" srcOrd="6" destOrd="0" parTransId="{080AAED5-87B8-436A-9AE2-78AFAB7900C3}" sibTransId="{31BB2543-6B82-4D23-8AB2-84810A40D777}"/>
    <dgm:cxn modelId="{5D7534AD-1145-4759-A0A4-0332F62CC38C}" srcId="{F69600A7-79E9-499A-ADDF-DC64C627F70E}" destId="{23F934C2-DA45-46FD-A236-4772C0347DA5}" srcOrd="0" destOrd="0" parTransId="{2A9BE59E-0653-496D-B854-DC283869D166}" sibTransId="{1F86991D-5EFD-4991-9F2A-B8ABAD0943AB}"/>
    <dgm:cxn modelId="{D79AABAD-4715-E844-A434-942A0E5288D6}" type="presOf" srcId="{EA7F6DE0-9163-41B0-841E-5453D0A6B110}" destId="{D5B34E28-F959-DB48-A24C-6C0B510F7427}" srcOrd="0" destOrd="0" presId="urn:microsoft.com/office/officeart/2005/8/layout/vList2"/>
    <dgm:cxn modelId="{9CF357B1-1743-E443-B18B-2A7168799370}" type="presOf" srcId="{A7138651-1E0F-48EF-B419-70F5701055AB}" destId="{4BEA23EC-637E-F64B-9EA9-92A7843677E4}" srcOrd="0" destOrd="0" presId="urn:microsoft.com/office/officeart/2005/8/layout/vList2"/>
    <dgm:cxn modelId="{DAD3EBD0-8061-467F-9480-B19F5DBC9358}" srcId="{F69600A7-79E9-499A-ADDF-DC64C627F70E}" destId="{806B8E61-2844-444E-81A4-BF4539BA90FD}" srcOrd="7" destOrd="0" parTransId="{205CBAEB-B5FE-4261-9D20-CE22CB94BE79}" sibTransId="{BAAA9AB9-E2EF-4CF4-8940-B84562C1878A}"/>
    <dgm:cxn modelId="{B8326DE1-95F1-4907-808F-259D568F1A81}" srcId="{F69600A7-79E9-499A-ADDF-DC64C627F70E}" destId="{2B56EF22-2600-4879-91F6-5E01AE9CCBD1}" srcOrd="3" destOrd="0" parTransId="{B627B136-62E1-4713-934D-FCD0709E22EF}" sibTransId="{11CA5626-BC73-4F01-97F9-7F6635F3E5E5}"/>
    <dgm:cxn modelId="{38C6ADF3-F0F3-4C29-9995-0CC6E3528455}" srcId="{F69600A7-79E9-499A-ADDF-DC64C627F70E}" destId="{D03293CF-EF89-40BB-BC06-CE64F2FE4E37}" srcOrd="9" destOrd="0" parTransId="{8C5C6AF4-710B-4A66-BA92-A8C120BA2AA5}" sibTransId="{C81EE8A7-FE9A-414E-887A-797B4259A70C}"/>
    <dgm:cxn modelId="{5A110FF4-181D-174E-B290-C319FC00532A}" type="presOf" srcId="{806B8E61-2844-444E-81A4-BF4539BA90FD}" destId="{2711F4E1-18D9-EC42-8052-E258E4ACE67B}" srcOrd="0" destOrd="0" presId="urn:microsoft.com/office/officeart/2005/8/layout/vList2"/>
    <dgm:cxn modelId="{3A8FED63-34EA-D24F-B9A9-A877FA266DC6}" type="presParOf" srcId="{D07DFFB5-A659-DC4B-A42C-21255C8D8E65}" destId="{C60C9240-CD06-5A40-91A3-82E26621814D}" srcOrd="0" destOrd="0" presId="urn:microsoft.com/office/officeart/2005/8/layout/vList2"/>
    <dgm:cxn modelId="{4E09C4C8-5F38-B345-88D3-FF09F5CFD7B4}" type="presParOf" srcId="{D07DFFB5-A659-DC4B-A42C-21255C8D8E65}" destId="{CEFC5569-D5A0-1541-ABB8-B3B90536E971}" srcOrd="1" destOrd="0" presId="urn:microsoft.com/office/officeart/2005/8/layout/vList2"/>
    <dgm:cxn modelId="{B6EFEF98-D3F5-2746-AF72-2E04F142F62D}" type="presParOf" srcId="{D07DFFB5-A659-DC4B-A42C-21255C8D8E65}" destId="{4BEA23EC-637E-F64B-9EA9-92A7843677E4}" srcOrd="2" destOrd="0" presId="urn:microsoft.com/office/officeart/2005/8/layout/vList2"/>
    <dgm:cxn modelId="{A6A13D19-2174-6142-A707-21EBAB4E9F1B}" type="presParOf" srcId="{D07DFFB5-A659-DC4B-A42C-21255C8D8E65}" destId="{52124671-25DD-BC45-B91B-9387AE8929CA}" srcOrd="3" destOrd="0" presId="urn:microsoft.com/office/officeart/2005/8/layout/vList2"/>
    <dgm:cxn modelId="{5BE7FA04-79A1-024A-B60B-3DA95BEB49F3}" type="presParOf" srcId="{D07DFFB5-A659-DC4B-A42C-21255C8D8E65}" destId="{60EAEF8B-D560-8E47-9D24-2B7155BFD0EC}" srcOrd="4" destOrd="0" presId="urn:microsoft.com/office/officeart/2005/8/layout/vList2"/>
    <dgm:cxn modelId="{DE8F8E3B-FF27-894C-9C46-EC1603B71204}" type="presParOf" srcId="{D07DFFB5-A659-DC4B-A42C-21255C8D8E65}" destId="{79D63296-41A6-7747-B6FC-D8431163E20D}" srcOrd="5" destOrd="0" presId="urn:microsoft.com/office/officeart/2005/8/layout/vList2"/>
    <dgm:cxn modelId="{45CFFC8A-ADEF-EA4F-A2F2-F241FA8BC4CF}" type="presParOf" srcId="{D07DFFB5-A659-DC4B-A42C-21255C8D8E65}" destId="{C538010E-8425-814A-8F7F-5746A89D717A}" srcOrd="6" destOrd="0" presId="urn:microsoft.com/office/officeart/2005/8/layout/vList2"/>
    <dgm:cxn modelId="{8A4C774F-2B05-E245-BF86-0F9D68CDC256}" type="presParOf" srcId="{D07DFFB5-A659-DC4B-A42C-21255C8D8E65}" destId="{F5F2AEF0-B11A-334B-8685-A53590D60EEF}" srcOrd="7" destOrd="0" presId="urn:microsoft.com/office/officeart/2005/8/layout/vList2"/>
    <dgm:cxn modelId="{46BE481D-0381-5148-B6B5-9E0A3AF5C57F}" type="presParOf" srcId="{D07DFFB5-A659-DC4B-A42C-21255C8D8E65}" destId="{A7C7A6D3-1823-DC43-A438-D01D508B6853}" srcOrd="8" destOrd="0" presId="urn:microsoft.com/office/officeart/2005/8/layout/vList2"/>
    <dgm:cxn modelId="{941B6EED-A1DD-2140-BB41-05C5D14C1A70}" type="presParOf" srcId="{D07DFFB5-A659-DC4B-A42C-21255C8D8E65}" destId="{A3CE1CE7-B9FA-EA49-A98A-9210E5147148}" srcOrd="9" destOrd="0" presId="urn:microsoft.com/office/officeart/2005/8/layout/vList2"/>
    <dgm:cxn modelId="{CBE4F019-A7A0-6546-96FD-B1A282AEE7F0}" type="presParOf" srcId="{D07DFFB5-A659-DC4B-A42C-21255C8D8E65}" destId="{266C584B-5300-BD4A-919F-497115C6CA74}" srcOrd="10" destOrd="0" presId="urn:microsoft.com/office/officeart/2005/8/layout/vList2"/>
    <dgm:cxn modelId="{C73B334C-7A38-FF40-8468-B578DB8E7E7E}" type="presParOf" srcId="{D07DFFB5-A659-DC4B-A42C-21255C8D8E65}" destId="{CE6BFFAB-3271-D746-BB63-D1431A5E70CB}" srcOrd="11" destOrd="0" presId="urn:microsoft.com/office/officeart/2005/8/layout/vList2"/>
    <dgm:cxn modelId="{A06E8EC0-6E41-7041-B952-4969E87CD6E7}" type="presParOf" srcId="{D07DFFB5-A659-DC4B-A42C-21255C8D8E65}" destId="{D5B34E28-F959-DB48-A24C-6C0B510F7427}" srcOrd="12" destOrd="0" presId="urn:microsoft.com/office/officeart/2005/8/layout/vList2"/>
    <dgm:cxn modelId="{1773ED78-07FB-D545-BE18-01FF1855D5BB}" type="presParOf" srcId="{D07DFFB5-A659-DC4B-A42C-21255C8D8E65}" destId="{51D6E21D-1027-E443-A7E8-4122E5459953}" srcOrd="13" destOrd="0" presId="urn:microsoft.com/office/officeart/2005/8/layout/vList2"/>
    <dgm:cxn modelId="{C4D11515-4B0D-5546-9998-9B986AB3B00C}" type="presParOf" srcId="{D07DFFB5-A659-DC4B-A42C-21255C8D8E65}" destId="{2711F4E1-18D9-EC42-8052-E258E4ACE67B}" srcOrd="14" destOrd="0" presId="urn:microsoft.com/office/officeart/2005/8/layout/vList2"/>
    <dgm:cxn modelId="{8D279A26-AF6F-1947-BB6D-B26B85B64445}" type="presParOf" srcId="{D07DFFB5-A659-DC4B-A42C-21255C8D8E65}" destId="{10A7DEF9-F9CB-0343-A26D-154E1CFF3FF0}" srcOrd="15" destOrd="0" presId="urn:microsoft.com/office/officeart/2005/8/layout/vList2"/>
    <dgm:cxn modelId="{0C8F5FAD-7540-BA4D-91D1-343BB397D9F5}" type="presParOf" srcId="{D07DFFB5-A659-DC4B-A42C-21255C8D8E65}" destId="{478D695E-10D5-4246-A01A-FC62367A0E48}" srcOrd="16" destOrd="0" presId="urn:microsoft.com/office/officeart/2005/8/layout/vList2"/>
    <dgm:cxn modelId="{75312806-7058-0C47-AD17-1BEDC112D8BB}" type="presParOf" srcId="{D07DFFB5-A659-DC4B-A42C-21255C8D8E65}" destId="{1AEABD2C-DBEC-2441-8BE0-E4573AF7BCFE}" srcOrd="17" destOrd="0" presId="urn:microsoft.com/office/officeart/2005/8/layout/vList2"/>
    <dgm:cxn modelId="{C2BC5714-83C2-B241-90FF-5CA138B4B01E}" type="presParOf" srcId="{D07DFFB5-A659-DC4B-A42C-21255C8D8E65}" destId="{FD21854E-E91E-264E-A0C3-137DCE0E0B32}" srcOrd="1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BC290C-5A75-46CF-A75B-09A7E785CDC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AA45637-E1C9-4255-AD5B-40B9561984F9}">
      <dgm:prSet/>
      <dgm:spPr/>
      <dgm:t>
        <a:bodyPr/>
        <a:lstStyle/>
        <a:p>
          <a:r>
            <a:rPr lang="en-US" b="0" i="0"/>
            <a:t>In CSS Flexbox, the "order" property is used to control the visual order of flex items within a flex container. By default, the order of flex items is the same as the order in which they appear in the HTML source code. However, the "order" property allows you to change the order of items, regardless of their position in the source code.</a:t>
          </a:r>
          <a:endParaRPr lang="en-US"/>
        </a:p>
      </dgm:t>
    </dgm:pt>
    <dgm:pt modelId="{3CEA668B-BF8D-4CBA-8CC1-D4BCB11ED928}" type="parTrans" cxnId="{66CCFE95-BD43-4D5E-A0FE-4D89F87494BE}">
      <dgm:prSet/>
      <dgm:spPr/>
      <dgm:t>
        <a:bodyPr/>
        <a:lstStyle/>
        <a:p>
          <a:endParaRPr lang="en-US"/>
        </a:p>
      </dgm:t>
    </dgm:pt>
    <dgm:pt modelId="{C39E64AF-66D6-40FD-BFA1-D281165AFF76}" type="sibTrans" cxnId="{66CCFE95-BD43-4D5E-A0FE-4D89F87494BE}">
      <dgm:prSet/>
      <dgm:spPr/>
      <dgm:t>
        <a:bodyPr/>
        <a:lstStyle/>
        <a:p>
          <a:endParaRPr lang="en-US"/>
        </a:p>
      </dgm:t>
    </dgm:pt>
    <dgm:pt modelId="{03064A60-40A6-45CC-8434-DDCC23D057C5}">
      <dgm:prSet/>
      <dgm:spPr/>
      <dgm:t>
        <a:bodyPr/>
        <a:lstStyle/>
        <a:p>
          <a:r>
            <a:rPr lang="en-US" b="0" i="0"/>
            <a:t>The "order" property can be applied to individual flex items, and it accepts a numerical value as its value. A positive value will move an item forward in the order, and a negative value will move an item backward. For example, if you set an item's "order" value to -1, it will be moved to the front of the flex container, while an item with an "order" value of 1 will be moved to the back.</a:t>
          </a:r>
          <a:endParaRPr lang="en-US"/>
        </a:p>
      </dgm:t>
    </dgm:pt>
    <dgm:pt modelId="{130A5D30-9D48-499A-9791-07680E1FB020}" type="parTrans" cxnId="{2F14E916-9D0E-4DB5-B2A1-6DF1F2FFE150}">
      <dgm:prSet/>
      <dgm:spPr/>
      <dgm:t>
        <a:bodyPr/>
        <a:lstStyle/>
        <a:p>
          <a:endParaRPr lang="en-US"/>
        </a:p>
      </dgm:t>
    </dgm:pt>
    <dgm:pt modelId="{8DC55557-29D7-423F-A307-5EED4114D51E}" type="sibTrans" cxnId="{2F14E916-9D0E-4DB5-B2A1-6DF1F2FFE150}">
      <dgm:prSet/>
      <dgm:spPr/>
      <dgm:t>
        <a:bodyPr/>
        <a:lstStyle/>
        <a:p>
          <a:endParaRPr lang="en-US"/>
        </a:p>
      </dgm:t>
    </dgm:pt>
    <dgm:pt modelId="{8F7EDECB-3368-4491-BB31-E1497A0D3F5A}">
      <dgm:prSet/>
      <dgm:spPr/>
      <dgm:t>
        <a:bodyPr/>
        <a:lstStyle/>
        <a:p>
          <a:r>
            <a:rPr lang="en-US" b="0" i="0"/>
            <a:t>The order property is particularly useful when you need to change the order of items on different screen sizes or device types, using media queries or other responsive design techniques.</a:t>
          </a:r>
          <a:endParaRPr lang="en-US"/>
        </a:p>
      </dgm:t>
    </dgm:pt>
    <dgm:pt modelId="{E96140FF-1E24-4304-9F69-4B68AAAC66B2}" type="parTrans" cxnId="{48625F93-C3AB-4546-9145-B8C4C1AD1742}">
      <dgm:prSet/>
      <dgm:spPr/>
      <dgm:t>
        <a:bodyPr/>
        <a:lstStyle/>
        <a:p>
          <a:endParaRPr lang="en-US"/>
        </a:p>
      </dgm:t>
    </dgm:pt>
    <dgm:pt modelId="{1C6B7895-B55C-421F-8D5E-426DD7CBC825}" type="sibTrans" cxnId="{48625F93-C3AB-4546-9145-B8C4C1AD1742}">
      <dgm:prSet/>
      <dgm:spPr/>
      <dgm:t>
        <a:bodyPr/>
        <a:lstStyle/>
        <a:p>
          <a:endParaRPr lang="en-US"/>
        </a:p>
      </dgm:t>
    </dgm:pt>
    <dgm:pt modelId="{1A88826C-C2C7-7A45-9313-469BE720F201}" type="pres">
      <dgm:prSet presAssocID="{66BC290C-5A75-46CF-A75B-09A7E785CDC0}" presName="linear" presStyleCnt="0">
        <dgm:presLayoutVars>
          <dgm:animLvl val="lvl"/>
          <dgm:resizeHandles val="exact"/>
        </dgm:presLayoutVars>
      </dgm:prSet>
      <dgm:spPr/>
    </dgm:pt>
    <dgm:pt modelId="{83002CA5-737C-7948-BE3F-C95A10000EA0}" type="pres">
      <dgm:prSet presAssocID="{3AA45637-E1C9-4255-AD5B-40B9561984F9}" presName="parentText" presStyleLbl="node1" presStyleIdx="0" presStyleCnt="3">
        <dgm:presLayoutVars>
          <dgm:chMax val="0"/>
          <dgm:bulletEnabled val="1"/>
        </dgm:presLayoutVars>
      </dgm:prSet>
      <dgm:spPr/>
    </dgm:pt>
    <dgm:pt modelId="{EA4926BC-4934-2149-8EF6-D2CD55033EE8}" type="pres">
      <dgm:prSet presAssocID="{C39E64AF-66D6-40FD-BFA1-D281165AFF76}" presName="spacer" presStyleCnt="0"/>
      <dgm:spPr/>
    </dgm:pt>
    <dgm:pt modelId="{2284EAC6-B8E8-DA45-BB3C-5428459B55FE}" type="pres">
      <dgm:prSet presAssocID="{03064A60-40A6-45CC-8434-DDCC23D057C5}" presName="parentText" presStyleLbl="node1" presStyleIdx="1" presStyleCnt="3">
        <dgm:presLayoutVars>
          <dgm:chMax val="0"/>
          <dgm:bulletEnabled val="1"/>
        </dgm:presLayoutVars>
      </dgm:prSet>
      <dgm:spPr/>
    </dgm:pt>
    <dgm:pt modelId="{25798055-1374-9944-9BF5-298D7FB1CF3A}" type="pres">
      <dgm:prSet presAssocID="{8DC55557-29D7-423F-A307-5EED4114D51E}" presName="spacer" presStyleCnt="0"/>
      <dgm:spPr/>
    </dgm:pt>
    <dgm:pt modelId="{55D80D26-0520-FB45-9DB3-93EF43827B31}" type="pres">
      <dgm:prSet presAssocID="{8F7EDECB-3368-4491-BB31-E1497A0D3F5A}" presName="parentText" presStyleLbl="node1" presStyleIdx="2" presStyleCnt="3">
        <dgm:presLayoutVars>
          <dgm:chMax val="0"/>
          <dgm:bulletEnabled val="1"/>
        </dgm:presLayoutVars>
      </dgm:prSet>
      <dgm:spPr/>
    </dgm:pt>
  </dgm:ptLst>
  <dgm:cxnLst>
    <dgm:cxn modelId="{31F9A50C-6284-5447-BFCA-A3320549E42F}" type="presOf" srcId="{8F7EDECB-3368-4491-BB31-E1497A0D3F5A}" destId="{55D80D26-0520-FB45-9DB3-93EF43827B31}" srcOrd="0" destOrd="0" presId="urn:microsoft.com/office/officeart/2005/8/layout/vList2"/>
    <dgm:cxn modelId="{2F14E916-9D0E-4DB5-B2A1-6DF1F2FFE150}" srcId="{66BC290C-5A75-46CF-A75B-09A7E785CDC0}" destId="{03064A60-40A6-45CC-8434-DDCC23D057C5}" srcOrd="1" destOrd="0" parTransId="{130A5D30-9D48-499A-9791-07680E1FB020}" sibTransId="{8DC55557-29D7-423F-A307-5EED4114D51E}"/>
    <dgm:cxn modelId="{14435227-E5E5-BB49-A3C2-CF0FC13DEA04}" type="presOf" srcId="{3AA45637-E1C9-4255-AD5B-40B9561984F9}" destId="{83002CA5-737C-7948-BE3F-C95A10000EA0}" srcOrd="0" destOrd="0" presId="urn:microsoft.com/office/officeart/2005/8/layout/vList2"/>
    <dgm:cxn modelId="{03316D5C-F40A-8044-8EBB-BEDF340C5A40}" type="presOf" srcId="{66BC290C-5A75-46CF-A75B-09A7E785CDC0}" destId="{1A88826C-C2C7-7A45-9313-469BE720F201}" srcOrd="0" destOrd="0" presId="urn:microsoft.com/office/officeart/2005/8/layout/vList2"/>
    <dgm:cxn modelId="{51701173-9155-8141-9A33-8A971C558F9F}" type="presOf" srcId="{03064A60-40A6-45CC-8434-DDCC23D057C5}" destId="{2284EAC6-B8E8-DA45-BB3C-5428459B55FE}" srcOrd="0" destOrd="0" presId="urn:microsoft.com/office/officeart/2005/8/layout/vList2"/>
    <dgm:cxn modelId="{48625F93-C3AB-4546-9145-B8C4C1AD1742}" srcId="{66BC290C-5A75-46CF-A75B-09A7E785CDC0}" destId="{8F7EDECB-3368-4491-BB31-E1497A0D3F5A}" srcOrd="2" destOrd="0" parTransId="{E96140FF-1E24-4304-9F69-4B68AAAC66B2}" sibTransId="{1C6B7895-B55C-421F-8D5E-426DD7CBC825}"/>
    <dgm:cxn modelId="{66CCFE95-BD43-4D5E-A0FE-4D89F87494BE}" srcId="{66BC290C-5A75-46CF-A75B-09A7E785CDC0}" destId="{3AA45637-E1C9-4255-AD5B-40B9561984F9}" srcOrd="0" destOrd="0" parTransId="{3CEA668B-BF8D-4CBA-8CC1-D4BCB11ED928}" sibTransId="{C39E64AF-66D6-40FD-BFA1-D281165AFF76}"/>
    <dgm:cxn modelId="{5E0A9164-3291-934A-AEE8-E5182DE6B75C}" type="presParOf" srcId="{1A88826C-C2C7-7A45-9313-469BE720F201}" destId="{83002CA5-737C-7948-BE3F-C95A10000EA0}" srcOrd="0" destOrd="0" presId="urn:microsoft.com/office/officeart/2005/8/layout/vList2"/>
    <dgm:cxn modelId="{31FD58D8-F753-9F44-B1BD-76E695678CC5}" type="presParOf" srcId="{1A88826C-C2C7-7A45-9313-469BE720F201}" destId="{EA4926BC-4934-2149-8EF6-D2CD55033EE8}" srcOrd="1" destOrd="0" presId="urn:microsoft.com/office/officeart/2005/8/layout/vList2"/>
    <dgm:cxn modelId="{8E9111D6-293B-5948-90BC-42BB13BD75EE}" type="presParOf" srcId="{1A88826C-C2C7-7A45-9313-469BE720F201}" destId="{2284EAC6-B8E8-DA45-BB3C-5428459B55FE}" srcOrd="2" destOrd="0" presId="urn:microsoft.com/office/officeart/2005/8/layout/vList2"/>
    <dgm:cxn modelId="{9CC0F975-4176-CE48-BD73-915922F3ABC8}" type="presParOf" srcId="{1A88826C-C2C7-7A45-9313-469BE720F201}" destId="{25798055-1374-9944-9BF5-298D7FB1CF3A}" srcOrd="3" destOrd="0" presId="urn:microsoft.com/office/officeart/2005/8/layout/vList2"/>
    <dgm:cxn modelId="{DC0FBC57-8D0B-6141-839B-0B0908AE100D}" type="presParOf" srcId="{1A88826C-C2C7-7A45-9313-469BE720F201}" destId="{55D80D26-0520-FB45-9DB3-93EF43827B31}"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E867432-37B1-421D-BEC7-6B184BE1F0D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FB9222C-CFD1-412F-B60A-BE84AB55C41A}">
      <dgm:prSet/>
      <dgm:spPr/>
      <dgm:t>
        <a:bodyPr/>
        <a:lstStyle/>
        <a:p>
          <a:r>
            <a:rPr lang="en-US" b="0" i="0"/>
            <a:t>The "flex-grow" property in CSS Flexbox is used to control the proportion of available space that a flex item will take up within a flex container. It is a factor that determines how much a flex item will grow relative to the other flex items in the container.</a:t>
          </a:r>
          <a:endParaRPr lang="en-US"/>
        </a:p>
      </dgm:t>
    </dgm:pt>
    <dgm:pt modelId="{02E78BFE-D2B9-47FC-9820-4BB13C0CCF40}" type="parTrans" cxnId="{436434D7-3957-4107-B7D6-A42809705D93}">
      <dgm:prSet/>
      <dgm:spPr/>
      <dgm:t>
        <a:bodyPr/>
        <a:lstStyle/>
        <a:p>
          <a:endParaRPr lang="en-US"/>
        </a:p>
      </dgm:t>
    </dgm:pt>
    <dgm:pt modelId="{0D7DD296-58F5-4546-8412-B4D9FC91926D}" type="sibTrans" cxnId="{436434D7-3957-4107-B7D6-A42809705D93}">
      <dgm:prSet/>
      <dgm:spPr/>
      <dgm:t>
        <a:bodyPr/>
        <a:lstStyle/>
        <a:p>
          <a:endParaRPr lang="en-US"/>
        </a:p>
      </dgm:t>
    </dgm:pt>
    <dgm:pt modelId="{193F94CC-10A4-434A-98DD-ACD9A27C842A}">
      <dgm:prSet/>
      <dgm:spPr/>
      <dgm:t>
        <a:bodyPr/>
        <a:lstStyle/>
        <a:p>
          <a:r>
            <a:rPr lang="en-US" b="0" i="0"/>
            <a:t>The "flex-grow" property accepts a numerical value as its value, with a default value of 0. A value of 0 means that the flex item will not grow at all, and will maintain its original size. A value of 1 means that the flex item will take up an equal amount of space as the other flex items in the container. A value of 2 means that the flex item will take up twice as much space as the other flex items, and so on.</a:t>
          </a:r>
          <a:endParaRPr lang="en-US"/>
        </a:p>
      </dgm:t>
    </dgm:pt>
    <dgm:pt modelId="{BFBC3DA7-8A11-474D-BAC0-0F9152038F10}" type="parTrans" cxnId="{DC2349FB-409F-4822-9EC3-44E57B841DF3}">
      <dgm:prSet/>
      <dgm:spPr/>
      <dgm:t>
        <a:bodyPr/>
        <a:lstStyle/>
        <a:p>
          <a:endParaRPr lang="en-US"/>
        </a:p>
      </dgm:t>
    </dgm:pt>
    <dgm:pt modelId="{599ED088-29B1-4920-95F0-E34ED41A98EA}" type="sibTrans" cxnId="{DC2349FB-409F-4822-9EC3-44E57B841DF3}">
      <dgm:prSet/>
      <dgm:spPr/>
      <dgm:t>
        <a:bodyPr/>
        <a:lstStyle/>
        <a:p>
          <a:endParaRPr lang="en-US"/>
        </a:p>
      </dgm:t>
    </dgm:pt>
    <dgm:pt modelId="{90645EE1-3665-0949-9675-3905A381BE56}" type="pres">
      <dgm:prSet presAssocID="{DE867432-37B1-421D-BEC7-6B184BE1F0D4}" presName="linear" presStyleCnt="0">
        <dgm:presLayoutVars>
          <dgm:animLvl val="lvl"/>
          <dgm:resizeHandles val="exact"/>
        </dgm:presLayoutVars>
      </dgm:prSet>
      <dgm:spPr/>
    </dgm:pt>
    <dgm:pt modelId="{CBD24423-51DD-134F-82DB-033293C90821}" type="pres">
      <dgm:prSet presAssocID="{AFB9222C-CFD1-412F-B60A-BE84AB55C41A}" presName="parentText" presStyleLbl="node1" presStyleIdx="0" presStyleCnt="2">
        <dgm:presLayoutVars>
          <dgm:chMax val="0"/>
          <dgm:bulletEnabled val="1"/>
        </dgm:presLayoutVars>
      </dgm:prSet>
      <dgm:spPr/>
    </dgm:pt>
    <dgm:pt modelId="{AFC69113-782F-3740-8297-B807F4716137}" type="pres">
      <dgm:prSet presAssocID="{0D7DD296-58F5-4546-8412-B4D9FC91926D}" presName="spacer" presStyleCnt="0"/>
      <dgm:spPr/>
    </dgm:pt>
    <dgm:pt modelId="{A1CB3083-BF38-DB4F-95F3-5AD37DED7180}" type="pres">
      <dgm:prSet presAssocID="{193F94CC-10A4-434A-98DD-ACD9A27C842A}" presName="parentText" presStyleLbl="node1" presStyleIdx="1" presStyleCnt="2">
        <dgm:presLayoutVars>
          <dgm:chMax val="0"/>
          <dgm:bulletEnabled val="1"/>
        </dgm:presLayoutVars>
      </dgm:prSet>
      <dgm:spPr/>
    </dgm:pt>
  </dgm:ptLst>
  <dgm:cxnLst>
    <dgm:cxn modelId="{58FD190A-C05C-BD40-826A-C23030773476}" type="presOf" srcId="{DE867432-37B1-421D-BEC7-6B184BE1F0D4}" destId="{90645EE1-3665-0949-9675-3905A381BE56}" srcOrd="0" destOrd="0" presId="urn:microsoft.com/office/officeart/2005/8/layout/vList2"/>
    <dgm:cxn modelId="{9C852568-7DF6-A241-95B5-CD4875E61EDD}" type="presOf" srcId="{193F94CC-10A4-434A-98DD-ACD9A27C842A}" destId="{A1CB3083-BF38-DB4F-95F3-5AD37DED7180}" srcOrd="0" destOrd="0" presId="urn:microsoft.com/office/officeart/2005/8/layout/vList2"/>
    <dgm:cxn modelId="{FD6224A2-AA87-1C46-8E07-6EC5FCE76CB8}" type="presOf" srcId="{AFB9222C-CFD1-412F-B60A-BE84AB55C41A}" destId="{CBD24423-51DD-134F-82DB-033293C90821}" srcOrd="0" destOrd="0" presId="urn:microsoft.com/office/officeart/2005/8/layout/vList2"/>
    <dgm:cxn modelId="{436434D7-3957-4107-B7D6-A42809705D93}" srcId="{DE867432-37B1-421D-BEC7-6B184BE1F0D4}" destId="{AFB9222C-CFD1-412F-B60A-BE84AB55C41A}" srcOrd="0" destOrd="0" parTransId="{02E78BFE-D2B9-47FC-9820-4BB13C0CCF40}" sibTransId="{0D7DD296-58F5-4546-8412-B4D9FC91926D}"/>
    <dgm:cxn modelId="{DC2349FB-409F-4822-9EC3-44E57B841DF3}" srcId="{DE867432-37B1-421D-BEC7-6B184BE1F0D4}" destId="{193F94CC-10A4-434A-98DD-ACD9A27C842A}" srcOrd="1" destOrd="0" parTransId="{BFBC3DA7-8A11-474D-BAC0-0F9152038F10}" sibTransId="{599ED088-29B1-4920-95F0-E34ED41A98EA}"/>
    <dgm:cxn modelId="{AF3C69B2-C759-5942-BB9D-9FDE05DDAB05}" type="presParOf" srcId="{90645EE1-3665-0949-9675-3905A381BE56}" destId="{CBD24423-51DD-134F-82DB-033293C90821}" srcOrd="0" destOrd="0" presId="urn:microsoft.com/office/officeart/2005/8/layout/vList2"/>
    <dgm:cxn modelId="{D36E73A8-462A-FC42-B7FB-CD6C64FA65D8}" type="presParOf" srcId="{90645EE1-3665-0949-9675-3905A381BE56}" destId="{AFC69113-782F-3740-8297-B807F4716137}" srcOrd="1" destOrd="0" presId="urn:microsoft.com/office/officeart/2005/8/layout/vList2"/>
    <dgm:cxn modelId="{D0C5D2FA-E10A-5B48-A89C-EED87229470C}" type="presParOf" srcId="{90645EE1-3665-0949-9675-3905A381BE56}" destId="{A1CB3083-BF38-DB4F-95F3-5AD37DED718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088910B-42C5-40A9-984F-0ADD0D48F28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5CFA76B-4506-486F-8520-3F161FE67481}">
      <dgm:prSet/>
      <dgm:spPr/>
      <dgm:t>
        <a:bodyPr/>
        <a:lstStyle/>
        <a:p>
          <a:r>
            <a:rPr lang="en-US" b="0" i="0"/>
            <a:t>For example, if you have a flex container with three flex items, and you set the "flex-grow" value of the first item to 1, the second item to 2 and the third item to 3. The second item will take up twice as much space as the first item and the third item will take up three times as much space as the first item.</a:t>
          </a:r>
          <a:endParaRPr lang="en-US"/>
        </a:p>
      </dgm:t>
    </dgm:pt>
    <dgm:pt modelId="{429EF83A-8053-40F5-94AE-52DE06337101}" type="parTrans" cxnId="{DC258019-C6BE-476C-9D80-FB66580B0114}">
      <dgm:prSet/>
      <dgm:spPr/>
      <dgm:t>
        <a:bodyPr/>
        <a:lstStyle/>
        <a:p>
          <a:endParaRPr lang="en-US"/>
        </a:p>
      </dgm:t>
    </dgm:pt>
    <dgm:pt modelId="{0DBB7D2D-52A5-4F58-B34C-D6FFD8DABDE2}" type="sibTrans" cxnId="{DC258019-C6BE-476C-9D80-FB66580B0114}">
      <dgm:prSet/>
      <dgm:spPr/>
      <dgm:t>
        <a:bodyPr/>
        <a:lstStyle/>
        <a:p>
          <a:endParaRPr lang="en-US"/>
        </a:p>
      </dgm:t>
    </dgm:pt>
    <dgm:pt modelId="{5D796DFC-A50B-4BF6-BA8F-E5E2E3B2E4AC}">
      <dgm:prSet/>
      <dgm:spPr/>
      <dgm:t>
        <a:bodyPr/>
        <a:lstStyle/>
        <a:p>
          <a:r>
            <a:rPr lang="en-US" b="0" i="0"/>
            <a:t>It's important to note that when using the flex-grow property, the sum of the flex-grow values should be equal or greater than the number of flex items, otherwise some items will not have enough space.</a:t>
          </a:r>
          <a:endParaRPr lang="en-US"/>
        </a:p>
      </dgm:t>
    </dgm:pt>
    <dgm:pt modelId="{6C5CB2DC-785B-45C8-A957-C787802AAE8C}" type="parTrans" cxnId="{34A67420-77D2-4413-A6E3-6887851368FA}">
      <dgm:prSet/>
      <dgm:spPr/>
      <dgm:t>
        <a:bodyPr/>
        <a:lstStyle/>
        <a:p>
          <a:endParaRPr lang="en-US"/>
        </a:p>
      </dgm:t>
    </dgm:pt>
    <dgm:pt modelId="{4C77810E-8AD8-4EF7-B3E0-53C05020FECD}" type="sibTrans" cxnId="{34A67420-77D2-4413-A6E3-6887851368FA}">
      <dgm:prSet/>
      <dgm:spPr/>
      <dgm:t>
        <a:bodyPr/>
        <a:lstStyle/>
        <a:p>
          <a:endParaRPr lang="en-US"/>
        </a:p>
      </dgm:t>
    </dgm:pt>
    <dgm:pt modelId="{8377694E-7FA3-4ED3-8597-A75C55C57189}">
      <dgm:prSet/>
      <dgm:spPr/>
      <dgm:t>
        <a:bodyPr/>
        <a:lstStyle/>
        <a:p>
          <a:r>
            <a:rPr lang="en-US" b="0" i="0"/>
            <a:t>In summary, the flex-grow property allows you to control the proportion of space that an element takes up within a flex container. It takes a numerical value as its value, and it determines how much the element will grow relative to the other elements in the container. The default value is 0, which means that the element will not grow at all. This property can be useful when working with responsive design.</a:t>
          </a:r>
          <a:endParaRPr lang="en-US"/>
        </a:p>
      </dgm:t>
    </dgm:pt>
    <dgm:pt modelId="{7B23C82A-E51B-4EEA-80F1-6D1D5D95BE3B}" type="parTrans" cxnId="{0DF1451F-678E-47D3-824E-5000A9E921A0}">
      <dgm:prSet/>
      <dgm:spPr/>
      <dgm:t>
        <a:bodyPr/>
        <a:lstStyle/>
        <a:p>
          <a:endParaRPr lang="en-US"/>
        </a:p>
      </dgm:t>
    </dgm:pt>
    <dgm:pt modelId="{6B50F671-0D9E-4F65-8332-858572795CA6}" type="sibTrans" cxnId="{0DF1451F-678E-47D3-824E-5000A9E921A0}">
      <dgm:prSet/>
      <dgm:spPr/>
      <dgm:t>
        <a:bodyPr/>
        <a:lstStyle/>
        <a:p>
          <a:endParaRPr lang="en-US"/>
        </a:p>
      </dgm:t>
    </dgm:pt>
    <dgm:pt modelId="{CC0D4628-86E6-C24C-91DB-A4AD58CE9D53}" type="pres">
      <dgm:prSet presAssocID="{8088910B-42C5-40A9-984F-0ADD0D48F286}" presName="linear" presStyleCnt="0">
        <dgm:presLayoutVars>
          <dgm:animLvl val="lvl"/>
          <dgm:resizeHandles val="exact"/>
        </dgm:presLayoutVars>
      </dgm:prSet>
      <dgm:spPr/>
    </dgm:pt>
    <dgm:pt modelId="{9621D9D4-ECB4-DD43-95FD-4AE41F2D4876}" type="pres">
      <dgm:prSet presAssocID="{95CFA76B-4506-486F-8520-3F161FE67481}" presName="parentText" presStyleLbl="node1" presStyleIdx="0" presStyleCnt="3">
        <dgm:presLayoutVars>
          <dgm:chMax val="0"/>
          <dgm:bulletEnabled val="1"/>
        </dgm:presLayoutVars>
      </dgm:prSet>
      <dgm:spPr/>
    </dgm:pt>
    <dgm:pt modelId="{3C3A2C15-147A-D84C-816F-27717F1AE4FC}" type="pres">
      <dgm:prSet presAssocID="{0DBB7D2D-52A5-4F58-B34C-D6FFD8DABDE2}" presName="spacer" presStyleCnt="0"/>
      <dgm:spPr/>
    </dgm:pt>
    <dgm:pt modelId="{02A95E19-23C5-6640-AD43-619CB0F00F01}" type="pres">
      <dgm:prSet presAssocID="{5D796DFC-A50B-4BF6-BA8F-E5E2E3B2E4AC}" presName="parentText" presStyleLbl="node1" presStyleIdx="1" presStyleCnt="3">
        <dgm:presLayoutVars>
          <dgm:chMax val="0"/>
          <dgm:bulletEnabled val="1"/>
        </dgm:presLayoutVars>
      </dgm:prSet>
      <dgm:spPr/>
    </dgm:pt>
    <dgm:pt modelId="{ADD06395-68F8-0341-9C94-06913EDE785B}" type="pres">
      <dgm:prSet presAssocID="{4C77810E-8AD8-4EF7-B3E0-53C05020FECD}" presName="spacer" presStyleCnt="0"/>
      <dgm:spPr/>
    </dgm:pt>
    <dgm:pt modelId="{2CF9348F-28DE-604E-A545-175BF200ADBA}" type="pres">
      <dgm:prSet presAssocID="{8377694E-7FA3-4ED3-8597-A75C55C57189}" presName="parentText" presStyleLbl="node1" presStyleIdx="2" presStyleCnt="3">
        <dgm:presLayoutVars>
          <dgm:chMax val="0"/>
          <dgm:bulletEnabled val="1"/>
        </dgm:presLayoutVars>
      </dgm:prSet>
      <dgm:spPr/>
    </dgm:pt>
  </dgm:ptLst>
  <dgm:cxnLst>
    <dgm:cxn modelId="{528E910E-8DC5-CE44-BF31-7B18C126F367}" type="presOf" srcId="{5D796DFC-A50B-4BF6-BA8F-E5E2E3B2E4AC}" destId="{02A95E19-23C5-6640-AD43-619CB0F00F01}" srcOrd="0" destOrd="0" presId="urn:microsoft.com/office/officeart/2005/8/layout/vList2"/>
    <dgm:cxn modelId="{DC258019-C6BE-476C-9D80-FB66580B0114}" srcId="{8088910B-42C5-40A9-984F-0ADD0D48F286}" destId="{95CFA76B-4506-486F-8520-3F161FE67481}" srcOrd="0" destOrd="0" parTransId="{429EF83A-8053-40F5-94AE-52DE06337101}" sibTransId="{0DBB7D2D-52A5-4F58-B34C-D6FFD8DABDE2}"/>
    <dgm:cxn modelId="{0DF1451F-678E-47D3-824E-5000A9E921A0}" srcId="{8088910B-42C5-40A9-984F-0ADD0D48F286}" destId="{8377694E-7FA3-4ED3-8597-A75C55C57189}" srcOrd="2" destOrd="0" parTransId="{7B23C82A-E51B-4EEA-80F1-6D1D5D95BE3B}" sibTransId="{6B50F671-0D9E-4F65-8332-858572795CA6}"/>
    <dgm:cxn modelId="{34A67420-77D2-4413-A6E3-6887851368FA}" srcId="{8088910B-42C5-40A9-984F-0ADD0D48F286}" destId="{5D796DFC-A50B-4BF6-BA8F-E5E2E3B2E4AC}" srcOrd="1" destOrd="0" parTransId="{6C5CB2DC-785B-45C8-A957-C787802AAE8C}" sibTransId="{4C77810E-8AD8-4EF7-B3E0-53C05020FECD}"/>
    <dgm:cxn modelId="{6682EB64-0600-6B49-96A6-A7EA83730E83}" type="presOf" srcId="{8088910B-42C5-40A9-984F-0ADD0D48F286}" destId="{CC0D4628-86E6-C24C-91DB-A4AD58CE9D53}" srcOrd="0" destOrd="0" presId="urn:microsoft.com/office/officeart/2005/8/layout/vList2"/>
    <dgm:cxn modelId="{005ABBA2-4850-114C-986A-1CDCEE067453}" type="presOf" srcId="{8377694E-7FA3-4ED3-8597-A75C55C57189}" destId="{2CF9348F-28DE-604E-A545-175BF200ADBA}" srcOrd="0" destOrd="0" presId="urn:microsoft.com/office/officeart/2005/8/layout/vList2"/>
    <dgm:cxn modelId="{5DB81FAE-C319-004A-93D5-9956009744A6}" type="presOf" srcId="{95CFA76B-4506-486F-8520-3F161FE67481}" destId="{9621D9D4-ECB4-DD43-95FD-4AE41F2D4876}" srcOrd="0" destOrd="0" presId="urn:microsoft.com/office/officeart/2005/8/layout/vList2"/>
    <dgm:cxn modelId="{C2BF6212-606C-8E48-9CB3-90BDC27B7564}" type="presParOf" srcId="{CC0D4628-86E6-C24C-91DB-A4AD58CE9D53}" destId="{9621D9D4-ECB4-DD43-95FD-4AE41F2D4876}" srcOrd="0" destOrd="0" presId="urn:microsoft.com/office/officeart/2005/8/layout/vList2"/>
    <dgm:cxn modelId="{66F1C097-0A96-C44E-834F-A1D73E2919B7}" type="presParOf" srcId="{CC0D4628-86E6-C24C-91DB-A4AD58CE9D53}" destId="{3C3A2C15-147A-D84C-816F-27717F1AE4FC}" srcOrd="1" destOrd="0" presId="urn:microsoft.com/office/officeart/2005/8/layout/vList2"/>
    <dgm:cxn modelId="{61B3001E-1C55-5240-86D3-A45C5E2B10E0}" type="presParOf" srcId="{CC0D4628-86E6-C24C-91DB-A4AD58CE9D53}" destId="{02A95E19-23C5-6640-AD43-619CB0F00F01}" srcOrd="2" destOrd="0" presId="urn:microsoft.com/office/officeart/2005/8/layout/vList2"/>
    <dgm:cxn modelId="{96E56A0C-D891-9748-BCE4-F660793AB714}" type="presParOf" srcId="{CC0D4628-86E6-C24C-91DB-A4AD58CE9D53}" destId="{ADD06395-68F8-0341-9C94-06913EDE785B}" srcOrd="3" destOrd="0" presId="urn:microsoft.com/office/officeart/2005/8/layout/vList2"/>
    <dgm:cxn modelId="{F24B2251-9B74-1C46-9147-3A77614AE6E8}" type="presParOf" srcId="{CC0D4628-86E6-C24C-91DB-A4AD58CE9D53}" destId="{2CF9348F-28DE-604E-A545-175BF200ADB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67DC1C7-1C8A-412D-AC35-46D25403E43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87A2C04-A88B-49C4-A052-929323D43676}">
      <dgm:prSet/>
      <dgm:spPr/>
      <dgm:t>
        <a:bodyPr/>
        <a:lstStyle/>
        <a:p>
          <a:r>
            <a:rPr lang="en-US" b="0" i="0"/>
            <a:t>"align-self" is a CSS property in Flexbox that allows you to override the "align-items" property for individual flex items. It is used to align a single flex item along the cross-axis within a flex container, independent of the alignment of the other items.</a:t>
          </a:r>
          <a:endParaRPr lang="en-US"/>
        </a:p>
      </dgm:t>
    </dgm:pt>
    <dgm:pt modelId="{21FC98C0-4328-41E8-B19F-275497FA3DE7}" type="parTrans" cxnId="{7F72F2DD-B9F9-4413-882D-2A6474FCDE22}">
      <dgm:prSet/>
      <dgm:spPr/>
      <dgm:t>
        <a:bodyPr/>
        <a:lstStyle/>
        <a:p>
          <a:endParaRPr lang="en-US"/>
        </a:p>
      </dgm:t>
    </dgm:pt>
    <dgm:pt modelId="{DE054BF1-50C7-45AA-B574-7853CA24DF7B}" type="sibTrans" cxnId="{7F72F2DD-B9F9-4413-882D-2A6474FCDE22}">
      <dgm:prSet/>
      <dgm:spPr/>
      <dgm:t>
        <a:bodyPr/>
        <a:lstStyle/>
        <a:p>
          <a:endParaRPr lang="en-US"/>
        </a:p>
      </dgm:t>
    </dgm:pt>
    <dgm:pt modelId="{A00646EA-DF4B-4645-AFF9-B9768EE2E74A}">
      <dgm:prSet/>
      <dgm:spPr/>
      <dgm:t>
        <a:bodyPr/>
        <a:lstStyle/>
        <a:p>
          <a:r>
            <a:rPr lang="en-US" b="0" i="0"/>
            <a:t>The "align-self" property can be applied to individual flex items and it accepts the same values as the "align-items" property: "flex-start", "flex-end", "center", "baseline", and "stretch".</a:t>
          </a:r>
          <a:endParaRPr lang="en-US"/>
        </a:p>
      </dgm:t>
    </dgm:pt>
    <dgm:pt modelId="{B3031CC7-E27D-4045-A2D7-FC60B091CEA9}" type="parTrans" cxnId="{7108BF6B-30AB-42CB-B32D-B2498FF4D010}">
      <dgm:prSet/>
      <dgm:spPr/>
      <dgm:t>
        <a:bodyPr/>
        <a:lstStyle/>
        <a:p>
          <a:endParaRPr lang="en-US"/>
        </a:p>
      </dgm:t>
    </dgm:pt>
    <dgm:pt modelId="{74655CD2-E927-4D23-88B9-C075C12648CD}" type="sibTrans" cxnId="{7108BF6B-30AB-42CB-B32D-B2498FF4D010}">
      <dgm:prSet/>
      <dgm:spPr/>
      <dgm:t>
        <a:bodyPr/>
        <a:lstStyle/>
        <a:p>
          <a:endParaRPr lang="en-US"/>
        </a:p>
      </dgm:t>
    </dgm:pt>
    <dgm:pt modelId="{0086EDCE-5B6E-4F00-BB9F-89D24513ACED}">
      <dgm:prSet/>
      <dgm:spPr/>
      <dgm:t>
        <a:bodyPr/>
        <a:lstStyle/>
        <a:p>
          <a:r>
            <a:rPr lang="en-US" b="0" i="0"/>
            <a:t>For example, if you have a flex container with three flex items and you set the "align-items" property to "center" to align all items in the center of the container. You can then use the "align-self" property to override the "align-items" property for a specific item, for example, you can set the "align-self" property of the first item to "flex-start" to align it to the start of the container.</a:t>
          </a:r>
          <a:endParaRPr lang="en-US"/>
        </a:p>
      </dgm:t>
    </dgm:pt>
    <dgm:pt modelId="{9E10C08F-D69A-4019-85DB-D0A1AEC4AEAB}" type="parTrans" cxnId="{8F286E72-D29B-4A6C-A090-1BE6FA87A863}">
      <dgm:prSet/>
      <dgm:spPr/>
      <dgm:t>
        <a:bodyPr/>
        <a:lstStyle/>
        <a:p>
          <a:endParaRPr lang="en-US"/>
        </a:p>
      </dgm:t>
    </dgm:pt>
    <dgm:pt modelId="{E4719BA5-085D-4272-81A9-EC2E7274EE25}" type="sibTrans" cxnId="{8F286E72-D29B-4A6C-A090-1BE6FA87A863}">
      <dgm:prSet/>
      <dgm:spPr/>
      <dgm:t>
        <a:bodyPr/>
        <a:lstStyle/>
        <a:p>
          <a:endParaRPr lang="en-US"/>
        </a:p>
      </dgm:t>
    </dgm:pt>
    <dgm:pt modelId="{889190B4-F012-49D1-B704-089460425ABA}">
      <dgm:prSet/>
      <dgm:spPr/>
      <dgm:t>
        <a:bodyPr/>
        <a:lstStyle/>
        <a:p>
          <a:r>
            <a:rPr lang="en-US" b="0" i="0"/>
            <a:t>In summary, the align-self property allows you to align an individual flex item along the cross-axis within a flex container, independent of the alignment of the other items. It takes the same values as the align-items property, such as "flex-start", "flex-end", "center", "baseline" and "stretch" and can be applied to individual flex items. It's useful when you want to align a single item differently from the rest of the items in the container.</a:t>
          </a:r>
          <a:endParaRPr lang="en-US"/>
        </a:p>
      </dgm:t>
    </dgm:pt>
    <dgm:pt modelId="{C9714D37-EE13-4A2E-A70A-4D2FD3BCE52B}" type="parTrans" cxnId="{7CCDC78A-3B8E-4FE4-8ACF-2FB09F0FECB3}">
      <dgm:prSet/>
      <dgm:spPr/>
      <dgm:t>
        <a:bodyPr/>
        <a:lstStyle/>
        <a:p>
          <a:endParaRPr lang="en-US"/>
        </a:p>
      </dgm:t>
    </dgm:pt>
    <dgm:pt modelId="{CED189CB-5E52-4A3F-BD13-2DAA86CEA813}" type="sibTrans" cxnId="{7CCDC78A-3B8E-4FE4-8ACF-2FB09F0FECB3}">
      <dgm:prSet/>
      <dgm:spPr/>
      <dgm:t>
        <a:bodyPr/>
        <a:lstStyle/>
        <a:p>
          <a:endParaRPr lang="en-US"/>
        </a:p>
      </dgm:t>
    </dgm:pt>
    <dgm:pt modelId="{AE92439F-CFBA-B240-B375-032247D97912}" type="pres">
      <dgm:prSet presAssocID="{867DC1C7-1C8A-412D-AC35-46D25403E43E}" presName="linear" presStyleCnt="0">
        <dgm:presLayoutVars>
          <dgm:animLvl val="lvl"/>
          <dgm:resizeHandles val="exact"/>
        </dgm:presLayoutVars>
      </dgm:prSet>
      <dgm:spPr/>
    </dgm:pt>
    <dgm:pt modelId="{3BB194E7-539F-704F-A9D3-6EB77679530C}" type="pres">
      <dgm:prSet presAssocID="{E87A2C04-A88B-49C4-A052-929323D43676}" presName="parentText" presStyleLbl="node1" presStyleIdx="0" presStyleCnt="4">
        <dgm:presLayoutVars>
          <dgm:chMax val="0"/>
          <dgm:bulletEnabled val="1"/>
        </dgm:presLayoutVars>
      </dgm:prSet>
      <dgm:spPr/>
    </dgm:pt>
    <dgm:pt modelId="{754E2826-5BA7-324F-A378-18DF8397FDED}" type="pres">
      <dgm:prSet presAssocID="{DE054BF1-50C7-45AA-B574-7853CA24DF7B}" presName="spacer" presStyleCnt="0"/>
      <dgm:spPr/>
    </dgm:pt>
    <dgm:pt modelId="{6B3A0449-0AEC-9245-8962-76F50D84123B}" type="pres">
      <dgm:prSet presAssocID="{A00646EA-DF4B-4645-AFF9-B9768EE2E74A}" presName="parentText" presStyleLbl="node1" presStyleIdx="1" presStyleCnt="4">
        <dgm:presLayoutVars>
          <dgm:chMax val="0"/>
          <dgm:bulletEnabled val="1"/>
        </dgm:presLayoutVars>
      </dgm:prSet>
      <dgm:spPr/>
    </dgm:pt>
    <dgm:pt modelId="{61D20B90-F0DD-264D-BF31-FAB93C7E232E}" type="pres">
      <dgm:prSet presAssocID="{74655CD2-E927-4D23-88B9-C075C12648CD}" presName="spacer" presStyleCnt="0"/>
      <dgm:spPr/>
    </dgm:pt>
    <dgm:pt modelId="{BA253302-9129-5848-8A7A-BF37048F3BE5}" type="pres">
      <dgm:prSet presAssocID="{0086EDCE-5B6E-4F00-BB9F-89D24513ACED}" presName="parentText" presStyleLbl="node1" presStyleIdx="2" presStyleCnt="4">
        <dgm:presLayoutVars>
          <dgm:chMax val="0"/>
          <dgm:bulletEnabled val="1"/>
        </dgm:presLayoutVars>
      </dgm:prSet>
      <dgm:spPr/>
    </dgm:pt>
    <dgm:pt modelId="{5E4E281D-4B9D-594B-8153-11EA79169A73}" type="pres">
      <dgm:prSet presAssocID="{E4719BA5-085D-4272-81A9-EC2E7274EE25}" presName="spacer" presStyleCnt="0"/>
      <dgm:spPr/>
    </dgm:pt>
    <dgm:pt modelId="{D8DE60BA-C9E4-9043-B86C-5019FFA823D4}" type="pres">
      <dgm:prSet presAssocID="{889190B4-F012-49D1-B704-089460425ABA}" presName="parentText" presStyleLbl="node1" presStyleIdx="3" presStyleCnt="4">
        <dgm:presLayoutVars>
          <dgm:chMax val="0"/>
          <dgm:bulletEnabled val="1"/>
        </dgm:presLayoutVars>
      </dgm:prSet>
      <dgm:spPr/>
    </dgm:pt>
  </dgm:ptLst>
  <dgm:cxnLst>
    <dgm:cxn modelId="{AC42BF30-A229-CA4E-B8EC-2B0C5F778EA8}" type="presOf" srcId="{A00646EA-DF4B-4645-AFF9-B9768EE2E74A}" destId="{6B3A0449-0AEC-9245-8962-76F50D84123B}" srcOrd="0" destOrd="0" presId="urn:microsoft.com/office/officeart/2005/8/layout/vList2"/>
    <dgm:cxn modelId="{7108BF6B-30AB-42CB-B32D-B2498FF4D010}" srcId="{867DC1C7-1C8A-412D-AC35-46D25403E43E}" destId="{A00646EA-DF4B-4645-AFF9-B9768EE2E74A}" srcOrd="1" destOrd="0" parTransId="{B3031CC7-E27D-4045-A2D7-FC60B091CEA9}" sibTransId="{74655CD2-E927-4D23-88B9-C075C12648CD}"/>
    <dgm:cxn modelId="{8F286E72-D29B-4A6C-A090-1BE6FA87A863}" srcId="{867DC1C7-1C8A-412D-AC35-46D25403E43E}" destId="{0086EDCE-5B6E-4F00-BB9F-89D24513ACED}" srcOrd="2" destOrd="0" parTransId="{9E10C08F-D69A-4019-85DB-D0A1AEC4AEAB}" sibTransId="{E4719BA5-085D-4272-81A9-EC2E7274EE25}"/>
    <dgm:cxn modelId="{7A969D76-C4F5-BD4C-A530-2128558FC3B9}" type="presOf" srcId="{889190B4-F012-49D1-B704-089460425ABA}" destId="{D8DE60BA-C9E4-9043-B86C-5019FFA823D4}" srcOrd="0" destOrd="0" presId="urn:microsoft.com/office/officeart/2005/8/layout/vList2"/>
    <dgm:cxn modelId="{65392E7A-0487-B64B-A216-8998A67EE19A}" type="presOf" srcId="{E87A2C04-A88B-49C4-A052-929323D43676}" destId="{3BB194E7-539F-704F-A9D3-6EB77679530C}" srcOrd="0" destOrd="0" presId="urn:microsoft.com/office/officeart/2005/8/layout/vList2"/>
    <dgm:cxn modelId="{0C5FE488-BD7F-7645-B4C2-F17F8C0FA7E3}" type="presOf" srcId="{867DC1C7-1C8A-412D-AC35-46D25403E43E}" destId="{AE92439F-CFBA-B240-B375-032247D97912}" srcOrd="0" destOrd="0" presId="urn:microsoft.com/office/officeart/2005/8/layout/vList2"/>
    <dgm:cxn modelId="{7CCDC78A-3B8E-4FE4-8ACF-2FB09F0FECB3}" srcId="{867DC1C7-1C8A-412D-AC35-46D25403E43E}" destId="{889190B4-F012-49D1-B704-089460425ABA}" srcOrd="3" destOrd="0" parTransId="{C9714D37-EE13-4A2E-A70A-4D2FD3BCE52B}" sibTransId="{CED189CB-5E52-4A3F-BD13-2DAA86CEA813}"/>
    <dgm:cxn modelId="{6D9E22A0-FD78-5C48-948C-F00E82CB500C}" type="presOf" srcId="{0086EDCE-5B6E-4F00-BB9F-89D24513ACED}" destId="{BA253302-9129-5848-8A7A-BF37048F3BE5}" srcOrd="0" destOrd="0" presId="urn:microsoft.com/office/officeart/2005/8/layout/vList2"/>
    <dgm:cxn modelId="{7F72F2DD-B9F9-4413-882D-2A6474FCDE22}" srcId="{867DC1C7-1C8A-412D-AC35-46D25403E43E}" destId="{E87A2C04-A88B-49C4-A052-929323D43676}" srcOrd="0" destOrd="0" parTransId="{21FC98C0-4328-41E8-B19F-275497FA3DE7}" sibTransId="{DE054BF1-50C7-45AA-B574-7853CA24DF7B}"/>
    <dgm:cxn modelId="{85D74A04-C508-AE40-9068-C822240C1A82}" type="presParOf" srcId="{AE92439F-CFBA-B240-B375-032247D97912}" destId="{3BB194E7-539F-704F-A9D3-6EB77679530C}" srcOrd="0" destOrd="0" presId="urn:microsoft.com/office/officeart/2005/8/layout/vList2"/>
    <dgm:cxn modelId="{ED5413AB-30E2-3F41-A5D9-13A7C6770DD6}" type="presParOf" srcId="{AE92439F-CFBA-B240-B375-032247D97912}" destId="{754E2826-5BA7-324F-A378-18DF8397FDED}" srcOrd="1" destOrd="0" presId="urn:microsoft.com/office/officeart/2005/8/layout/vList2"/>
    <dgm:cxn modelId="{F7D4B628-66CB-9F4E-AF68-FCE994E47647}" type="presParOf" srcId="{AE92439F-CFBA-B240-B375-032247D97912}" destId="{6B3A0449-0AEC-9245-8962-76F50D84123B}" srcOrd="2" destOrd="0" presId="urn:microsoft.com/office/officeart/2005/8/layout/vList2"/>
    <dgm:cxn modelId="{2FDA650D-3CE7-B843-AC5D-EA2A6A7CDF6F}" type="presParOf" srcId="{AE92439F-CFBA-B240-B375-032247D97912}" destId="{61D20B90-F0DD-264D-BF31-FAB93C7E232E}" srcOrd="3" destOrd="0" presId="urn:microsoft.com/office/officeart/2005/8/layout/vList2"/>
    <dgm:cxn modelId="{32CF63F2-AA4A-974E-B655-DB9BE870C2C9}" type="presParOf" srcId="{AE92439F-CFBA-B240-B375-032247D97912}" destId="{BA253302-9129-5848-8A7A-BF37048F3BE5}" srcOrd="4" destOrd="0" presId="urn:microsoft.com/office/officeart/2005/8/layout/vList2"/>
    <dgm:cxn modelId="{AEFA0ED1-D237-C847-9B4F-B95906B8FA60}" type="presParOf" srcId="{AE92439F-CFBA-B240-B375-032247D97912}" destId="{5E4E281D-4B9D-594B-8153-11EA79169A73}" srcOrd="5" destOrd="0" presId="urn:microsoft.com/office/officeart/2005/8/layout/vList2"/>
    <dgm:cxn modelId="{3B319CA7-3300-514F-8CBC-E01AED4AB3AF}" type="presParOf" srcId="{AE92439F-CFBA-B240-B375-032247D97912}" destId="{D8DE60BA-C9E4-9043-B86C-5019FFA823D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8CFBA-16E5-6044-ACDD-FBFE3C51C872}">
      <dsp:nvSpPr>
        <dsp:cNvPr id="0" name=""/>
        <dsp:cNvSpPr/>
      </dsp:nvSpPr>
      <dsp:spPr>
        <a:xfrm>
          <a:off x="0" y="43730"/>
          <a:ext cx="6489509" cy="82485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The transform property in CSS allows you to apply a transformation to an element. A transformation is a visual effect that changes the appearance of an element in some way.</a:t>
          </a:r>
        </a:p>
      </dsp:txBody>
      <dsp:txXfrm>
        <a:off x="40266" y="83996"/>
        <a:ext cx="6408977" cy="744318"/>
      </dsp:txXfrm>
    </dsp:sp>
    <dsp:sp modelId="{3D1AF046-C3C4-6C4C-87AA-40E4993E689D}">
      <dsp:nvSpPr>
        <dsp:cNvPr id="0" name=""/>
        <dsp:cNvSpPr/>
      </dsp:nvSpPr>
      <dsp:spPr>
        <a:xfrm>
          <a:off x="0" y="911780"/>
          <a:ext cx="6489509" cy="824850"/>
        </a:xfrm>
        <a:prstGeom prst="roundRect">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The transform property has a number of different functions that you can use to transform an element, including:</a:t>
          </a:r>
        </a:p>
      </dsp:txBody>
      <dsp:txXfrm>
        <a:off x="40266" y="952046"/>
        <a:ext cx="6408977" cy="744318"/>
      </dsp:txXfrm>
    </dsp:sp>
    <dsp:sp modelId="{D97CC709-5301-984C-93E1-935AECA59674}">
      <dsp:nvSpPr>
        <dsp:cNvPr id="0" name=""/>
        <dsp:cNvSpPr/>
      </dsp:nvSpPr>
      <dsp:spPr>
        <a:xfrm>
          <a:off x="0" y="1779830"/>
          <a:ext cx="6489509" cy="824850"/>
        </a:xfrm>
        <a:prstGeom prst="roundRect">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translate: Moves an element along the X and Y axes.</a:t>
          </a:r>
        </a:p>
      </dsp:txBody>
      <dsp:txXfrm>
        <a:off x="40266" y="1820096"/>
        <a:ext cx="6408977" cy="744318"/>
      </dsp:txXfrm>
    </dsp:sp>
    <dsp:sp modelId="{327A4E1A-8EA6-AD4D-8645-9CD49329D83F}">
      <dsp:nvSpPr>
        <dsp:cNvPr id="0" name=""/>
        <dsp:cNvSpPr/>
      </dsp:nvSpPr>
      <dsp:spPr>
        <a:xfrm>
          <a:off x="0" y="2647880"/>
          <a:ext cx="6489509" cy="824850"/>
        </a:xfrm>
        <a:prstGeom prst="roundRect">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scale: Scales an element up or down in size.</a:t>
          </a:r>
        </a:p>
      </dsp:txBody>
      <dsp:txXfrm>
        <a:off x="40266" y="2688146"/>
        <a:ext cx="6408977" cy="744318"/>
      </dsp:txXfrm>
    </dsp:sp>
    <dsp:sp modelId="{E62E91BC-C944-1B4A-862F-08389EF546B9}">
      <dsp:nvSpPr>
        <dsp:cNvPr id="0" name=""/>
        <dsp:cNvSpPr/>
      </dsp:nvSpPr>
      <dsp:spPr>
        <a:xfrm>
          <a:off x="0" y="3515930"/>
          <a:ext cx="6489509" cy="824850"/>
        </a:xfrm>
        <a:prstGeom prst="roundRect">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rotate: Rotates an element clockwise or counterclockwise.</a:t>
          </a:r>
        </a:p>
      </dsp:txBody>
      <dsp:txXfrm>
        <a:off x="40266" y="3556196"/>
        <a:ext cx="6408977" cy="744318"/>
      </dsp:txXfrm>
    </dsp:sp>
    <dsp:sp modelId="{13979A95-3A6B-6D40-833E-D539D3E019B1}">
      <dsp:nvSpPr>
        <dsp:cNvPr id="0" name=""/>
        <dsp:cNvSpPr/>
      </dsp:nvSpPr>
      <dsp:spPr>
        <a:xfrm>
          <a:off x="0" y="4383980"/>
          <a:ext cx="6489509" cy="82485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skew: Skews an element horizontally or vertically.</a:t>
          </a:r>
        </a:p>
      </dsp:txBody>
      <dsp:txXfrm>
        <a:off x="40266" y="4424246"/>
        <a:ext cx="6408977" cy="7443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59887A-1CA3-2A4F-B9B8-4AE460161ADE}">
      <dsp:nvSpPr>
        <dsp:cNvPr id="0" name=""/>
        <dsp:cNvSpPr/>
      </dsp:nvSpPr>
      <dsp:spPr>
        <a:xfrm>
          <a:off x="0" y="67328"/>
          <a:ext cx="6254496" cy="71487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The CSS float property is used to make an element float to the left or right of its containing element. When an element is floated, it is removed from the normal flow of the document and other elements will flow around it.</a:t>
          </a:r>
        </a:p>
      </dsp:txBody>
      <dsp:txXfrm>
        <a:off x="34897" y="102225"/>
        <a:ext cx="6184702" cy="645076"/>
      </dsp:txXfrm>
    </dsp:sp>
    <dsp:sp modelId="{CF5572EF-8116-6D47-9C82-9878EF97530E}">
      <dsp:nvSpPr>
        <dsp:cNvPr id="0" name=""/>
        <dsp:cNvSpPr/>
      </dsp:nvSpPr>
      <dsp:spPr>
        <a:xfrm>
          <a:off x="0" y="819638"/>
          <a:ext cx="6254496" cy="714870"/>
        </a:xfrm>
        <a:prstGeom prst="round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The float property can be set to left, right, or none.</a:t>
          </a:r>
        </a:p>
      </dsp:txBody>
      <dsp:txXfrm>
        <a:off x="34897" y="854535"/>
        <a:ext cx="6184702" cy="645076"/>
      </dsp:txXfrm>
    </dsp:sp>
    <dsp:sp modelId="{D583BBEE-55EF-9B44-893D-8A6405281279}">
      <dsp:nvSpPr>
        <dsp:cNvPr id="0" name=""/>
        <dsp:cNvSpPr/>
      </dsp:nvSpPr>
      <dsp:spPr>
        <a:xfrm>
          <a:off x="0" y="1571948"/>
          <a:ext cx="6254496" cy="71487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left will make the element float to the left of its containing element.</a:t>
          </a:r>
        </a:p>
      </dsp:txBody>
      <dsp:txXfrm>
        <a:off x="34897" y="1606845"/>
        <a:ext cx="6184702" cy="645076"/>
      </dsp:txXfrm>
    </dsp:sp>
    <dsp:sp modelId="{1270715D-199A-FE43-A662-E54F6F0EDE3E}">
      <dsp:nvSpPr>
        <dsp:cNvPr id="0" name=""/>
        <dsp:cNvSpPr/>
      </dsp:nvSpPr>
      <dsp:spPr>
        <a:xfrm>
          <a:off x="0" y="2324258"/>
          <a:ext cx="6254496" cy="714870"/>
        </a:xfrm>
        <a:prstGeom prst="round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right will make the element float to the right of its containing element.</a:t>
          </a:r>
        </a:p>
      </dsp:txBody>
      <dsp:txXfrm>
        <a:off x="34897" y="2359155"/>
        <a:ext cx="6184702" cy="645076"/>
      </dsp:txXfrm>
    </dsp:sp>
    <dsp:sp modelId="{7647DBA3-19A0-224B-9F51-403E3C3FAE35}">
      <dsp:nvSpPr>
        <dsp:cNvPr id="0" name=""/>
        <dsp:cNvSpPr/>
      </dsp:nvSpPr>
      <dsp:spPr>
        <a:xfrm>
          <a:off x="0" y="3076569"/>
          <a:ext cx="6254496" cy="71487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none will make the element not float and be in normal flow</a:t>
          </a:r>
        </a:p>
      </dsp:txBody>
      <dsp:txXfrm>
        <a:off x="34897" y="3111466"/>
        <a:ext cx="6184702" cy="6450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0C9240-CD06-5A40-91A3-82E26621814D}">
      <dsp:nvSpPr>
        <dsp:cNvPr id="0" name=""/>
        <dsp:cNvSpPr/>
      </dsp:nvSpPr>
      <dsp:spPr>
        <a:xfrm>
          <a:off x="0" y="57069"/>
          <a:ext cx="10515600" cy="397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"align-content" is a CSS property that is used to align the whole block of flex lines within a flex container along the cross-axis, after the flexible lengths and auto margins are resolved. It is used in conjunction with the "display: flex" property and "flex-wrap:wrap" or "flex-wrap:wrap-reverse" to align the flex lines.</a:t>
          </a:r>
        </a:p>
      </dsp:txBody>
      <dsp:txXfrm>
        <a:off x="19419" y="76488"/>
        <a:ext cx="10476762" cy="358962"/>
      </dsp:txXfrm>
    </dsp:sp>
    <dsp:sp modelId="{4BEA23EC-637E-F64B-9EA9-92A7843677E4}">
      <dsp:nvSpPr>
        <dsp:cNvPr id="0" name=""/>
        <dsp:cNvSpPr/>
      </dsp:nvSpPr>
      <dsp:spPr>
        <a:xfrm>
          <a:off x="0" y="483669"/>
          <a:ext cx="10515600" cy="397800"/>
        </a:xfrm>
        <a:prstGeom prst="roundRect">
          <a:avLst/>
        </a:prstGeom>
        <a:solidFill>
          <a:schemeClr val="accent2">
            <a:hueOff val="-161707"/>
            <a:satOff val="-9325"/>
            <a:lumOff val="9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The available options for the "align-content" property are:</a:t>
          </a:r>
        </a:p>
      </dsp:txBody>
      <dsp:txXfrm>
        <a:off x="19419" y="503088"/>
        <a:ext cx="10476762" cy="358962"/>
      </dsp:txXfrm>
    </dsp:sp>
    <dsp:sp modelId="{60EAEF8B-D560-8E47-9D24-2B7155BFD0EC}">
      <dsp:nvSpPr>
        <dsp:cNvPr id="0" name=""/>
        <dsp:cNvSpPr/>
      </dsp:nvSpPr>
      <dsp:spPr>
        <a:xfrm>
          <a:off x="0" y="910269"/>
          <a:ext cx="10515600" cy="397800"/>
        </a:xfrm>
        <a:prstGeom prst="roundRect">
          <a:avLst/>
        </a:prstGeom>
        <a:solidFill>
          <a:schemeClr val="accent2">
            <a:hueOff val="-323414"/>
            <a:satOff val="-18651"/>
            <a:lumOff val="191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"flex-start": This aligns the flex lines to the start of the flex container along the vertical axis.</a:t>
          </a:r>
        </a:p>
      </dsp:txBody>
      <dsp:txXfrm>
        <a:off x="19419" y="929688"/>
        <a:ext cx="10476762" cy="358962"/>
      </dsp:txXfrm>
    </dsp:sp>
    <dsp:sp modelId="{C538010E-8425-814A-8F7F-5746A89D717A}">
      <dsp:nvSpPr>
        <dsp:cNvPr id="0" name=""/>
        <dsp:cNvSpPr/>
      </dsp:nvSpPr>
      <dsp:spPr>
        <a:xfrm>
          <a:off x="0" y="1336869"/>
          <a:ext cx="10515600" cy="39780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"flex-end": This aligns the flex lines to the end of the flex container along the vertical axis.</a:t>
          </a:r>
        </a:p>
      </dsp:txBody>
      <dsp:txXfrm>
        <a:off x="19419" y="1356288"/>
        <a:ext cx="10476762" cy="358962"/>
      </dsp:txXfrm>
    </dsp:sp>
    <dsp:sp modelId="{A7C7A6D3-1823-DC43-A438-D01D508B6853}">
      <dsp:nvSpPr>
        <dsp:cNvPr id="0" name=""/>
        <dsp:cNvSpPr/>
      </dsp:nvSpPr>
      <dsp:spPr>
        <a:xfrm>
          <a:off x="0" y="1763469"/>
          <a:ext cx="10515600" cy="397800"/>
        </a:xfrm>
        <a:prstGeom prst="roundRect">
          <a:avLst/>
        </a:prstGeom>
        <a:solidFill>
          <a:schemeClr val="accent2">
            <a:hueOff val="-646828"/>
            <a:satOff val="-37301"/>
            <a:lumOff val="38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"center": This aligns the flex lines at the center of the flex container along the vertical axis.</a:t>
          </a:r>
        </a:p>
      </dsp:txBody>
      <dsp:txXfrm>
        <a:off x="19419" y="1782888"/>
        <a:ext cx="10476762" cy="358962"/>
      </dsp:txXfrm>
    </dsp:sp>
    <dsp:sp modelId="{266C584B-5300-BD4A-919F-497115C6CA74}">
      <dsp:nvSpPr>
        <dsp:cNvPr id="0" name=""/>
        <dsp:cNvSpPr/>
      </dsp:nvSpPr>
      <dsp:spPr>
        <a:xfrm>
          <a:off x="0" y="2190069"/>
          <a:ext cx="10515600" cy="397800"/>
        </a:xfrm>
        <a:prstGeom prst="roundRect">
          <a:avLst/>
        </a:prstGeom>
        <a:solidFill>
          <a:schemeClr val="accent2">
            <a:hueOff val="-808535"/>
            <a:satOff val="-46627"/>
            <a:lumOff val="47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"space-between": This distributes the flex lines evenly along the vertical axis, with the first flex line at the start of the flex container and the last flex line at the end.</a:t>
          </a:r>
        </a:p>
      </dsp:txBody>
      <dsp:txXfrm>
        <a:off x="19419" y="2209488"/>
        <a:ext cx="10476762" cy="358962"/>
      </dsp:txXfrm>
    </dsp:sp>
    <dsp:sp modelId="{D5B34E28-F959-DB48-A24C-6C0B510F7427}">
      <dsp:nvSpPr>
        <dsp:cNvPr id="0" name=""/>
        <dsp:cNvSpPr/>
      </dsp:nvSpPr>
      <dsp:spPr>
        <a:xfrm>
          <a:off x="0" y="2616669"/>
          <a:ext cx="10515600" cy="39780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"space-around": This distributes the flex lines evenly along the vertical axis, with equal space around each flex line.</a:t>
          </a:r>
        </a:p>
      </dsp:txBody>
      <dsp:txXfrm>
        <a:off x="19419" y="2636088"/>
        <a:ext cx="10476762" cy="358962"/>
      </dsp:txXfrm>
    </dsp:sp>
    <dsp:sp modelId="{2711F4E1-18D9-EC42-8052-E258E4ACE67B}">
      <dsp:nvSpPr>
        <dsp:cNvPr id="0" name=""/>
        <dsp:cNvSpPr/>
      </dsp:nvSpPr>
      <dsp:spPr>
        <a:xfrm>
          <a:off x="0" y="3043268"/>
          <a:ext cx="10515600" cy="397800"/>
        </a:xfrm>
        <a:prstGeom prst="roundRect">
          <a:avLst/>
        </a:prstGeom>
        <a:solidFill>
          <a:schemeClr val="accent2">
            <a:hueOff val="-1131949"/>
            <a:satOff val="-65277"/>
            <a:lumOff val="67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"stretch": This stretches the flex lines to fill the flex container along the vertical axis.</a:t>
          </a:r>
        </a:p>
      </dsp:txBody>
      <dsp:txXfrm>
        <a:off x="19419" y="3062687"/>
        <a:ext cx="10476762" cy="358962"/>
      </dsp:txXfrm>
    </dsp:sp>
    <dsp:sp modelId="{478D695E-10D5-4246-A01A-FC62367A0E48}">
      <dsp:nvSpPr>
        <dsp:cNvPr id="0" name=""/>
        <dsp:cNvSpPr/>
      </dsp:nvSpPr>
      <dsp:spPr>
        <a:xfrm>
          <a:off x="0" y="3469868"/>
          <a:ext cx="10515600" cy="397800"/>
        </a:xfrm>
        <a:prstGeom prst="roundRect">
          <a:avLst/>
        </a:prstGeom>
        <a:solidFill>
          <a:schemeClr val="accent2">
            <a:hueOff val="-1293656"/>
            <a:satOff val="-74603"/>
            <a:lumOff val="76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The align-content property tells the flex container how should it align the flex lines along the cross-axis (vertical). It can be set as flex-start, flex-end, center, space-between, space-around, stretch. This property is used along with display: flex property and flex-wrap:wrap or flex-wrap:wrap-reverse.</a:t>
          </a:r>
        </a:p>
      </dsp:txBody>
      <dsp:txXfrm>
        <a:off x="19419" y="3489287"/>
        <a:ext cx="10476762" cy="358962"/>
      </dsp:txXfrm>
    </dsp:sp>
    <dsp:sp modelId="{FD21854E-E91E-264E-A0C3-137DCE0E0B32}">
      <dsp:nvSpPr>
        <dsp:cNvPr id="0" name=""/>
        <dsp:cNvSpPr/>
      </dsp:nvSpPr>
      <dsp:spPr>
        <a:xfrm>
          <a:off x="0" y="3896468"/>
          <a:ext cx="10515600" cy="39780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It's worth noting that if the flex container has only one line of items, align-content property won't have any effect.</a:t>
          </a:r>
        </a:p>
      </dsp:txBody>
      <dsp:txXfrm>
        <a:off x="19419" y="3915887"/>
        <a:ext cx="10476762" cy="3589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002CA5-737C-7948-BE3F-C95A10000EA0}">
      <dsp:nvSpPr>
        <dsp:cNvPr id="0" name=""/>
        <dsp:cNvSpPr/>
      </dsp:nvSpPr>
      <dsp:spPr>
        <a:xfrm>
          <a:off x="0" y="86904"/>
          <a:ext cx="10515600" cy="135602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In CSS Flexbox, the "order" property is used to control the visual order of flex items within a flex container. By default, the order of flex items is the same as the order in which they appear in the HTML source code. However, the "order" property allows you to change the order of items, regardless of their position in the source code.</a:t>
          </a:r>
          <a:endParaRPr lang="en-US" sz="1900" kern="1200"/>
        </a:p>
      </dsp:txBody>
      <dsp:txXfrm>
        <a:off x="66196" y="153100"/>
        <a:ext cx="10383208" cy="1223637"/>
      </dsp:txXfrm>
    </dsp:sp>
    <dsp:sp modelId="{2284EAC6-B8E8-DA45-BB3C-5428459B55FE}">
      <dsp:nvSpPr>
        <dsp:cNvPr id="0" name=""/>
        <dsp:cNvSpPr/>
      </dsp:nvSpPr>
      <dsp:spPr>
        <a:xfrm>
          <a:off x="0" y="1497654"/>
          <a:ext cx="10515600" cy="1356029"/>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The "order" property can be applied to individual flex items, and it accepts a numerical value as its value. A positive value will move an item forward in the order, and a negative value will move an item backward. For example, if you set an item's "order" value to -1, it will be moved to the front of the flex container, while an item with an "order" value of 1 will be moved to the back.</a:t>
          </a:r>
          <a:endParaRPr lang="en-US" sz="1900" kern="1200"/>
        </a:p>
      </dsp:txBody>
      <dsp:txXfrm>
        <a:off x="66196" y="1563850"/>
        <a:ext cx="10383208" cy="1223637"/>
      </dsp:txXfrm>
    </dsp:sp>
    <dsp:sp modelId="{55D80D26-0520-FB45-9DB3-93EF43827B31}">
      <dsp:nvSpPr>
        <dsp:cNvPr id="0" name=""/>
        <dsp:cNvSpPr/>
      </dsp:nvSpPr>
      <dsp:spPr>
        <a:xfrm>
          <a:off x="0" y="2908403"/>
          <a:ext cx="10515600" cy="1356029"/>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The order property is particularly useful when you need to change the order of items on different screen sizes or device types, using media queries or other responsive design techniques.</a:t>
          </a:r>
          <a:endParaRPr lang="en-US" sz="1900" kern="1200"/>
        </a:p>
      </dsp:txBody>
      <dsp:txXfrm>
        <a:off x="66196" y="2974599"/>
        <a:ext cx="10383208" cy="12236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24423-51DD-134F-82DB-033293C90821}">
      <dsp:nvSpPr>
        <dsp:cNvPr id="0" name=""/>
        <dsp:cNvSpPr/>
      </dsp:nvSpPr>
      <dsp:spPr>
        <a:xfrm>
          <a:off x="0" y="166345"/>
          <a:ext cx="10515600" cy="19762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The "flex-grow" property in CSS Flexbox is used to control the proportion of available space that a flex item will take up within a flex container. It is a factor that determines how much a flex item will grow relative to the other flex items in the container.</a:t>
          </a:r>
          <a:endParaRPr lang="en-US" sz="2300" kern="1200"/>
        </a:p>
      </dsp:txBody>
      <dsp:txXfrm>
        <a:off x="96470" y="262815"/>
        <a:ext cx="10322660" cy="1783263"/>
      </dsp:txXfrm>
    </dsp:sp>
    <dsp:sp modelId="{A1CB3083-BF38-DB4F-95F3-5AD37DED7180}">
      <dsp:nvSpPr>
        <dsp:cNvPr id="0" name=""/>
        <dsp:cNvSpPr/>
      </dsp:nvSpPr>
      <dsp:spPr>
        <a:xfrm>
          <a:off x="0" y="2208789"/>
          <a:ext cx="10515600" cy="1976203"/>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The "flex-grow" property accepts a numerical value as its value, with a default value of 0. A value of 0 means that the flex item will not grow at all, and will maintain its original size. A value of 1 means that the flex item will take up an equal amount of space as the other flex items in the container. A value of 2 means that the flex item will take up twice as much space as the other flex items, and so on.</a:t>
          </a:r>
          <a:endParaRPr lang="en-US" sz="2300" kern="1200"/>
        </a:p>
      </dsp:txBody>
      <dsp:txXfrm>
        <a:off x="96470" y="2305259"/>
        <a:ext cx="10322660" cy="17832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21D9D4-ECB4-DD43-95FD-4AE41F2D4876}">
      <dsp:nvSpPr>
        <dsp:cNvPr id="0" name=""/>
        <dsp:cNvSpPr/>
      </dsp:nvSpPr>
      <dsp:spPr>
        <a:xfrm>
          <a:off x="0" y="112954"/>
          <a:ext cx="10515600" cy="133866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For example, if you have a flex container with three flex items, and you set the "flex-grow" value of the first item to 1, the second item to 2 and the third item to 3. The second item will take up twice as much space as the first item and the third item will take up three times as much space as the first item.</a:t>
          </a:r>
          <a:endParaRPr lang="en-US" sz="1900" kern="1200"/>
        </a:p>
      </dsp:txBody>
      <dsp:txXfrm>
        <a:off x="65348" y="178302"/>
        <a:ext cx="10384904" cy="1207966"/>
      </dsp:txXfrm>
    </dsp:sp>
    <dsp:sp modelId="{02A95E19-23C5-6640-AD43-619CB0F00F01}">
      <dsp:nvSpPr>
        <dsp:cNvPr id="0" name=""/>
        <dsp:cNvSpPr/>
      </dsp:nvSpPr>
      <dsp:spPr>
        <a:xfrm>
          <a:off x="0" y="1506337"/>
          <a:ext cx="10515600" cy="1338662"/>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It's important to note that when using the flex-grow property, the sum of the flex-grow values should be equal or greater than the number of flex items, otherwise some items will not have enough space.</a:t>
          </a:r>
          <a:endParaRPr lang="en-US" sz="1900" kern="1200"/>
        </a:p>
      </dsp:txBody>
      <dsp:txXfrm>
        <a:off x="65348" y="1571685"/>
        <a:ext cx="10384904" cy="1207966"/>
      </dsp:txXfrm>
    </dsp:sp>
    <dsp:sp modelId="{2CF9348F-28DE-604E-A545-175BF200ADBA}">
      <dsp:nvSpPr>
        <dsp:cNvPr id="0" name=""/>
        <dsp:cNvSpPr/>
      </dsp:nvSpPr>
      <dsp:spPr>
        <a:xfrm>
          <a:off x="0" y="2899720"/>
          <a:ext cx="10515600" cy="1338662"/>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In summary, the flex-grow property allows you to control the proportion of space that an element takes up within a flex container. It takes a numerical value as its value, and it determines how much the element will grow relative to the other elements in the container. The default value is 0, which means that the element will not grow at all. This property can be useful when working with responsive design.</a:t>
          </a:r>
          <a:endParaRPr lang="en-US" sz="1900" kern="1200"/>
        </a:p>
      </dsp:txBody>
      <dsp:txXfrm>
        <a:off x="65348" y="2965068"/>
        <a:ext cx="10384904" cy="12079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B194E7-539F-704F-A9D3-6EB77679530C}">
      <dsp:nvSpPr>
        <dsp:cNvPr id="0" name=""/>
        <dsp:cNvSpPr/>
      </dsp:nvSpPr>
      <dsp:spPr>
        <a:xfrm>
          <a:off x="0" y="108319"/>
          <a:ext cx="10515600" cy="10034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"align-self" is a CSS property in Flexbox that allows you to override the "align-items" property for individual flex items. It is used to align a single flex item along the cross-axis within a flex container, independent of the alignment of the other items.</a:t>
          </a:r>
          <a:endParaRPr lang="en-US" sz="1400" kern="1200"/>
        </a:p>
      </dsp:txBody>
      <dsp:txXfrm>
        <a:off x="48984" y="157303"/>
        <a:ext cx="10417632" cy="905466"/>
      </dsp:txXfrm>
    </dsp:sp>
    <dsp:sp modelId="{6B3A0449-0AEC-9245-8962-76F50D84123B}">
      <dsp:nvSpPr>
        <dsp:cNvPr id="0" name=""/>
        <dsp:cNvSpPr/>
      </dsp:nvSpPr>
      <dsp:spPr>
        <a:xfrm>
          <a:off x="0" y="1152074"/>
          <a:ext cx="10515600" cy="10034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The "align-self" property can be applied to individual flex items and it accepts the same values as the "align-items" property: "flex-start", "flex-end", "center", "baseline", and "stretch".</a:t>
          </a:r>
          <a:endParaRPr lang="en-US" sz="1400" kern="1200"/>
        </a:p>
      </dsp:txBody>
      <dsp:txXfrm>
        <a:off x="48984" y="1201058"/>
        <a:ext cx="10417632" cy="905466"/>
      </dsp:txXfrm>
    </dsp:sp>
    <dsp:sp modelId="{BA253302-9129-5848-8A7A-BF37048F3BE5}">
      <dsp:nvSpPr>
        <dsp:cNvPr id="0" name=""/>
        <dsp:cNvSpPr/>
      </dsp:nvSpPr>
      <dsp:spPr>
        <a:xfrm>
          <a:off x="0" y="2195829"/>
          <a:ext cx="10515600" cy="10034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For example, if you have a flex container with three flex items and you set the "align-items" property to "center" to align all items in the center of the container. You can then use the "align-self" property to override the "align-items" property for a specific item, for example, you can set the "align-self" property of the first item to "flex-start" to align it to the start of the container.</a:t>
          </a:r>
          <a:endParaRPr lang="en-US" sz="1400" kern="1200"/>
        </a:p>
      </dsp:txBody>
      <dsp:txXfrm>
        <a:off x="48984" y="2244813"/>
        <a:ext cx="10417632" cy="905466"/>
      </dsp:txXfrm>
    </dsp:sp>
    <dsp:sp modelId="{D8DE60BA-C9E4-9043-B86C-5019FFA823D4}">
      <dsp:nvSpPr>
        <dsp:cNvPr id="0" name=""/>
        <dsp:cNvSpPr/>
      </dsp:nvSpPr>
      <dsp:spPr>
        <a:xfrm>
          <a:off x="0" y="3239583"/>
          <a:ext cx="10515600" cy="10034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In summary, the align-self property allows you to align an individual flex item along the cross-axis within a flex container, independent of the alignment of the other items. It takes the same values as the align-items property, such as "flex-start", "flex-end", "center", "baseline" and "stretch" and can be applied to individual flex items. It's useful when you want to align a single item differently from the rest of the items in the container.</a:t>
          </a:r>
          <a:endParaRPr lang="en-US" sz="1400" kern="1200"/>
        </a:p>
      </dsp:txBody>
      <dsp:txXfrm>
        <a:off x="48984" y="3288567"/>
        <a:ext cx="10417632" cy="9054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DF54F-FF77-3E51-5F6C-4680AE8D52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BB076E4D-144E-FC37-E1D2-0C10542052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28664B06-0BDE-7279-32C2-F062C6D3668C}"/>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5" name="Footer Placeholder 4">
            <a:extLst>
              <a:ext uri="{FF2B5EF4-FFF2-40B4-BE49-F238E27FC236}">
                <a16:creationId xmlns:a16="http://schemas.microsoft.com/office/drawing/2014/main" id="{46D84224-2644-159F-ADAB-B7B1E469B7E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1E61BF08-C360-D02E-CC3F-E2CEECD8D9C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758788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A297-3F0C-6A3B-C3E4-394D5BCD865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E46E2C5-9A11-CD85-FD47-391F90A4EF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D9B164E-AC17-D4C7-9EAF-28B5C4C7A6C2}"/>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5" name="Footer Placeholder 4">
            <a:extLst>
              <a:ext uri="{FF2B5EF4-FFF2-40B4-BE49-F238E27FC236}">
                <a16:creationId xmlns:a16="http://schemas.microsoft.com/office/drawing/2014/main" id="{6CCEC641-225B-1BBD-8EA7-115EDB9D919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6AE30F88-89C6-DC71-31C6-107729E8A5B8}"/>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4080643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AA035-6E4D-CC93-FDD6-BDB5D328DB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24192F0-6F79-66E3-4D28-0D981B272B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0A3CA2-284E-2E7A-FD02-8F7B0D2F3E17}"/>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5" name="Footer Placeholder 4">
            <a:extLst>
              <a:ext uri="{FF2B5EF4-FFF2-40B4-BE49-F238E27FC236}">
                <a16:creationId xmlns:a16="http://schemas.microsoft.com/office/drawing/2014/main" id="{E3014BE2-6DFC-78D8-A89B-5F5B5BF7DB5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8E00A2-720C-0B21-A254-58A19DCA7AD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17539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9A804-2965-FC26-AB2C-14C3988208B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5040886-D7D4-2B43-7F7A-61F865FE43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50C11A44-A5A9-7F09-8073-97D67BE598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FEC17B04-F9AC-1EC5-843F-7CAFF1B44934}"/>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6" name="Footer Placeholder 5">
            <a:extLst>
              <a:ext uri="{FF2B5EF4-FFF2-40B4-BE49-F238E27FC236}">
                <a16:creationId xmlns:a16="http://schemas.microsoft.com/office/drawing/2014/main" id="{FCAD50EE-B32B-7D57-6533-68932B7CBF1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0F99E9B-8B80-3BCA-1537-7DCF10FBAFDF}"/>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60554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49504-80EA-CD64-F6F3-00EC677A1D4D}"/>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0E8A17B-76C9-F9C5-B3FC-98D0CEE279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5F9F3-CF6A-CEC1-131F-E1B4561091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EA09D22F-4221-8F4A-C06E-9B1A30F9B7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639790-537C-1D37-CEBA-746C5F5E9D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95790B0C-2DDE-F707-4D68-154FD92D0EC3}"/>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8" name="Footer Placeholder 7">
            <a:extLst>
              <a:ext uri="{FF2B5EF4-FFF2-40B4-BE49-F238E27FC236}">
                <a16:creationId xmlns:a16="http://schemas.microsoft.com/office/drawing/2014/main" id="{9FB8ACC5-E23D-93D7-1641-7A25984384B9}"/>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EE2EB4E7-E47B-C82F-16B8-7FEC81FCDF2A}"/>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626247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A370-C247-F29F-3A75-AA429D4583E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FEF47FD1-6EA6-A659-AE74-D3AD35115B9D}"/>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4" name="Footer Placeholder 3">
            <a:extLst>
              <a:ext uri="{FF2B5EF4-FFF2-40B4-BE49-F238E27FC236}">
                <a16:creationId xmlns:a16="http://schemas.microsoft.com/office/drawing/2014/main" id="{271E45BC-F37C-CC38-C5BE-0ED99CD47CB9}"/>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27FE6C73-B065-B878-DD87-8D7D8E57BE2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7613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AEC408-D07B-7343-221D-54BB3B86C290}"/>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3" name="Footer Placeholder 2">
            <a:extLst>
              <a:ext uri="{FF2B5EF4-FFF2-40B4-BE49-F238E27FC236}">
                <a16:creationId xmlns:a16="http://schemas.microsoft.com/office/drawing/2014/main" id="{9154BC0C-0A53-D936-0ABC-62E202367BDD}"/>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ED9FE93F-4D9B-DB0A-B235-D1EA2FF647A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12154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7576-27C9-C0C2-A70F-3AA937257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7E0C8F35-6036-07D3-E5B1-FBC42FF7AF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102A02AB-4B36-9822-BE63-6B71A18249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6E254-A4D5-34B6-A626-4440CCEC0A86}"/>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6" name="Footer Placeholder 5">
            <a:extLst>
              <a:ext uri="{FF2B5EF4-FFF2-40B4-BE49-F238E27FC236}">
                <a16:creationId xmlns:a16="http://schemas.microsoft.com/office/drawing/2014/main" id="{0D1E12F9-5D97-4A92-EBAF-A454F803A2B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850A258-3005-1BEE-6A65-160C1F33005C}"/>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188918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A5B4E-079E-A12C-F050-D95390552B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187EE4E3-3B1E-5CC3-4DD9-16119B275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CF2A85FD-C10A-0151-4D74-700E5208A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1B57AE-C68B-5B8A-5BE9-5953DC9BF943}"/>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6" name="Footer Placeholder 5">
            <a:extLst>
              <a:ext uri="{FF2B5EF4-FFF2-40B4-BE49-F238E27FC236}">
                <a16:creationId xmlns:a16="http://schemas.microsoft.com/office/drawing/2014/main" id="{B24C7228-7E55-C24B-D056-7266D724799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B6E2E16-55C4-6ADD-0B6D-3264EAD371ED}"/>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3220272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B895-7F78-73AD-1361-D08A8FD535AD}"/>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42FEF791-08F0-2ADD-8C9A-E37322CC29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FF13ED4-8901-89AB-BCD8-DA7393078225}"/>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5" name="Footer Placeholder 4">
            <a:extLst>
              <a:ext uri="{FF2B5EF4-FFF2-40B4-BE49-F238E27FC236}">
                <a16:creationId xmlns:a16="http://schemas.microsoft.com/office/drawing/2014/main" id="{35F81611-0252-66C0-EBDE-6E5C9ED6448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473D01F-FA09-4426-AA03-581530AA1567}"/>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3381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115CDC-2448-F9FD-A261-39FCA164B0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006A803-1EA5-5304-E6F5-D54C1D52CA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E76CCD5-329A-A83B-2261-B04819C1A130}"/>
              </a:ext>
            </a:extLst>
          </p:cNvPr>
          <p:cNvSpPr>
            <a:spLocks noGrp="1"/>
          </p:cNvSpPr>
          <p:nvPr>
            <p:ph type="dt" sz="half" idx="10"/>
          </p:nvPr>
        </p:nvSpPr>
        <p:spPr/>
        <p:txBody>
          <a:bodyPr/>
          <a:lstStyle/>
          <a:p>
            <a:fld id="{E0C858BD-AA26-3249-9D78-E68179219554}" type="datetimeFigureOut">
              <a:rPr lang="en-IL" smtClean="0"/>
              <a:t>23/01/2023</a:t>
            </a:fld>
            <a:endParaRPr lang="en-IL"/>
          </a:p>
        </p:txBody>
      </p:sp>
      <p:sp>
        <p:nvSpPr>
          <p:cNvPr id="5" name="Footer Placeholder 4">
            <a:extLst>
              <a:ext uri="{FF2B5EF4-FFF2-40B4-BE49-F238E27FC236}">
                <a16:creationId xmlns:a16="http://schemas.microsoft.com/office/drawing/2014/main" id="{B08610F7-CFA6-0D88-73CA-C83BCCB0F2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B5BD9AD-283E-B124-2250-47D41DE27B39}"/>
              </a:ext>
            </a:extLst>
          </p:cNvPr>
          <p:cNvSpPr>
            <a:spLocks noGrp="1"/>
          </p:cNvSpPr>
          <p:nvPr>
            <p:ph type="sldNum" sz="quarter" idx="12"/>
          </p:nvPr>
        </p:nvSpPr>
        <p:spPr/>
        <p:txBody>
          <a:bodyPr/>
          <a:lstStyle/>
          <a:p>
            <a:fld id="{8B90FA1B-E0D6-CA43-90F4-C56AEB2034A2}" type="slidenum">
              <a:rPr lang="en-IL" smtClean="0"/>
              <a:t>‹#›</a:t>
            </a:fld>
            <a:endParaRPr lang="en-IL"/>
          </a:p>
        </p:txBody>
      </p:sp>
    </p:spTree>
    <p:extLst>
      <p:ext uri="{BB962C8B-B14F-4D97-AF65-F5344CB8AC3E}">
        <p14:creationId xmlns:p14="http://schemas.microsoft.com/office/powerpoint/2010/main" val="2731159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E18A6F-D436-5503-3693-5DE3AB5F74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6960EF9-DADC-B56E-2E95-1D560CF78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F3812AF-112E-C3DF-00BA-1876D9CFE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858BD-AA26-3249-9D78-E68179219554}" type="datetimeFigureOut">
              <a:rPr lang="en-IL" smtClean="0"/>
              <a:t>23/01/2023</a:t>
            </a:fld>
            <a:endParaRPr lang="en-IL"/>
          </a:p>
        </p:txBody>
      </p:sp>
      <p:sp>
        <p:nvSpPr>
          <p:cNvPr id="5" name="Footer Placeholder 4">
            <a:extLst>
              <a:ext uri="{FF2B5EF4-FFF2-40B4-BE49-F238E27FC236}">
                <a16:creationId xmlns:a16="http://schemas.microsoft.com/office/drawing/2014/main" id="{AC8CF35C-9A37-6967-3B93-B020F76033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34B5A464-3AB4-5D49-9CA4-F6A0E6718C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90FA1B-E0D6-CA43-90F4-C56AEB2034A2}" type="slidenum">
              <a:rPr lang="en-IL" smtClean="0"/>
              <a:t>‹#›</a:t>
            </a:fld>
            <a:endParaRPr lang="en-IL"/>
          </a:p>
        </p:txBody>
      </p:sp>
    </p:spTree>
    <p:extLst>
      <p:ext uri="{BB962C8B-B14F-4D97-AF65-F5344CB8AC3E}">
        <p14:creationId xmlns:p14="http://schemas.microsoft.com/office/powerpoint/2010/main" val="2866069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hyperlink" Target="https://www.w3schools.com/css/tryit.asp?filename=trycss_list-styl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3D_3B2A734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hyperlink" Target="https://www.w3schools.com/css/css3_flexbox_items.asp#order" TargetMode="External"/><Relationship Id="rId7" Type="http://schemas.openxmlformats.org/officeDocument/2006/relationships/diagramColors" Target="../diagrams/colors4.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64EC53C-35C4-4E84-AFE2-A7D081852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8379CBBC-7CC4-0CBF-5C09-A9D1083B2F34}"/>
              </a:ext>
            </a:extLst>
          </p:cNvPr>
          <p:cNvPicPr>
            <a:picLocks noChangeAspect="1"/>
          </p:cNvPicPr>
          <p:nvPr/>
        </p:nvPicPr>
        <p:blipFill rotWithShape="1">
          <a:blip>
            <a:duotone>
              <a:schemeClr val="accent1">
                <a:shade val="45000"/>
                <a:satMod val="135000"/>
              </a:schemeClr>
              <a:prstClr val="white"/>
            </a:duotone>
            <a:alphaModFix amt="35000"/>
          </a:blip>
          <a:srcRect t="1747"/>
          <a:stretch/>
        </p:blipFill>
        <p:spPr>
          <a:xfrm>
            <a:off x="8878" y="11"/>
            <a:ext cx="12191981" cy="6857989"/>
          </a:xfrm>
          <a:prstGeom prst="rect">
            <a:avLst/>
          </a:prstGeom>
        </p:spPr>
      </p:pic>
      <p:sp>
        <p:nvSpPr>
          <p:cNvPr id="2" name="Title 1">
            <a:extLst>
              <a:ext uri="{FF2B5EF4-FFF2-40B4-BE49-F238E27FC236}">
                <a16:creationId xmlns:a16="http://schemas.microsoft.com/office/drawing/2014/main" id="{AE7CF4E7-74C5-6059-7687-80C9FC405629}"/>
              </a:ext>
            </a:extLst>
          </p:cNvPr>
          <p:cNvSpPr>
            <a:spLocks noGrp="1"/>
          </p:cNvSpPr>
          <p:nvPr>
            <p:ph type="ctrTitle"/>
          </p:nvPr>
        </p:nvSpPr>
        <p:spPr>
          <a:xfrm>
            <a:off x="1256275" y="2271449"/>
            <a:ext cx="9679449" cy="2847058"/>
          </a:xfrm>
        </p:spPr>
        <p:txBody>
          <a:bodyPr anchor="b">
            <a:normAutofit/>
          </a:bodyPr>
          <a:lstStyle/>
          <a:p>
            <a:pPr algn="l"/>
            <a:r>
              <a:rPr lang="en-US" sz="8000">
                <a:solidFill>
                  <a:srgbClr val="FFFFFF"/>
                </a:solidFill>
              </a:rPr>
              <a:t>L</a:t>
            </a:r>
            <a:r>
              <a:rPr lang="en-IL" sz="8000">
                <a:solidFill>
                  <a:srgbClr val="FFFFFF"/>
                </a:solidFill>
              </a:rPr>
              <a:t>et’s go!</a:t>
            </a:r>
          </a:p>
        </p:txBody>
      </p:sp>
      <p:cxnSp>
        <p:nvCxnSpPr>
          <p:cNvPr id="34" name="Straight Connector 3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6"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8"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8901605"/>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CB619B-C57A-76C5-C8BB-43FE3BD93870}"/>
              </a:ext>
            </a:extLst>
          </p:cNvPr>
          <p:cNvSpPr>
            <a:spLocks noGrp="1"/>
          </p:cNvSpPr>
          <p:nvPr>
            <p:ph type="title"/>
          </p:nvPr>
        </p:nvSpPr>
        <p:spPr>
          <a:xfrm>
            <a:off x="643467" y="321734"/>
            <a:ext cx="10905066" cy="1135737"/>
          </a:xfrm>
        </p:spPr>
        <p:txBody>
          <a:bodyPr>
            <a:normAutofit/>
          </a:bodyPr>
          <a:lstStyle/>
          <a:p>
            <a:r>
              <a:rPr lang="en-US" sz="3600"/>
              <a:t>Media Queries </a:t>
            </a:r>
            <a:endParaRPr lang="en-IL" sz="3600"/>
          </a:p>
        </p:txBody>
      </p:sp>
      <p:sp>
        <p:nvSpPr>
          <p:cNvPr id="3" name="Content Placeholder 2">
            <a:extLst>
              <a:ext uri="{FF2B5EF4-FFF2-40B4-BE49-F238E27FC236}">
                <a16:creationId xmlns:a16="http://schemas.microsoft.com/office/drawing/2014/main" id="{BB457A3D-A0C1-75B8-772D-837D6BB7C098}"/>
              </a:ext>
            </a:extLst>
          </p:cNvPr>
          <p:cNvSpPr>
            <a:spLocks noGrp="1"/>
          </p:cNvSpPr>
          <p:nvPr>
            <p:ph idx="1"/>
          </p:nvPr>
        </p:nvSpPr>
        <p:spPr>
          <a:xfrm>
            <a:off x="643467" y="1782981"/>
            <a:ext cx="10905066" cy="4393982"/>
          </a:xfrm>
        </p:spPr>
        <p:txBody>
          <a:bodyPr>
            <a:normAutofit/>
          </a:bodyPr>
          <a:lstStyle/>
          <a:p>
            <a:r>
              <a:rPr lang="en-US" sz="2000"/>
              <a:t>Media Queries are a feature in CSS that allow you to apply CSS styles based on the characteristics of the device rendering the content, such as screen size, screen resolution, and screen color depth.</a:t>
            </a:r>
          </a:p>
          <a:p>
            <a:r>
              <a:rPr lang="en-US" sz="2000"/>
              <a:t>It is a CSS technique that enables you to apply different styles to different devices based on their characteristics, such as screen size, screen resolution, and screen color depth. Media Queries are used to apply different CSS styles to different devices based on their characteristics, such as screen size, screen resolution, and screen color depth.</a:t>
            </a:r>
          </a:p>
          <a:p>
            <a:r>
              <a:rPr lang="en-US" sz="2000"/>
              <a:t>A media query consists of a media type (such as "screen" or "print") and one or more expressions that check for the conditions of the device, such as width, height, and aspect ratio.</a:t>
            </a:r>
            <a:br>
              <a:rPr lang="en-US" sz="2000"/>
            </a:br>
            <a:endParaRPr lang="en-IL" sz="200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82490549"/>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71C76C-B887-A5E4-3DB9-FCF1B7A66718}"/>
              </a:ext>
            </a:extLst>
          </p:cNvPr>
          <p:cNvSpPr>
            <a:spLocks noGrp="1"/>
          </p:cNvSpPr>
          <p:nvPr>
            <p:ph type="title"/>
          </p:nvPr>
        </p:nvSpPr>
        <p:spPr>
          <a:xfrm>
            <a:off x="1116498" y="655128"/>
            <a:ext cx="4613919" cy="1499616"/>
          </a:xfrm>
        </p:spPr>
        <p:txBody>
          <a:bodyPr vert="horz" lIns="91440" tIns="45720" rIns="91440" bIns="45720" rtlCol="0" anchor="b">
            <a:normAutofit/>
          </a:bodyPr>
          <a:lstStyle/>
          <a:p>
            <a:r>
              <a:rPr lang="en-US" sz="4200" b="0" i="0">
                <a:effectLst/>
              </a:rPr>
              <a:t>Media Queries - example</a:t>
            </a:r>
            <a:endParaRPr lang="en-US" sz="4200"/>
          </a:p>
        </p:txBody>
      </p:sp>
      <p:sp>
        <p:nvSpPr>
          <p:cNvPr id="16" name="Rectangle 15">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1F49CE81-B2F4-47B2-9D4A-886DCE0A84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19" name="Rectangle 64">
              <a:extLst>
                <a:ext uri="{FF2B5EF4-FFF2-40B4-BE49-F238E27FC236}">
                  <a16:creationId xmlns:a16="http://schemas.microsoft.com/office/drawing/2014/main" id="{4BE32177-3EAD-42DA-997C-8DAE1BFEE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6">
              <a:extLst>
                <a:ext uri="{FF2B5EF4-FFF2-40B4-BE49-F238E27FC236}">
                  <a16:creationId xmlns:a16="http://schemas.microsoft.com/office/drawing/2014/main" id="{A0DEE160-9825-4DB5-8188-911AC13EA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4">
              <a:extLst>
                <a:ext uri="{FF2B5EF4-FFF2-40B4-BE49-F238E27FC236}">
                  <a16:creationId xmlns:a16="http://schemas.microsoft.com/office/drawing/2014/main" id="{9C5FEDB5-0AEE-40E4-9CA6-6718B956D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6">
              <a:extLst>
                <a:ext uri="{FF2B5EF4-FFF2-40B4-BE49-F238E27FC236}">
                  <a16:creationId xmlns:a16="http://schemas.microsoft.com/office/drawing/2014/main" id="{1A11DF2D-1D4B-45DA-906B-2A1F84C99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4">
              <a:extLst>
                <a:ext uri="{FF2B5EF4-FFF2-40B4-BE49-F238E27FC236}">
                  <a16:creationId xmlns:a16="http://schemas.microsoft.com/office/drawing/2014/main" id="{B6A5BAC0-9806-4124-A584-7F924A658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6">
              <a:extLst>
                <a:ext uri="{FF2B5EF4-FFF2-40B4-BE49-F238E27FC236}">
                  <a16:creationId xmlns:a16="http://schemas.microsoft.com/office/drawing/2014/main" id="{A8F6BFA3-38BE-4F0A-94D9-EF0E6EA01A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4">
              <a:extLst>
                <a:ext uri="{FF2B5EF4-FFF2-40B4-BE49-F238E27FC236}">
                  <a16:creationId xmlns:a16="http://schemas.microsoft.com/office/drawing/2014/main" id="{BE6BCF21-959F-419E-BCA4-B20AF92EF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66">
              <a:extLst>
                <a:ext uri="{FF2B5EF4-FFF2-40B4-BE49-F238E27FC236}">
                  <a16:creationId xmlns:a16="http://schemas.microsoft.com/office/drawing/2014/main" id="{54B6E037-E222-42EB-9AEB-C45EF2090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4">
              <a:extLst>
                <a:ext uri="{FF2B5EF4-FFF2-40B4-BE49-F238E27FC236}">
                  <a16:creationId xmlns:a16="http://schemas.microsoft.com/office/drawing/2014/main" id="{A0494426-372E-42B8-87E1-170F1B596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6">
              <a:extLst>
                <a:ext uri="{FF2B5EF4-FFF2-40B4-BE49-F238E27FC236}">
                  <a16:creationId xmlns:a16="http://schemas.microsoft.com/office/drawing/2014/main" id="{14DB5AB5-5D73-4375-8CF4-DF4B7A5D7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4">
              <a:extLst>
                <a:ext uri="{FF2B5EF4-FFF2-40B4-BE49-F238E27FC236}">
                  <a16:creationId xmlns:a16="http://schemas.microsoft.com/office/drawing/2014/main" id="{009B2A6E-6D36-4A9A-AFAA-CF4D85914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6">
              <a:extLst>
                <a:ext uri="{FF2B5EF4-FFF2-40B4-BE49-F238E27FC236}">
                  <a16:creationId xmlns:a16="http://schemas.microsoft.com/office/drawing/2014/main" id="{85DC0718-B29F-47A6-931F-F0EF9FA99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64">
              <a:extLst>
                <a:ext uri="{FF2B5EF4-FFF2-40B4-BE49-F238E27FC236}">
                  <a16:creationId xmlns:a16="http://schemas.microsoft.com/office/drawing/2014/main" id="{AAED958D-AFCC-4BEF-818A-EFF7E41D1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6">
              <a:extLst>
                <a:ext uri="{FF2B5EF4-FFF2-40B4-BE49-F238E27FC236}">
                  <a16:creationId xmlns:a16="http://schemas.microsoft.com/office/drawing/2014/main" id="{C216DD5A-D1AE-429E-937E-456A50345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4">
              <a:extLst>
                <a:ext uri="{FF2B5EF4-FFF2-40B4-BE49-F238E27FC236}">
                  <a16:creationId xmlns:a16="http://schemas.microsoft.com/office/drawing/2014/main" id="{A845B253-9DEE-45AC-AADA-FAA6812C3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6">
              <a:extLst>
                <a:ext uri="{FF2B5EF4-FFF2-40B4-BE49-F238E27FC236}">
                  <a16:creationId xmlns:a16="http://schemas.microsoft.com/office/drawing/2014/main" id="{CE7B6CBF-757B-4B55-84CB-062B712D3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4">
              <a:extLst>
                <a:ext uri="{FF2B5EF4-FFF2-40B4-BE49-F238E27FC236}">
                  <a16:creationId xmlns:a16="http://schemas.microsoft.com/office/drawing/2014/main" id="{2CC28C7A-EF33-43D3-90CD-DCAC92546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6">
              <a:extLst>
                <a:ext uri="{FF2B5EF4-FFF2-40B4-BE49-F238E27FC236}">
                  <a16:creationId xmlns:a16="http://schemas.microsoft.com/office/drawing/2014/main" id="{BC0C9DCF-F15B-4B7A-A16B-37B4335E6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4">
              <a:extLst>
                <a:ext uri="{FF2B5EF4-FFF2-40B4-BE49-F238E27FC236}">
                  <a16:creationId xmlns:a16="http://schemas.microsoft.com/office/drawing/2014/main" id="{94991FD1-406A-4958-87D4-8DFA9FEA4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66">
              <a:extLst>
                <a:ext uri="{FF2B5EF4-FFF2-40B4-BE49-F238E27FC236}">
                  <a16:creationId xmlns:a16="http://schemas.microsoft.com/office/drawing/2014/main" id="{5CD32F69-27AD-4088-877C-E2A40F8B0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descr="Text&#10;&#10;Description automatically generated with low confidence">
            <a:extLst>
              <a:ext uri="{FF2B5EF4-FFF2-40B4-BE49-F238E27FC236}">
                <a16:creationId xmlns:a16="http://schemas.microsoft.com/office/drawing/2014/main" id="{CCB7845C-7CDC-F807-9411-D9CC00E2E892}"/>
              </a:ext>
            </a:extLst>
          </p:cNvPr>
          <p:cNvPicPr>
            <a:picLocks noChangeAspect="1"/>
          </p:cNvPicPr>
          <p:nvPr/>
        </p:nvPicPr>
        <p:blipFill>
          <a:blip r:embed="rId2"/>
          <a:stretch>
            <a:fillRect/>
          </a:stretch>
        </p:blipFill>
        <p:spPr>
          <a:xfrm>
            <a:off x="5250359" y="2503757"/>
            <a:ext cx="6941641" cy="1093308"/>
          </a:xfrm>
          <a:prstGeom prst="rect">
            <a:avLst/>
          </a:prstGeom>
        </p:spPr>
      </p:pic>
      <p:sp>
        <p:nvSpPr>
          <p:cNvPr id="40" name="Rectangle 39">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984"/>
            <a:ext cx="606972"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raphical user interface, text&#10;&#10;Description automatically generated">
            <a:extLst>
              <a:ext uri="{FF2B5EF4-FFF2-40B4-BE49-F238E27FC236}">
                <a16:creationId xmlns:a16="http://schemas.microsoft.com/office/drawing/2014/main" id="{BEC03274-8C4E-4D6E-44B8-C0AA9410356A}"/>
              </a:ext>
            </a:extLst>
          </p:cNvPr>
          <p:cNvPicPr>
            <a:picLocks noGrp="1" noChangeAspect="1"/>
          </p:cNvPicPr>
          <p:nvPr>
            <p:ph idx="1"/>
          </p:nvPr>
        </p:nvPicPr>
        <p:blipFill>
          <a:blip r:embed="rId3"/>
          <a:stretch>
            <a:fillRect/>
          </a:stretch>
        </p:blipFill>
        <p:spPr>
          <a:xfrm>
            <a:off x="749204" y="4366243"/>
            <a:ext cx="5586942" cy="1354833"/>
          </a:xfrm>
          <a:prstGeom prst="rect">
            <a:avLst/>
          </a:prstGeom>
        </p:spPr>
      </p:pic>
      <p:pic>
        <p:nvPicPr>
          <p:cNvPr id="7" name="Picture 6" descr="Graphical user interface, text, application&#10;&#10;Description automatically generated">
            <a:extLst>
              <a:ext uri="{FF2B5EF4-FFF2-40B4-BE49-F238E27FC236}">
                <a16:creationId xmlns:a16="http://schemas.microsoft.com/office/drawing/2014/main" id="{D0AE4FE8-34A3-B784-4ACF-803A41AE07CA}"/>
              </a:ext>
            </a:extLst>
          </p:cNvPr>
          <p:cNvPicPr>
            <a:picLocks noChangeAspect="1"/>
          </p:cNvPicPr>
          <p:nvPr/>
        </p:nvPicPr>
        <p:blipFill rotWithShape="1">
          <a:blip r:embed="rId4"/>
          <a:srcRect l="-3470" t="-104364" r="3470" b="123018"/>
          <a:stretch/>
        </p:blipFill>
        <p:spPr>
          <a:xfrm>
            <a:off x="6479838" y="4566460"/>
            <a:ext cx="5586942" cy="954398"/>
          </a:xfrm>
          <a:prstGeom prst="rect">
            <a:avLst/>
          </a:prstGeom>
        </p:spPr>
      </p:pic>
    </p:spTree>
    <p:extLst>
      <p:ext uri="{BB962C8B-B14F-4D97-AF65-F5344CB8AC3E}">
        <p14:creationId xmlns:p14="http://schemas.microsoft.com/office/powerpoint/2010/main" val="401632641"/>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1B9B71-59C1-C2CF-5C16-E4BFEA569506}"/>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kern="1200">
                <a:solidFill>
                  <a:schemeClr val="accent1"/>
                </a:solidFill>
                <a:latin typeface="+mj-lt"/>
                <a:ea typeface="+mj-ea"/>
                <a:cs typeface="+mj-cs"/>
              </a:rPr>
              <a:t>List style (some small stuff)</a:t>
            </a:r>
          </a:p>
        </p:txBody>
      </p:sp>
      <p:cxnSp>
        <p:nvCxnSpPr>
          <p:cNvPr id="16"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4188A98-5742-5519-01C6-E4740AD3955F}"/>
              </a:ext>
            </a:extLst>
          </p:cNvPr>
          <p:cNvSpPr>
            <a:spLocks noGrp="1"/>
          </p:cNvSpPr>
          <p:nvPr>
            <p:ph idx="1"/>
          </p:nvPr>
        </p:nvSpPr>
        <p:spPr>
          <a:xfrm>
            <a:off x="4976030" y="963507"/>
            <a:ext cx="6250940" cy="2304627"/>
          </a:xfrm>
        </p:spPr>
        <p:txBody>
          <a:bodyPr vert="horz" lIns="91440" tIns="45720" rIns="91440" bIns="45720" rtlCol="0" anchor="b">
            <a:normAutofit/>
          </a:bodyPr>
          <a:lstStyle/>
          <a:p>
            <a:r>
              <a:rPr lang="en-US" sz="2000" dirty="0"/>
              <a:t>There is many </a:t>
            </a:r>
            <a:r>
              <a:rPr lang="en-US" sz="2000" i="0" dirty="0">
                <a:effectLst/>
              </a:rPr>
              <a:t>list-style-type including image with </a:t>
            </a:r>
            <a:r>
              <a:rPr lang="en-US" sz="2000" i="0" dirty="0" err="1">
                <a:effectLst/>
              </a:rPr>
              <a:t>url</a:t>
            </a:r>
            <a:r>
              <a:rPr lang="en-US" sz="2000" i="0" dirty="0">
                <a:effectLst/>
              </a:rPr>
              <a:t> (example : </a:t>
            </a:r>
            <a:r>
              <a:rPr lang="en-US" sz="2000" i="0" dirty="0">
                <a:effectLst/>
                <a:hlinkClick r:id="rId2"/>
              </a:rPr>
              <a:t>https://www.w3schools.com/css/tryit.asp?filename=trycss_list-style</a:t>
            </a:r>
            <a:r>
              <a:rPr lang="en-US" sz="2000" i="0" dirty="0">
                <a:effectLst/>
              </a:rPr>
              <a:t>)</a:t>
            </a:r>
          </a:p>
          <a:p>
            <a:endParaRPr lang="en-US" sz="2000" dirty="0"/>
          </a:p>
        </p:txBody>
      </p:sp>
      <p:sp>
        <p:nvSpPr>
          <p:cNvPr id="4" name="TextBox 3">
            <a:extLst>
              <a:ext uri="{FF2B5EF4-FFF2-40B4-BE49-F238E27FC236}">
                <a16:creationId xmlns:a16="http://schemas.microsoft.com/office/drawing/2014/main" id="{1ECC2679-AC88-FE34-E481-18A8A8E24994}"/>
              </a:ext>
            </a:extLst>
          </p:cNvPr>
          <p:cNvSpPr txBox="1"/>
          <p:nvPr/>
        </p:nvSpPr>
        <p:spPr>
          <a:xfrm>
            <a:off x="838200" y="701964"/>
            <a:ext cx="10388770" cy="519253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2000" b="0" i="0" dirty="0">
              <a:effectLst/>
            </a:endParaRPr>
          </a:p>
        </p:txBody>
      </p:sp>
    </p:spTree>
    <p:extLst>
      <p:ext uri="{BB962C8B-B14F-4D97-AF65-F5344CB8AC3E}">
        <p14:creationId xmlns:p14="http://schemas.microsoft.com/office/powerpoint/2010/main" val="2685897824"/>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F864563-A4CA-CA44-487B-D7DD921F189F}"/>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M</a:t>
            </a:r>
            <a:r>
              <a:rPr lang="en-IL" sz="3600">
                <a:solidFill>
                  <a:schemeClr val="tx2"/>
                </a:solidFill>
              </a:rPr>
              <a:t>ore option to style it </a:t>
            </a:r>
          </a:p>
        </p:txBody>
      </p:sp>
      <p:sp>
        <p:nvSpPr>
          <p:cNvPr id="3" name="Content Placeholder 2">
            <a:extLst>
              <a:ext uri="{FF2B5EF4-FFF2-40B4-BE49-F238E27FC236}">
                <a16:creationId xmlns:a16="http://schemas.microsoft.com/office/drawing/2014/main" id="{8C21FAFC-E1C3-3F10-3661-7834B1210BCA}"/>
              </a:ext>
            </a:extLst>
          </p:cNvPr>
          <p:cNvSpPr>
            <a:spLocks noGrp="1"/>
          </p:cNvSpPr>
          <p:nvPr>
            <p:ph idx="1"/>
          </p:nvPr>
        </p:nvSpPr>
        <p:spPr>
          <a:xfrm>
            <a:off x="6172200" y="804672"/>
            <a:ext cx="5221224" cy="5230368"/>
          </a:xfrm>
        </p:spPr>
        <p:txBody>
          <a:bodyPr anchor="ctr">
            <a:normAutofit/>
          </a:bodyPr>
          <a:lstStyle/>
          <a:p>
            <a:pPr indent="-228600">
              <a:spcAft>
                <a:spcPts val="600"/>
              </a:spcAft>
              <a:buFont typeface="Arial" panose="020B0604020202020204" pitchFamily="34" charset="0"/>
              <a:buChar char="•"/>
            </a:pPr>
            <a:r>
              <a:rPr lang="en-US" sz="1100" b="0" i="0">
                <a:solidFill>
                  <a:schemeClr val="tx2"/>
                </a:solidFill>
                <a:effectLst/>
              </a:rPr>
              <a:t>The list-style-type property can accept the following values:</a:t>
            </a:r>
          </a:p>
          <a:p>
            <a:pPr indent="-228600">
              <a:spcAft>
                <a:spcPts val="600"/>
              </a:spcAft>
              <a:buFont typeface="Arial" panose="020B0604020202020204" pitchFamily="34" charset="0"/>
              <a:buChar char="•"/>
            </a:pPr>
            <a:r>
              <a:rPr lang="en-US" sz="1100" b="0" i="0">
                <a:solidFill>
                  <a:schemeClr val="tx2"/>
                </a:solidFill>
                <a:effectLst/>
              </a:rPr>
              <a:t>disc: A filled circle (default value for ul elements)</a:t>
            </a:r>
          </a:p>
          <a:p>
            <a:pPr indent="-228600">
              <a:spcAft>
                <a:spcPts val="600"/>
              </a:spcAft>
              <a:buFont typeface="Arial" panose="020B0604020202020204" pitchFamily="34" charset="0"/>
              <a:buChar char="•"/>
            </a:pPr>
            <a:r>
              <a:rPr lang="en-US" sz="1100" b="0" i="0">
                <a:solidFill>
                  <a:schemeClr val="tx2"/>
                </a:solidFill>
                <a:effectLst/>
              </a:rPr>
              <a:t>circle: A hollow circle</a:t>
            </a:r>
          </a:p>
          <a:p>
            <a:pPr indent="-228600">
              <a:spcAft>
                <a:spcPts val="600"/>
              </a:spcAft>
              <a:buFont typeface="Arial" panose="020B0604020202020204" pitchFamily="34" charset="0"/>
              <a:buChar char="•"/>
            </a:pPr>
            <a:r>
              <a:rPr lang="en-US" sz="1100" b="0" i="0">
                <a:solidFill>
                  <a:schemeClr val="tx2"/>
                </a:solidFill>
                <a:effectLst/>
              </a:rPr>
              <a:t>square: A square</a:t>
            </a:r>
          </a:p>
          <a:p>
            <a:pPr indent="-228600">
              <a:spcAft>
                <a:spcPts val="600"/>
              </a:spcAft>
              <a:buFont typeface="Arial" panose="020B0604020202020204" pitchFamily="34" charset="0"/>
              <a:buChar char="•"/>
            </a:pPr>
            <a:r>
              <a:rPr lang="en-US" sz="1100" b="0" i="0">
                <a:solidFill>
                  <a:schemeClr val="tx2"/>
                </a:solidFill>
                <a:effectLst/>
              </a:rPr>
              <a:t>decimal: A decimal number (default value for ol elements)</a:t>
            </a:r>
          </a:p>
          <a:p>
            <a:pPr indent="-228600">
              <a:spcAft>
                <a:spcPts val="600"/>
              </a:spcAft>
              <a:buFont typeface="Arial" panose="020B0604020202020204" pitchFamily="34" charset="0"/>
              <a:buChar char="•"/>
            </a:pPr>
            <a:r>
              <a:rPr lang="en-US" sz="1100" b="0" i="0">
                <a:solidFill>
                  <a:schemeClr val="tx2"/>
                </a:solidFill>
                <a:effectLst/>
              </a:rPr>
              <a:t>decimal-leading-zero: A decimal number with a leading zero for values less than 10</a:t>
            </a:r>
          </a:p>
          <a:p>
            <a:pPr indent="-228600">
              <a:spcAft>
                <a:spcPts val="600"/>
              </a:spcAft>
              <a:buFont typeface="Arial" panose="020B0604020202020204" pitchFamily="34" charset="0"/>
              <a:buChar char="•"/>
            </a:pPr>
            <a:r>
              <a:rPr lang="en-US" sz="1100" b="0" i="0">
                <a:solidFill>
                  <a:schemeClr val="tx2"/>
                </a:solidFill>
                <a:effectLst/>
              </a:rPr>
              <a:t>lower-roman: Lowercase Roman numerals</a:t>
            </a:r>
          </a:p>
          <a:p>
            <a:pPr indent="-228600">
              <a:spcAft>
                <a:spcPts val="600"/>
              </a:spcAft>
              <a:buFont typeface="Arial" panose="020B0604020202020204" pitchFamily="34" charset="0"/>
              <a:buChar char="•"/>
            </a:pPr>
            <a:r>
              <a:rPr lang="en-US" sz="1100" b="0" i="0">
                <a:solidFill>
                  <a:schemeClr val="tx2"/>
                </a:solidFill>
                <a:effectLst/>
              </a:rPr>
              <a:t>upper-roman: Uppercase Roman numerals</a:t>
            </a:r>
          </a:p>
          <a:p>
            <a:pPr indent="-228600">
              <a:spcAft>
                <a:spcPts val="600"/>
              </a:spcAft>
              <a:buFont typeface="Arial" panose="020B0604020202020204" pitchFamily="34" charset="0"/>
              <a:buChar char="•"/>
            </a:pPr>
            <a:r>
              <a:rPr lang="en-US" sz="1100" b="0" i="0">
                <a:solidFill>
                  <a:schemeClr val="tx2"/>
                </a:solidFill>
                <a:effectLst/>
              </a:rPr>
              <a:t>lower-greek: Lowercase Greek letters</a:t>
            </a:r>
          </a:p>
          <a:p>
            <a:pPr indent="-228600">
              <a:spcAft>
                <a:spcPts val="600"/>
              </a:spcAft>
              <a:buFont typeface="Arial" panose="020B0604020202020204" pitchFamily="34" charset="0"/>
              <a:buChar char="•"/>
            </a:pPr>
            <a:r>
              <a:rPr lang="en-US" sz="1100" b="0" i="0">
                <a:solidFill>
                  <a:schemeClr val="tx2"/>
                </a:solidFill>
                <a:effectLst/>
              </a:rPr>
              <a:t>upper-latin: Uppercase ASCII letters</a:t>
            </a:r>
          </a:p>
          <a:p>
            <a:pPr indent="-228600">
              <a:spcAft>
                <a:spcPts val="600"/>
              </a:spcAft>
              <a:buFont typeface="Arial" panose="020B0604020202020204" pitchFamily="34" charset="0"/>
              <a:buChar char="•"/>
            </a:pPr>
            <a:r>
              <a:rPr lang="en-US" sz="1100" b="0" i="0">
                <a:solidFill>
                  <a:schemeClr val="tx2"/>
                </a:solidFill>
                <a:effectLst/>
              </a:rPr>
              <a:t>armenian: Armenian numbering</a:t>
            </a:r>
          </a:p>
          <a:p>
            <a:pPr indent="-228600">
              <a:spcAft>
                <a:spcPts val="600"/>
              </a:spcAft>
              <a:buFont typeface="Arial" panose="020B0604020202020204" pitchFamily="34" charset="0"/>
              <a:buChar char="•"/>
            </a:pPr>
            <a:r>
              <a:rPr lang="en-US" sz="1100" b="0" i="0">
                <a:solidFill>
                  <a:schemeClr val="tx2"/>
                </a:solidFill>
                <a:effectLst/>
              </a:rPr>
              <a:t>georgian: Georgian numbering</a:t>
            </a:r>
          </a:p>
          <a:p>
            <a:pPr indent="-228600">
              <a:spcAft>
                <a:spcPts val="600"/>
              </a:spcAft>
              <a:buFont typeface="Arial" panose="020B0604020202020204" pitchFamily="34" charset="0"/>
              <a:buChar char="•"/>
            </a:pPr>
            <a:r>
              <a:rPr lang="en-US" sz="1100" b="0" i="0">
                <a:solidFill>
                  <a:schemeClr val="tx2"/>
                </a:solidFill>
                <a:effectLst/>
              </a:rPr>
              <a:t>lower-alpha: Lowercase ASCII letters (same as lower-latin)</a:t>
            </a:r>
          </a:p>
          <a:p>
            <a:pPr indent="-228600">
              <a:spcAft>
                <a:spcPts val="600"/>
              </a:spcAft>
              <a:buFont typeface="Arial" panose="020B0604020202020204" pitchFamily="34" charset="0"/>
              <a:buChar char="•"/>
            </a:pPr>
            <a:r>
              <a:rPr lang="en-US" sz="1100" b="0" i="0">
                <a:solidFill>
                  <a:schemeClr val="tx2"/>
                </a:solidFill>
                <a:effectLst/>
              </a:rPr>
              <a:t>upper-alpha: Uppercase ASCII letters (same as upper-latin)</a:t>
            </a:r>
          </a:p>
        </p:txBody>
      </p:sp>
    </p:spTree>
    <p:extLst>
      <p:ext uri="{BB962C8B-B14F-4D97-AF65-F5344CB8AC3E}">
        <p14:creationId xmlns:p14="http://schemas.microsoft.com/office/powerpoint/2010/main" val="1686794068"/>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57A3F2-3497-430E-BCD2-151E9B574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a:extLst>
              <a:ext uri="{FF2B5EF4-FFF2-40B4-BE49-F238E27FC236}">
                <a16:creationId xmlns:a16="http://schemas.microsoft.com/office/drawing/2014/main" id="{88B1F424-0E60-4F04-AFC7-00E1F2110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521144" y="911116"/>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6B509DD1-7F4E-4C4D-9B18-626473A5F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800164" y="643467"/>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8">
            <a:extLst>
              <a:ext uri="{FF2B5EF4-FFF2-40B4-BE49-F238E27FC236}">
                <a16:creationId xmlns:a16="http://schemas.microsoft.com/office/drawing/2014/main" id="{BB89D3BB-9A77-48E3-8C98-9A0A1DD4F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95529" y="644382"/>
            <a:ext cx="3856024"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46D5D1EF-7D48-14AD-9C08-58F425BD9EC3}"/>
              </a:ext>
            </a:extLst>
          </p:cNvPr>
          <p:cNvSpPr>
            <a:spLocks noGrp="1"/>
          </p:cNvSpPr>
          <p:nvPr>
            <p:ph type="title"/>
          </p:nvPr>
        </p:nvSpPr>
        <p:spPr>
          <a:xfrm>
            <a:off x="1322754" y="1522820"/>
            <a:ext cx="2748041" cy="3601914"/>
          </a:xfrm>
        </p:spPr>
        <p:txBody>
          <a:bodyPr anchor="ctr">
            <a:normAutofit/>
          </a:bodyPr>
          <a:lstStyle/>
          <a:p>
            <a:r>
              <a:rPr lang="en-IL" sz="3600">
                <a:solidFill>
                  <a:srgbClr val="FFFFFF"/>
                </a:solidFill>
              </a:rPr>
              <a:t>transform</a:t>
            </a:r>
          </a:p>
        </p:txBody>
      </p:sp>
      <p:graphicFrame>
        <p:nvGraphicFramePr>
          <p:cNvPr id="5" name="Content Placeholder 2">
            <a:extLst>
              <a:ext uri="{FF2B5EF4-FFF2-40B4-BE49-F238E27FC236}">
                <a16:creationId xmlns:a16="http://schemas.microsoft.com/office/drawing/2014/main" id="{EEB56B34-14F2-A0DB-E9BF-471812B81225}"/>
              </a:ext>
            </a:extLst>
          </p:cNvPr>
          <p:cNvGraphicFramePr>
            <a:graphicFrameLocks noGrp="1"/>
          </p:cNvGraphicFramePr>
          <p:nvPr>
            <p:ph idx="1"/>
            <p:extLst>
              <p:ext uri="{D42A27DB-BD31-4B8C-83A1-F6EECF244321}">
                <p14:modId xmlns:p14="http://schemas.microsoft.com/office/powerpoint/2010/main" val="2428372887"/>
              </p:ext>
            </p:extLst>
          </p:nvPr>
        </p:nvGraphicFramePr>
        <p:xfrm>
          <a:off x="5042848" y="643467"/>
          <a:ext cx="6489510" cy="52525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4308046"/>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78A14A7-894A-E308-2600-A60DCAA40812}"/>
              </a:ext>
            </a:extLst>
          </p:cNvPr>
          <p:cNvSpPr>
            <a:spLocks noGrp="1"/>
          </p:cNvSpPr>
          <p:nvPr>
            <p:ph type="title"/>
          </p:nvPr>
        </p:nvSpPr>
        <p:spPr>
          <a:xfrm>
            <a:off x="643467" y="321734"/>
            <a:ext cx="10905066" cy="1135737"/>
          </a:xfrm>
        </p:spPr>
        <p:txBody>
          <a:bodyPr>
            <a:normAutofit/>
          </a:bodyPr>
          <a:lstStyle/>
          <a:p>
            <a:r>
              <a:rPr lang="en-US" sz="3600"/>
              <a:t>keyframe</a:t>
            </a:r>
            <a:endParaRPr lang="en-IL" sz="3600"/>
          </a:p>
        </p:txBody>
      </p:sp>
      <p:sp>
        <p:nvSpPr>
          <p:cNvPr id="3" name="Content Placeholder 2">
            <a:extLst>
              <a:ext uri="{FF2B5EF4-FFF2-40B4-BE49-F238E27FC236}">
                <a16:creationId xmlns:a16="http://schemas.microsoft.com/office/drawing/2014/main" id="{306BB1F8-4BE0-4A58-C4CE-0177D3CC4BFD}"/>
              </a:ext>
            </a:extLst>
          </p:cNvPr>
          <p:cNvSpPr>
            <a:spLocks noGrp="1"/>
          </p:cNvSpPr>
          <p:nvPr>
            <p:ph idx="1"/>
          </p:nvPr>
        </p:nvSpPr>
        <p:spPr>
          <a:xfrm>
            <a:off x="643467" y="1782981"/>
            <a:ext cx="10905066" cy="4393982"/>
          </a:xfrm>
        </p:spPr>
        <p:txBody>
          <a:bodyPr>
            <a:normAutofit/>
          </a:bodyPr>
          <a:lstStyle/>
          <a:p>
            <a:r>
              <a:rPr lang="en-US" sz="2000"/>
              <a:t>A keyframe in CSS is a set of styles that are applied to an element at a specific point in time during an animation. Keyframes are used to define the start and end states of an animation, as well as any intermediate states that the animation should pass through.</a:t>
            </a:r>
            <a:endParaRPr lang="en-IL" sz="200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76008202"/>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D999E-0E2D-4E29-F53F-4C895AFFCDA7}"/>
              </a:ext>
            </a:extLst>
          </p:cNvPr>
          <p:cNvSpPr>
            <a:spLocks noGrp="1"/>
          </p:cNvSpPr>
          <p:nvPr>
            <p:ph type="title"/>
          </p:nvPr>
        </p:nvSpPr>
        <p:spPr>
          <a:xfrm>
            <a:off x="1136428" y="627564"/>
            <a:ext cx="7474172" cy="1325563"/>
          </a:xfrm>
        </p:spPr>
        <p:txBody>
          <a:bodyPr>
            <a:normAutofit/>
          </a:bodyPr>
          <a:lstStyle/>
          <a:p>
            <a:r>
              <a:rPr lang="en-US" dirty="0"/>
              <a:t>border-radius</a:t>
            </a:r>
            <a:endParaRPr lang="en-IL" dirty="0"/>
          </a:p>
        </p:txBody>
      </p:sp>
      <p:sp>
        <p:nvSpPr>
          <p:cNvPr id="3" name="Content Placeholder 2">
            <a:extLst>
              <a:ext uri="{FF2B5EF4-FFF2-40B4-BE49-F238E27FC236}">
                <a16:creationId xmlns:a16="http://schemas.microsoft.com/office/drawing/2014/main" id="{1405BEB1-ED1F-9B6A-6395-84E7E2FDB639}"/>
              </a:ext>
            </a:extLst>
          </p:cNvPr>
          <p:cNvSpPr>
            <a:spLocks noGrp="1"/>
          </p:cNvSpPr>
          <p:nvPr>
            <p:ph idx="1"/>
          </p:nvPr>
        </p:nvSpPr>
        <p:spPr>
          <a:xfrm>
            <a:off x="1136429" y="2278173"/>
            <a:ext cx="6467867" cy="3450613"/>
          </a:xfrm>
        </p:spPr>
        <p:txBody>
          <a:bodyPr anchor="ctr">
            <a:normAutofit/>
          </a:bodyPr>
          <a:lstStyle/>
          <a:p>
            <a:r>
              <a:rPr lang="en-US" sz="2400" dirty="0"/>
              <a:t>The border-radius CSS property rounds the corners of an element's outer border edge. You can set a single radius to make circular corners, or two radii to make elliptical corners.</a:t>
            </a:r>
            <a:endParaRPr lang="en-IL" sz="24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ircular Flowchart">
            <a:extLst>
              <a:ext uri="{FF2B5EF4-FFF2-40B4-BE49-F238E27FC236}">
                <a16:creationId xmlns:a16="http://schemas.microsoft.com/office/drawing/2014/main" id="{4931554E-BEF8-63C3-B1B6-E183E4A8DD2E}"/>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1778641306"/>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9E12F9-1EF1-6166-C1F4-D32282B473CA}"/>
              </a:ext>
            </a:extLst>
          </p:cNvPr>
          <p:cNvSpPr>
            <a:spLocks noGrp="1"/>
          </p:cNvSpPr>
          <p:nvPr>
            <p:ph type="title"/>
          </p:nvPr>
        </p:nvSpPr>
        <p:spPr>
          <a:xfrm>
            <a:off x="6412091" y="501651"/>
            <a:ext cx="4395340" cy="1716255"/>
          </a:xfrm>
        </p:spPr>
        <p:txBody>
          <a:bodyPr anchor="b">
            <a:normAutofit/>
          </a:bodyPr>
          <a:lstStyle/>
          <a:p>
            <a:r>
              <a:rPr lang="en-US" sz="5600" b="1" i="0">
                <a:effectLst/>
                <a:latin typeface="Söhne Mono"/>
              </a:rPr>
              <a:t>calc</a:t>
            </a:r>
            <a:endParaRPr lang="en-IL" sz="5600"/>
          </a:p>
        </p:txBody>
      </p:sp>
      <p:sp>
        <p:nvSpPr>
          <p:cNvPr id="11" name="Rectangle 10">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aphical user interface&#10;&#10;Description automatically generated">
            <a:extLst>
              <a:ext uri="{FF2B5EF4-FFF2-40B4-BE49-F238E27FC236}">
                <a16:creationId xmlns:a16="http://schemas.microsoft.com/office/drawing/2014/main" id="{914F6241-DFDF-52DC-96F8-4D2CA7D4127F}"/>
              </a:ext>
            </a:extLst>
          </p:cNvPr>
          <p:cNvPicPr>
            <a:picLocks noChangeAspect="1"/>
          </p:cNvPicPr>
          <p:nvPr/>
        </p:nvPicPr>
        <p:blipFill>
          <a:blip/>
          <a:stretch>
            <a:fillRect/>
          </a:stretch>
        </p:blipFill>
        <p:spPr>
          <a:xfrm>
            <a:off x="279143" y="2201919"/>
            <a:ext cx="5221625" cy="2454163"/>
          </a:xfrm>
          <a:prstGeom prst="rect">
            <a:avLst/>
          </a:prstGeom>
        </p:spPr>
      </p:pic>
      <p:sp>
        <p:nvSpPr>
          <p:cNvPr id="3" name="Content Placeholder 2">
            <a:extLst>
              <a:ext uri="{FF2B5EF4-FFF2-40B4-BE49-F238E27FC236}">
                <a16:creationId xmlns:a16="http://schemas.microsoft.com/office/drawing/2014/main" id="{AC0619FD-4D3C-A4CF-5F09-B11BF0B9D9F6}"/>
              </a:ext>
            </a:extLst>
          </p:cNvPr>
          <p:cNvSpPr>
            <a:spLocks noGrp="1"/>
          </p:cNvSpPr>
          <p:nvPr>
            <p:ph idx="1"/>
          </p:nvPr>
        </p:nvSpPr>
        <p:spPr>
          <a:xfrm>
            <a:off x="6392583" y="2645922"/>
            <a:ext cx="4434721" cy="3710427"/>
          </a:xfrm>
        </p:spPr>
        <p:txBody>
          <a:bodyPr anchor="t">
            <a:normAutofit/>
          </a:bodyPr>
          <a:lstStyle/>
          <a:p>
            <a:r>
              <a:rPr lang="en-US" sz="2000" b="0" i="0">
                <a:solidFill>
                  <a:schemeClr val="tx1">
                    <a:alpha val="80000"/>
                  </a:schemeClr>
                </a:solidFill>
                <a:effectLst/>
                <a:latin typeface="Söhne"/>
              </a:rPr>
              <a:t>The </a:t>
            </a:r>
            <a:r>
              <a:rPr lang="en-US" sz="2000">
                <a:solidFill>
                  <a:schemeClr val="tx1">
                    <a:alpha val="80000"/>
                  </a:schemeClr>
                </a:solidFill>
              </a:rPr>
              <a:t>calc()</a:t>
            </a:r>
            <a:r>
              <a:rPr lang="en-US" sz="2000" b="0" i="0">
                <a:solidFill>
                  <a:schemeClr val="tx1">
                    <a:alpha val="80000"/>
                  </a:schemeClr>
                </a:solidFill>
                <a:effectLst/>
                <a:latin typeface="Söhne"/>
              </a:rPr>
              <a:t> function in CSS allows you to perform mathematical operations on property values. You can use it to add, subtract, multiply, and divide values in various units, such as pixels, percentages, and ems. For example, you can use it to set the width of an element to be 80% of the viewport width minus 20 pixels, by using the following code</a:t>
            </a:r>
            <a:endParaRPr lang="en-IL" sz="2000">
              <a:solidFill>
                <a:schemeClr val="tx1">
                  <a:alpha val="80000"/>
                </a:schemeClr>
              </a:solidFill>
            </a:endParaRPr>
          </a:p>
        </p:txBody>
      </p:sp>
      <p:cxnSp>
        <p:nvCxnSpPr>
          <p:cNvPr id="13" name="Straight Connector 12">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329743"/>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108221-00F7-EEF7-D75A-9D5177FA9BD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clamp</a:t>
            </a:r>
            <a:endParaRPr lang="en-IL" sz="4000">
              <a:solidFill>
                <a:srgbClr val="FFFFFF"/>
              </a:solidFill>
            </a:endParaRPr>
          </a:p>
        </p:txBody>
      </p:sp>
      <p:sp>
        <p:nvSpPr>
          <p:cNvPr id="3" name="Content Placeholder 2">
            <a:extLst>
              <a:ext uri="{FF2B5EF4-FFF2-40B4-BE49-F238E27FC236}">
                <a16:creationId xmlns:a16="http://schemas.microsoft.com/office/drawing/2014/main" id="{CE050428-FCCF-BD62-DA8C-EC50D791E89D}"/>
              </a:ext>
            </a:extLst>
          </p:cNvPr>
          <p:cNvSpPr>
            <a:spLocks noGrp="1"/>
          </p:cNvSpPr>
          <p:nvPr>
            <p:ph idx="1"/>
          </p:nvPr>
        </p:nvSpPr>
        <p:spPr>
          <a:xfrm>
            <a:off x="1371599" y="2318197"/>
            <a:ext cx="9724031" cy="3683358"/>
          </a:xfrm>
        </p:spPr>
        <p:txBody>
          <a:bodyPr anchor="ctr">
            <a:normAutofit/>
          </a:bodyPr>
          <a:lstStyle/>
          <a:p>
            <a:r>
              <a:rPr lang="en-US" sz="2000" b="0" i="0" dirty="0">
                <a:effectLst/>
                <a:latin typeface="Söhne"/>
              </a:rPr>
              <a:t>The </a:t>
            </a:r>
            <a:r>
              <a:rPr lang="en-US" sz="2000" dirty="0"/>
              <a:t>clamp()</a:t>
            </a:r>
            <a:r>
              <a:rPr lang="en-US" sz="2000" b="0" i="0" dirty="0">
                <a:effectLst/>
                <a:latin typeface="Söhne"/>
              </a:rPr>
              <a:t> function is a mathematical function in CSS that allows you to set a value within a specific range. It takes three arguments: a minimum value, a preferred value, and a maximum value. If the preferred value is between the minimum and maximum values, it will be used. If the preferred value is less than the minimum, the minimum value will be used. If the preferred value is greater than the maximum, the maximum value will be used.</a:t>
            </a:r>
            <a:endParaRPr lang="en-IL" sz="2000" dirty="0"/>
          </a:p>
        </p:txBody>
      </p:sp>
    </p:spTree>
    <p:extLst>
      <p:ext uri="{BB962C8B-B14F-4D97-AF65-F5344CB8AC3E}">
        <p14:creationId xmlns:p14="http://schemas.microsoft.com/office/powerpoint/2010/main" val="3214982615"/>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41C3E-3A52-6C59-9EE0-E229FFE4F39F}"/>
              </a:ext>
            </a:extLst>
          </p:cNvPr>
          <p:cNvSpPr>
            <a:spLocks noGrp="1"/>
          </p:cNvSpPr>
          <p:nvPr>
            <p:ph type="title"/>
          </p:nvPr>
        </p:nvSpPr>
        <p:spPr>
          <a:xfrm>
            <a:off x="481013" y="3752849"/>
            <a:ext cx="3290887" cy="2452687"/>
          </a:xfrm>
        </p:spPr>
        <p:txBody>
          <a:bodyPr anchor="ctr">
            <a:normAutofit/>
          </a:bodyPr>
          <a:lstStyle/>
          <a:p>
            <a:r>
              <a:rPr lang="en-US" sz="3600" b="1" i="0">
                <a:effectLst/>
                <a:latin typeface="Inter"/>
              </a:rPr>
              <a:t>clip-path</a:t>
            </a:r>
            <a:endParaRPr lang="en-IL" sz="3600"/>
          </a:p>
        </p:txBody>
      </p:sp>
      <p:pic>
        <p:nvPicPr>
          <p:cNvPr id="7" name="Picture 6" descr="A screenshot of a computer&#10;&#10;Description automatically generated with medium confidence">
            <a:extLst>
              <a:ext uri="{FF2B5EF4-FFF2-40B4-BE49-F238E27FC236}">
                <a16:creationId xmlns:a16="http://schemas.microsoft.com/office/drawing/2014/main" id="{9CEB9042-27A5-837E-C9E0-D868FBE97BEA}"/>
              </a:ext>
            </a:extLst>
          </p:cNvPr>
          <p:cNvPicPr>
            <a:picLocks noChangeAspect="1"/>
          </p:cNvPicPr>
          <p:nvPr/>
        </p:nvPicPr>
        <p:blipFill rotWithShape="1">
          <a:blip/>
          <a:srcRect t="17108" b="18138"/>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96B66AAC-3152-5C5F-A6FD-AE069B3616F0}"/>
              </a:ext>
            </a:extLst>
          </p:cNvPr>
          <p:cNvSpPr>
            <a:spLocks noGrp="1"/>
          </p:cNvSpPr>
          <p:nvPr>
            <p:ph idx="1"/>
          </p:nvPr>
        </p:nvSpPr>
        <p:spPr>
          <a:xfrm>
            <a:off x="4223982" y="3752850"/>
            <a:ext cx="7485413" cy="2452687"/>
          </a:xfrm>
        </p:spPr>
        <p:txBody>
          <a:bodyPr anchor="ctr">
            <a:normAutofit/>
          </a:bodyPr>
          <a:lstStyle/>
          <a:p>
            <a:r>
              <a:rPr lang="en-US" sz="1800" b="0" i="0">
                <a:effectLst/>
                <a:latin typeface="Söhne"/>
              </a:rPr>
              <a:t>The clip-path property in CSS allows you to define a specific region of an element to display, and hide the rest of the element. This can be useful for creating interesting shapes, masks, and other effects.</a:t>
            </a:r>
          </a:p>
          <a:p>
            <a:br>
              <a:rPr lang="en-US" sz="1800"/>
            </a:br>
            <a:endParaRPr lang="en-IL" sz="1800"/>
          </a:p>
        </p:txBody>
      </p:sp>
    </p:spTree>
    <p:extLst>
      <p:ext uri="{BB962C8B-B14F-4D97-AF65-F5344CB8AC3E}">
        <p14:creationId xmlns:p14="http://schemas.microsoft.com/office/powerpoint/2010/main" val="3666344688"/>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Picture 4" descr="Different numbers in 3D">
            <a:extLst>
              <a:ext uri="{FF2B5EF4-FFF2-40B4-BE49-F238E27FC236}">
                <a16:creationId xmlns:a16="http://schemas.microsoft.com/office/drawing/2014/main" id="{42F81F1F-7B51-372E-CC0F-D58EF8C95B0E}"/>
              </a:ext>
            </a:extLst>
          </p:cNvPr>
          <p:cNvPicPr>
            <a:picLocks noChangeAspect="1"/>
          </p:cNvPicPr>
          <p:nvPr/>
        </p:nvPicPr>
        <p:blipFill rotWithShape="1">
          <a:blip/>
          <a:srcRect t="2409" r="9091" b="6682"/>
          <a:stretch/>
        </p:blipFill>
        <p:spPr>
          <a:xfrm>
            <a:off x="20" y="10"/>
            <a:ext cx="12191981" cy="6857989"/>
          </a:xfrm>
          <a:prstGeom prst="rect">
            <a:avLst/>
          </a:prstGeom>
        </p:spPr>
      </p:pic>
      <p:sp>
        <p:nvSpPr>
          <p:cNvPr id="30" name="Rectangle 23">
            <a:extLst>
              <a:ext uri="{FF2B5EF4-FFF2-40B4-BE49-F238E27FC236}">
                <a16:creationId xmlns:a16="http://schemas.microsoft.com/office/drawing/2014/main" id="{86C7B4A1-154A-4DF0-AC46-F88D75A2E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7197772"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FACC84-CBCF-BA44-5BD1-1E271BDCF797}"/>
              </a:ext>
            </a:extLst>
          </p:cNvPr>
          <p:cNvSpPr>
            <a:spLocks noGrp="1"/>
          </p:cNvSpPr>
          <p:nvPr>
            <p:ph type="title"/>
          </p:nvPr>
        </p:nvSpPr>
        <p:spPr>
          <a:xfrm>
            <a:off x="594804" y="640263"/>
            <a:ext cx="6619811" cy="1344975"/>
          </a:xfrm>
        </p:spPr>
        <p:txBody>
          <a:bodyPr>
            <a:normAutofit/>
          </a:bodyPr>
          <a:lstStyle/>
          <a:p>
            <a:r>
              <a:rPr lang="en-US" sz="4000" b="0" i="0">
                <a:effectLst/>
                <a:latin typeface="Söhne"/>
              </a:rPr>
              <a:t>stacking context</a:t>
            </a:r>
            <a:endParaRPr lang="en-IL" sz="4000"/>
          </a:p>
        </p:txBody>
      </p:sp>
      <p:sp>
        <p:nvSpPr>
          <p:cNvPr id="3" name="Content Placeholder 2">
            <a:extLst>
              <a:ext uri="{FF2B5EF4-FFF2-40B4-BE49-F238E27FC236}">
                <a16:creationId xmlns:a16="http://schemas.microsoft.com/office/drawing/2014/main" id="{27565DF2-74A6-F566-AEFE-950A937F696B}"/>
              </a:ext>
            </a:extLst>
          </p:cNvPr>
          <p:cNvSpPr>
            <a:spLocks noGrp="1"/>
          </p:cNvSpPr>
          <p:nvPr>
            <p:ph idx="1"/>
          </p:nvPr>
        </p:nvSpPr>
        <p:spPr>
          <a:xfrm>
            <a:off x="594109" y="2121763"/>
            <a:ext cx="6620505" cy="3773010"/>
          </a:xfrm>
        </p:spPr>
        <p:txBody>
          <a:bodyPr>
            <a:normAutofit/>
          </a:bodyPr>
          <a:lstStyle/>
          <a:p>
            <a:r>
              <a:rPr lang="en-US" sz="1700" b="0" i="0">
                <a:effectLst/>
                <a:latin typeface="Söhne"/>
              </a:rPr>
              <a:t>A stacking context in CSS is a way of determining the order in which elements are rendered on a web page. The stacking context is determined by the position and z-index properties of elements, as well as any parent-child relationships between elements.</a:t>
            </a:r>
          </a:p>
          <a:p>
            <a:r>
              <a:rPr lang="en-US" sz="1700" b="0" i="0">
                <a:effectLst/>
                <a:latin typeface="Söhne"/>
              </a:rPr>
              <a:t>Elements with a position value of absolute, relative or fixed create a new stacking context. Also elements with a z-index value other than auto create a new stacking context. When an element creates a new stacking context, all of its child elements are rendered within that context, and are positioned relative to that element.</a:t>
            </a:r>
          </a:p>
          <a:p>
            <a:r>
              <a:rPr lang="en-US" sz="1700" b="0" i="0">
                <a:effectLst/>
                <a:latin typeface="Söhne"/>
              </a:rPr>
              <a:t>Elements with a z-index value of auto are positioned in the same stacking context as their parent element, and are rendered in the order that they appear in the HTML document. Elements with a higher z-index value will be rendered on top of elements with a lower z-index value, regardless of their order in the HTML document.</a:t>
            </a:r>
          </a:p>
          <a:p>
            <a:pPr marL="0" indent="0">
              <a:buNone/>
            </a:pPr>
            <a:endParaRPr lang="en-IL" sz="1700"/>
          </a:p>
        </p:txBody>
      </p:sp>
    </p:spTree>
    <p:extLst>
      <p:ext uri="{BB962C8B-B14F-4D97-AF65-F5344CB8AC3E}">
        <p14:creationId xmlns:p14="http://schemas.microsoft.com/office/powerpoint/2010/main" val="878941982"/>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D72D4D1-076F-49D3-9889-EFC4F6D7C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FB77EE-D86E-29CF-7495-0738A043C350}"/>
              </a:ext>
            </a:extLst>
          </p:cNvPr>
          <p:cNvSpPr>
            <a:spLocks noGrp="1"/>
          </p:cNvSpPr>
          <p:nvPr>
            <p:ph type="title"/>
          </p:nvPr>
        </p:nvSpPr>
        <p:spPr>
          <a:xfrm>
            <a:off x="838200" y="963877"/>
            <a:ext cx="3494362" cy="4930246"/>
          </a:xfrm>
        </p:spPr>
        <p:txBody>
          <a:bodyPr>
            <a:normAutofit/>
          </a:bodyPr>
          <a:lstStyle/>
          <a:p>
            <a:pPr algn="r"/>
            <a:r>
              <a:rPr lang="en-US" dirty="0"/>
              <a:t>opacity</a:t>
            </a:r>
            <a:endParaRPr lang="en-IL"/>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816538A-5F71-93ED-CA3B-378CEFF84BD9}"/>
              </a:ext>
            </a:extLst>
          </p:cNvPr>
          <p:cNvSpPr>
            <a:spLocks noGrp="1"/>
          </p:cNvSpPr>
          <p:nvPr>
            <p:ph idx="1"/>
          </p:nvPr>
        </p:nvSpPr>
        <p:spPr>
          <a:xfrm>
            <a:off x="4976031" y="963877"/>
            <a:ext cx="6377769" cy="4930246"/>
          </a:xfrm>
        </p:spPr>
        <p:txBody>
          <a:bodyPr anchor="ctr">
            <a:normAutofit/>
          </a:bodyPr>
          <a:lstStyle/>
          <a:p>
            <a:r>
              <a:rPr lang="en-US" sz="2400" b="0" i="0">
                <a:effectLst/>
                <a:latin typeface="Söhne"/>
              </a:rPr>
              <a:t>The opacity property in CSS is used to set the transparency level of an element. The property takes a value between 0 and 1, with 0 being completely transparent and 1 being completely opaque.</a:t>
            </a:r>
            <a:br>
              <a:rPr lang="en-US" sz="2400"/>
            </a:br>
            <a:endParaRPr lang="en-IL" sz="2400"/>
          </a:p>
        </p:txBody>
      </p:sp>
    </p:spTree>
    <p:extLst>
      <p:ext uri="{BB962C8B-B14F-4D97-AF65-F5344CB8AC3E}">
        <p14:creationId xmlns:p14="http://schemas.microsoft.com/office/powerpoint/2010/main" val="1040232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FB77EE-D86E-29CF-7495-0738A043C350}"/>
              </a:ext>
            </a:extLst>
          </p:cNvPr>
          <p:cNvSpPr>
            <a:spLocks noGrp="1"/>
          </p:cNvSpPr>
          <p:nvPr>
            <p:ph type="title"/>
          </p:nvPr>
        </p:nvSpPr>
        <p:spPr>
          <a:xfrm>
            <a:off x="1371599" y="294538"/>
            <a:ext cx="9895951" cy="1033669"/>
          </a:xfrm>
        </p:spPr>
        <p:txBody>
          <a:bodyPr>
            <a:normAutofit/>
          </a:bodyPr>
          <a:lstStyle/>
          <a:p>
            <a:r>
              <a:rPr lang="en-US" sz="4000" b="1" i="0">
                <a:solidFill>
                  <a:srgbClr val="FFFFFF"/>
                </a:solidFill>
                <a:effectLst/>
                <a:latin typeface="Söhne Mono"/>
              </a:rPr>
              <a:t>transform</a:t>
            </a:r>
            <a:endParaRPr lang="en-IL" sz="4000">
              <a:solidFill>
                <a:srgbClr val="FFFFFF"/>
              </a:solidFill>
            </a:endParaRPr>
          </a:p>
        </p:txBody>
      </p:sp>
      <p:sp>
        <p:nvSpPr>
          <p:cNvPr id="3" name="Content Placeholder 2">
            <a:extLst>
              <a:ext uri="{FF2B5EF4-FFF2-40B4-BE49-F238E27FC236}">
                <a16:creationId xmlns:a16="http://schemas.microsoft.com/office/drawing/2014/main" id="{1816538A-5F71-93ED-CA3B-378CEFF84BD9}"/>
              </a:ext>
            </a:extLst>
          </p:cNvPr>
          <p:cNvSpPr>
            <a:spLocks noGrp="1"/>
          </p:cNvSpPr>
          <p:nvPr>
            <p:ph idx="1"/>
          </p:nvPr>
        </p:nvSpPr>
        <p:spPr>
          <a:xfrm>
            <a:off x="1371599" y="2318197"/>
            <a:ext cx="9724031" cy="3683358"/>
          </a:xfrm>
        </p:spPr>
        <p:txBody>
          <a:bodyPr anchor="ctr">
            <a:normAutofit/>
          </a:bodyPr>
          <a:lstStyle/>
          <a:p>
            <a:r>
              <a:rPr lang="en-US" sz="2000" b="0" i="0" dirty="0">
                <a:effectLst/>
                <a:latin typeface="Söhne"/>
              </a:rPr>
              <a:t>The transform: translate(-50%, -50%); property in CSS is used to position an element relative to its parent container. It is used to move an element along the x and y axis.</a:t>
            </a:r>
          </a:p>
          <a:p>
            <a:r>
              <a:rPr lang="en-US" sz="2000" b="0" i="0" dirty="0">
                <a:effectLst/>
                <a:latin typeface="Söhne"/>
              </a:rPr>
              <a:t>The translate function takes two values, the first value is the distance along the x-axis and the second value is the distance along the y-axis. The value can be a length, percentage, or number. Negative values move the element to the left or up, positive values move the element to the right or down.</a:t>
            </a:r>
          </a:p>
          <a:p>
            <a:r>
              <a:rPr lang="en-US" sz="2000" b="0" i="0" dirty="0">
                <a:effectLst/>
                <a:latin typeface="Söhne"/>
              </a:rPr>
              <a:t>The -50% value for both the x and y axis, will move the element to the left by 50% of its width and up by 50% of its height. This will effectively center the element within its parent container.</a:t>
            </a:r>
          </a:p>
          <a:p>
            <a:endParaRPr lang="en-IL" sz="2000" dirty="0"/>
          </a:p>
        </p:txBody>
      </p:sp>
      <p:sp>
        <p:nvSpPr>
          <p:cNvPr id="4" name="TextBox 3">
            <a:extLst>
              <a:ext uri="{FF2B5EF4-FFF2-40B4-BE49-F238E27FC236}">
                <a16:creationId xmlns:a16="http://schemas.microsoft.com/office/drawing/2014/main" id="{B084DE06-8B0E-1033-D256-F970C97D6B54}"/>
              </a:ext>
            </a:extLst>
          </p:cNvPr>
          <p:cNvSpPr txBox="1"/>
          <p:nvPr/>
        </p:nvSpPr>
        <p:spPr>
          <a:xfrm>
            <a:off x="3084576" y="5086134"/>
            <a:ext cx="4525083" cy="1754326"/>
          </a:xfrm>
          <a:prstGeom prst="rect">
            <a:avLst/>
          </a:prstGeom>
          <a:noFill/>
        </p:spPr>
        <p:txBody>
          <a:bodyPr wrap="square" rtlCol="0">
            <a:spAutoFit/>
          </a:bodyPr>
          <a:lstStyle/>
          <a:p>
            <a:r>
              <a:rPr lang="en-US" b="0" i="0" dirty="0">
                <a:solidFill>
                  <a:srgbClr val="DF3079"/>
                </a:solidFill>
                <a:effectLst/>
                <a:latin typeface="Söhne Mono"/>
              </a:rPr>
              <a:t>.center</a:t>
            </a:r>
            <a:r>
              <a:rPr lang="en-US" b="0" i="0" dirty="0">
                <a:solidFill>
                  <a:srgbClr val="FFFFFF"/>
                </a:solidFill>
                <a:effectLst/>
                <a:latin typeface="Söhne Mono"/>
              </a:rPr>
              <a:t> </a:t>
            </a:r>
            <a:r>
              <a:rPr lang="en-US" b="0" i="0" dirty="0">
                <a:effectLst/>
                <a:latin typeface="Söhne Mono"/>
              </a:rPr>
              <a:t>{ </a:t>
            </a:r>
          </a:p>
          <a:p>
            <a:r>
              <a:rPr lang="en-US" dirty="0">
                <a:latin typeface="Söhne Mono"/>
              </a:rPr>
              <a:t>	</a:t>
            </a:r>
            <a:r>
              <a:rPr lang="en-US" b="0" i="0" dirty="0">
                <a:effectLst/>
                <a:latin typeface="Söhne Mono"/>
              </a:rPr>
              <a:t>position: absolute; </a:t>
            </a:r>
          </a:p>
          <a:p>
            <a:r>
              <a:rPr lang="en-US" dirty="0">
                <a:latin typeface="Söhne Mono"/>
              </a:rPr>
              <a:t>	</a:t>
            </a:r>
            <a:r>
              <a:rPr lang="en-US" b="0" i="0" dirty="0">
                <a:effectLst/>
                <a:latin typeface="Söhne Mono"/>
              </a:rPr>
              <a:t>top: 50%;</a:t>
            </a:r>
          </a:p>
          <a:p>
            <a:r>
              <a:rPr lang="en-US" dirty="0">
                <a:latin typeface="Söhne Mono"/>
              </a:rPr>
              <a:t>	</a:t>
            </a:r>
            <a:r>
              <a:rPr lang="en-US" b="0" i="0" dirty="0">
                <a:effectLst/>
                <a:latin typeface="Söhne Mono"/>
              </a:rPr>
              <a:t> left: 50%; </a:t>
            </a:r>
          </a:p>
          <a:p>
            <a:r>
              <a:rPr lang="en-US" dirty="0">
                <a:latin typeface="Söhne Mono"/>
              </a:rPr>
              <a:t>	</a:t>
            </a:r>
            <a:r>
              <a:rPr lang="en-US" b="0" i="0" dirty="0">
                <a:effectLst/>
                <a:latin typeface="Söhne Mono"/>
              </a:rPr>
              <a:t>transform: translate(-50%, -50%);</a:t>
            </a:r>
          </a:p>
          <a:p>
            <a:r>
              <a:rPr lang="en-US" b="0" i="0" dirty="0">
                <a:effectLst/>
                <a:latin typeface="Söhne Mono"/>
              </a:rPr>
              <a:t> }</a:t>
            </a:r>
            <a:endParaRPr lang="en-IL" dirty="0"/>
          </a:p>
        </p:txBody>
      </p:sp>
    </p:spTree>
    <p:extLst>
      <p:ext uri="{BB962C8B-B14F-4D97-AF65-F5344CB8AC3E}">
        <p14:creationId xmlns:p14="http://schemas.microsoft.com/office/powerpoint/2010/main" val="992637769"/>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11">
            <a:extLst>
              <a:ext uri="{FF2B5EF4-FFF2-40B4-BE49-F238E27FC236}">
                <a16:creationId xmlns:a16="http://schemas.microsoft.com/office/drawing/2014/main" id="{0953DB5D-0A37-4498-852C-604ADD855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959" y="-1"/>
            <a:ext cx="4670042"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13">
            <a:extLst>
              <a:ext uri="{FF2B5EF4-FFF2-40B4-BE49-F238E27FC236}">
                <a16:creationId xmlns:a16="http://schemas.microsoft.com/office/drawing/2014/main" id="{52B46D5E-7F74-4741-9FF9-3E105C9570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flipV="1">
            <a:off x="512234" y="-512235"/>
            <a:ext cx="6858001" cy="7882470"/>
          </a:xfrm>
          <a:custGeom>
            <a:avLst/>
            <a:gdLst>
              <a:gd name="connsiteX0" fmla="*/ 0 w 6858001"/>
              <a:gd name="connsiteY0" fmla="*/ 0 h 7882470"/>
              <a:gd name="connsiteX1" fmla="*/ 0 w 6858001"/>
              <a:gd name="connsiteY1" fmla="*/ 1067477 h 7882470"/>
              <a:gd name="connsiteX2" fmla="*/ 0 w 6858001"/>
              <a:gd name="connsiteY2" fmla="*/ 2201779 h 7882470"/>
              <a:gd name="connsiteX3" fmla="*/ 0 w 6858001"/>
              <a:gd name="connsiteY3" fmla="*/ 7552944 h 7882470"/>
              <a:gd name="connsiteX4" fmla="*/ 1 w 6858001"/>
              <a:gd name="connsiteY4" fmla="*/ 7552944 h 7882470"/>
              <a:gd name="connsiteX5" fmla="*/ 1 w 6858001"/>
              <a:gd name="connsiteY5" fmla="*/ 7584020 h 7882470"/>
              <a:gd name="connsiteX6" fmla="*/ 1228295 w 6858001"/>
              <a:gd name="connsiteY6" fmla="*/ 7584020 h 7882470"/>
              <a:gd name="connsiteX7" fmla="*/ 1609295 w 6858001"/>
              <a:gd name="connsiteY7" fmla="*/ 7869770 h 7882470"/>
              <a:gd name="connsiteX8" fmla="*/ 1617762 w 6858001"/>
              <a:gd name="connsiteY8" fmla="*/ 7872945 h 7882470"/>
              <a:gd name="connsiteX9" fmla="*/ 1630461 w 6858001"/>
              <a:gd name="connsiteY9" fmla="*/ 7877708 h 7882470"/>
              <a:gd name="connsiteX10" fmla="*/ 1643162 w 6858001"/>
              <a:gd name="connsiteY10" fmla="*/ 7882470 h 7882470"/>
              <a:gd name="connsiteX11" fmla="*/ 1653745 w 6858001"/>
              <a:gd name="connsiteY11" fmla="*/ 7882470 h 7882470"/>
              <a:gd name="connsiteX12" fmla="*/ 1666445 w 6858001"/>
              <a:gd name="connsiteY12" fmla="*/ 7882470 h 7882470"/>
              <a:gd name="connsiteX13" fmla="*/ 1677028 w 6858001"/>
              <a:gd name="connsiteY13" fmla="*/ 7877708 h 7882470"/>
              <a:gd name="connsiteX14" fmla="*/ 1689728 w 6858001"/>
              <a:gd name="connsiteY14" fmla="*/ 7872945 h 7882470"/>
              <a:gd name="connsiteX15" fmla="*/ 1698195 w 6858001"/>
              <a:gd name="connsiteY15" fmla="*/ 7869770 h 7882470"/>
              <a:gd name="connsiteX16" fmla="*/ 2079195 w 6858001"/>
              <a:gd name="connsiteY16" fmla="*/ 7584020 h 7882470"/>
              <a:gd name="connsiteX17" fmla="*/ 6858001 w 6858001"/>
              <a:gd name="connsiteY17" fmla="*/ 7584020 h 7882470"/>
              <a:gd name="connsiteX18" fmla="*/ 6858001 w 6858001"/>
              <a:gd name="connsiteY18" fmla="*/ 5696482 h 7882470"/>
              <a:gd name="connsiteX19" fmla="*/ 6858000 w 6858001"/>
              <a:gd name="connsiteY19" fmla="*/ 5696482 h 7882470"/>
              <a:gd name="connsiteX20" fmla="*/ 6858000 w 6858001"/>
              <a:gd name="connsiteY20" fmla="*/ 2201779 h 7882470"/>
              <a:gd name="connsiteX21" fmla="*/ 6858000 w 6858001"/>
              <a:gd name="connsiteY21" fmla="*/ 1067477 h 7882470"/>
              <a:gd name="connsiteX22" fmla="*/ 6858000 w 6858001"/>
              <a:gd name="connsiteY22" fmla="*/ 0 h 788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858001" h="7882470">
                <a:moveTo>
                  <a:pt x="0" y="0"/>
                </a:moveTo>
                <a:lnTo>
                  <a:pt x="0" y="1067477"/>
                </a:lnTo>
                <a:lnTo>
                  <a:pt x="0" y="2201779"/>
                </a:lnTo>
                <a:lnTo>
                  <a:pt x="0" y="7552944"/>
                </a:lnTo>
                <a:lnTo>
                  <a:pt x="1" y="7552944"/>
                </a:lnTo>
                <a:lnTo>
                  <a:pt x="1" y="7584020"/>
                </a:lnTo>
                <a:lnTo>
                  <a:pt x="1228295" y="7584020"/>
                </a:lnTo>
                <a:lnTo>
                  <a:pt x="1609295" y="7869770"/>
                </a:lnTo>
                <a:lnTo>
                  <a:pt x="1617762" y="7872945"/>
                </a:lnTo>
                <a:lnTo>
                  <a:pt x="1630461" y="7877708"/>
                </a:lnTo>
                <a:lnTo>
                  <a:pt x="1643162" y="7882470"/>
                </a:lnTo>
                <a:lnTo>
                  <a:pt x="1653745" y="7882470"/>
                </a:lnTo>
                <a:lnTo>
                  <a:pt x="1666445" y="7882470"/>
                </a:lnTo>
                <a:lnTo>
                  <a:pt x="1677028" y="7877708"/>
                </a:lnTo>
                <a:lnTo>
                  <a:pt x="1689728" y="7872945"/>
                </a:lnTo>
                <a:lnTo>
                  <a:pt x="1698195" y="7869770"/>
                </a:lnTo>
                <a:lnTo>
                  <a:pt x="2079195" y="7584020"/>
                </a:lnTo>
                <a:lnTo>
                  <a:pt x="6858001" y="7584020"/>
                </a:lnTo>
                <a:lnTo>
                  <a:pt x="6858001" y="5696482"/>
                </a:lnTo>
                <a:lnTo>
                  <a:pt x="6858000" y="5696482"/>
                </a:lnTo>
                <a:lnTo>
                  <a:pt x="6858000" y="2201779"/>
                </a:lnTo>
                <a:lnTo>
                  <a:pt x="6858000" y="1067477"/>
                </a:lnTo>
                <a:lnTo>
                  <a:pt x="6858000" y="0"/>
                </a:lnTo>
                <a:close/>
              </a:path>
            </a:pathLst>
          </a:custGeom>
          <a:ln>
            <a:noFill/>
          </a:ln>
          <a:extLst>
            <a:ext uri="{91240B29-F687-4f45-9708-019B960494DF}">
              <a14:hiddenLine xmlns:a16="http://schemas.microsoft.com/office/drawing/2014/main" xmlns:a14="http://schemas.microsoft.com/office/drawing/2010/main" xmlns:p14="http://schemas.microsoft.com/office/powerpoint/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822485E-B533-4199-B6EE-43A7C0ADBE8D}"/>
              </a:ext>
            </a:extLst>
          </p:cNvPr>
          <p:cNvSpPr>
            <a:spLocks noGrp="1"/>
          </p:cNvSpPr>
          <p:nvPr>
            <p:ph type="title"/>
          </p:nvPr>
        </p:nvSpPr>
        <p:spPr>
          <a:xfrm>
            <a:off x="832777" y="885717"/>
            <a:ext cx="5944308" cy="1559412"/>
          </a:xfrm>
        </p:spPr>
        <p:txBody>
          <a:bodyPr>
            <a:normAutofit/>
          </a:bodyPr>
          <a:lstStyle/>
          <a:p>
            <a:r>
              <a:rPr lang="en-IL"/>
              <a:t>tables</a:t>
            </a:r>
            <a:endParaRPr lang="en-IL" dirty="0"/>
          </a:p>
        </p:txBody>
      </p:sp>
      <p:sp>
        <p:nvSpPr>
          <p:cNvPr id="3" name="Content Placeholder 2">
            <a:extLst>
              <a:ext uri="{FF2B5EF4-FFF2-40B4-BE49-F238E27FC236}">
                <a16:creationId xmlns:a16="http://schemas.microsoft.com/office/drawing/2014/main" id="{5E1D208B-DA41-E333-0FE8-7F7D939AF99B}"/>
              </a:ext>
            </a:extLst>
          </p:cNvPr>
          <p:cNvSpPr>
            <a:spLocks noGrp="1"/>
          </p:cNvSpPr>
          <p:nvPr>
            <p:ph idx="1"/>
          </p:nvPr>
        </p:nvSpPr>
        <p:spPr>
          <a:xfrm>
            <a:off x="852985" y="2700810"/>
            <a:ext cx="5924099" cy="3271473"/>
          </a:xfrm>
        </p:spPr>
        <p:txBody>
          <a:bodyPr>
            <a:normAutofit/>
          </a:bodyPr>
          <a:lstStyle/>
          <a:p>
            <a:r>
              <a:rPr lang="en-US" sz="2400" b="0" i="0">
                <a:effectLst/>
                <a:latin typeface="Söhne"/>
              </a:rPr>
              <a:t>HTML tables are used to display data in a tabular format. Tables are divided into rows (with the </a:t>
            </a:r>
            <a:r>
              <a:rPr lang="en-US" sz="2400"/>
              <a:t>tr</a:t>
            </a:r>
            <a:r>
              <a:rPr lang="en-US" sz="2400" b="0" i="0">
                <a:effectLst/>
                <a:latin typeface="Söhne"/>
              </a:rPr>
              <a:t> element), and each row is divided into cells (with the </a:t>
            </a:r>
            <a:r>
              <a:rPr lang="en-US" sz="2400"/>
              <a:t>td</a:t>
            </a:r>
            <a:r>
              <a:rPr lang="en-US" sz="2400" b="0" i="0">
                <a:effectLst/>
                <a:latin typeface="Söhne"/>
              </a:rPr>
              <a:t> element). You can also use the </a:t>
            </a:r>
            <a:r>
              <a:rPr lang="en-US" sz="2400"/>
              <a:t>th</a:t>
            </a:r>
            <a:r>
              <a:rPr lang="en-US" sz="2400" b="0" i="0">
                <a:effectLst/>
                <a:latin typeface="Söhne"/>
              </a:rPr>
              <a:t> element to define table headers.</a:t>
            </a:r>
            <a:endParaRPr lang="en-IL" sz="2400"/>
          </a:p>
        </p:txBody>
      </p:sp>
      <p:sp>
        <p:nvSpPr>
          <p:cNvPr id="16" name="Rounded Rectangle 17">
            <a:extLst>
              <a:ext uri="{FF2B5EF4-FFF2-40B4-BE49-F238E27FC236}">
                <a16:creationId xmlns:a16="http://schemas.microsoft.com/office/drawing/2014/main" id="{B97A76A2-B7F2-4D75-AB9E-71FB74882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746" y="958640"/>
            <a:ext cx="3354790" cy="3639118"/>
          </a:xfrm>
          <a:prstGeom prst="roundRect">
            <a:avLst>
              <a:gd name="adj" fmla="val 3513"/>
            </a:avLst>
          </a:prstGeom>
          <a:solidFill>
            <a:schemeClr val="tx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File HTML">
            <a:extLst>
              <a:ext uri="{FF2B5EF4-FFF2-40B4-BE49-F238E27FC236}">
                <a16:creationId xmlns:a16="http://schemas.microsoft.com/office/drawing/2014/main" id="{EE8903D3-C28E-3429-4E79-A3ACA118C144}"/>
              </a:ext>
            </a:extLst>
          </p:cNvPr>
          <p:cNvPicPr>
            <a:picLocks noChangeAspect="1"/>
          </p:cNvPicPr>
          <p:nvPr/>
        </p:nvPicPr>
        <p:blipFill>
          <a:blip>
            <a:extLst>
              <a:ext uri="{28A0092B-C50C-407E-A947-70E740481C1C}">
                <a14:useLocalDpi xmlns:a14="http://schemas.microsoft.com/office/drawing/2010/main" val="0"/>
              </a:ext>
            </a:extLst>
          </a:blip>
          <a:stretch>
            <a:fillRect/>
          </a:stretch>
        </p:blipFill>
        <p:spPr>
          <a:xfrm>
            <a:off x="8503606" y="1410663"/>
            <a:ext cx="2735071" cy="2735071"/>
          </a:xfrm>
          <a:prstGeom prst="rect">
            <a:avLst/>
          </a:prstGeom>
        </p:spPr>
      </p:pic>
    </p:spTree>
    <p:extLst>
      <p:ext uri="{BB962C8B-B14F-4D97-AF65-F5344CB8AC3E}">
        <p14:creationId xmlns:p14="http://schemas.microsoft.com/office/powerpoint/2010/main" val="40006694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9" name="!!BGRectangle">
            <a:extLst>
              <a:ext uri="{FF2B5EF4-FFF2-40B4-BE49-F238E27FC236}">
                <a16:creationId xmlns:a16="http://schemas.microsoft.com/office/drawing/2014/main" id="{9B76D444-2756-434F-AE61-96D69830C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35CAB9-EBB2-8E06-A8F2-01A2FAAC21E1}"/>
              </a:ext>
            </a:extLst>
          </p:cNvPr>
          <p:cNvSpPr>
            <a:spLocks noGrp="1"/>
          </p:cNvSpPr>
          <p:nvPr>
            <p:ph type="title"/>
          </p:nvPr>
        </p:nvSpPr>
        <p:spPr>
          <a:xfrm>
            <a:off x="6421700" y="713232"/>
            <a:ext cx="5154168" cy="1197864"/>
          </a:xfrm>
        </p:spPr>
        <p:txBody>
          <a:bodyPr>
            <a:normAutofit/>
          </a:bodyPr>
          <a:lstStyle/>
          <a:p>
            <a:r>
              <a:rPr lang="en-US" dirty="0"/>
              <a:t>outlines</a:t>
            </a:r>
            <a:endParaRPr lang="en-IL" dirty="0"/>
          </a:p>
        </p:txBody>
      </p:sp>
      <p:pic>
        <p:nvPicPr>
          <p:cNvPr id="5" name="Picture 4" descr="House line vector icons">
            <a:extLst>
              <a:ext uri="{FF2B5EF4-FFF2-40B4-BE49-F238E27FC236}">
                <a16:creationId xmlns:a16="http://schemas.microsoft.com/office/drawing/2014/main" id="{D3B6B2D5-1D68-D376-7B3F-5146A76BEBF7}"/>
              </a:ext>
            </a:extLst>
          </p:cNvPr>
          <p:cNvPicPr>
            <a:picLocks noChangeAspect="1"/>
          </p:cNvPicPr>
          <p:nvPr/>
        </p:nvPicPr>
        <p:blipFill rotWithShape="1">
          <a:blip/>
          <a:srcRect l="20068" r="17632" b="-2"/>
          <a:stretch/>
        </p:blipFill>
        <p:spPr>
          <a:xfrm>
            <a:off x="0" y="10"/>
            <a:ext cx="5495089" cy="6857990"/>
          </a:xfrm>
          <a:prstGeom prst="rect">
            <a:avLst/>
          </a:prstGeom>
        </p:spPr>
      </p:pic>
      <p:sp>
        <p:nvSpPr>
          <p:cNvPr id="11" name="!!Line">
            <a:extLst>
              <a:ext uri="{FF2B5EF4-FFF2-40B4-BE49-F238E27FC236}">
                <a16:creationId xmlns:a16="http://schemas.microsoft.com/office/drawing/2014/main" id="{29A9EE12-EF77-4DB4-84E4-043DE7235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3328" y="822960"/>
            <a:ext cx="9144" cy="914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5979241-6432-66A9-52CC-FAB3C37D50B2}"/>
              </a:ext>
            </a:extLst>
          </p:cNvPr>
          <p:cNvSpPr>
            <a:spLocks noGrp="1"/>
          </p:cNvSpPr>
          <p:nvPr>
            <p:ph idx="1"/>
          </p:nvPr>
        </p:nvSpPr>
        <p:spPr>
          <a:xfrm>
            <a:off x="6421700" y="2048256"/>
            <a:ext cx="5154168" cy="4123944"/>
          </a:xfrm>
        </p:spPr>
        <p:txBody>
          <a:bodyPr anchor="t">
            <a:normAutofit/>
          </a:bodyPr>
          <a:lstStyle/>
          <a:p>
            <a:r>
              <a:rPr lang="en-US" sz="1700"/>
              <a:t>CSS outlines are a way to draw a line around an element, outside of the element's border. They can be used to highlight or emphasize an element, or to make it stand out from the background.</a:t>
            </a:r>
          </a:p>
          <a:p>
            <a:r>
              <a:rPr lang="en-US" sz="1700"/>
              <a:t>The outline property is a shorthand property that is used to set the outline width, style, and color all at once. It has the following syntax:</a:t>
            </a:r>
          </a:p>
          <a:p>
            <a:r>
              <a:rPr lang="en-US" sz="1700">
                <a:effectLst/>
              </a:rPr>
              <a:t>outline: &lt;outline-width&gt; &lt;outline-style&gt; &lt;outline-color&gt;; </a:t>
            </a:r>
          </a:p>
          <a:p>
            <a:br>
              <a:rPr lang="en-US" sz="1700" b="0" i="0">
                <a:effectLst/>
                <a:latin typeface="Söhne"/>
              </a:rPr>
            </a:br>
            <a:endParaRPr lang="en-US" sz="1700" b="0" i="0">
              <a:effectLst/>
              <a:latin typeface="Söhne"/>
            </a:endParaRPr>
          </a:p>
          <a:p>
            <a:br>
              <a:rPr lang="en-US" sz="1700"/>
            </a:br>
            <a:endParaRPr lang="en-US" sz="1700"/>
          </a:p>
          <a:p>
            <a:endParaRPr lang="en-IL" sz="1700"/>
          </a:p>
        </p:txBody>
      </p:sp>
      <p:pic>
        <p:nvPicPr>
          <p:cNvPr id="6" name="Picture 5" descr="Graphical user interface, application&#10;&#10;Description automatically generated">
            <a:extLst>
              <a:ext uri="{FF2B5EF4-FFF2-40B4-BE49-F238E27FC236}">
                <a16:creationId xmlns:a16="http://schemas.microsoft.com/office/drawing/2014/main" id="{AE4F2BE4-0472-8A01-3309-D8B463AFF56C}"/>
              </a:ext>
            </a:extLst>
          </p:cNvPr>
          <p:cNvPicPr>
            <a:picLocks noChangeAspect="1"/>
          </p:cNvPicPr>
          <p:nvPr/>
        </p:nvPicPr>
        <p:blipFill>
          <a:blip r:embed="rId2"/>
          <a:stretch>
            <a:fillRect/>
          </a:stretch>
        </p:blipFill>
        <p:spPr>
          <a:xfrm>
            <a:off x="836894" y="4567492"/>
            <a:ext cx="7772400" cy="1947608"/>
          </a:xfrm>
          <a:prstGeom prst="rect">
            <a:avLst/>
          </a:prstGeom>
        </p:spPr>
      </p:pic>
    </p:spTree>
    <p:extLst>
      <p:ext uri="{BB962C8B-B14F-4D97-AF65-F5344CB8AC3E}">
        <p14:creationId xmlns:p14="http://schemas.microsoft.com/office/powerpoint/2010/main" val="36295340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AE03B-CD85-92C0-8085-F580E930EC7C}"/>
              </a:ext>
            </a:extLst>
          </p:cNvPr>
          <p:cNvSpPr>
            <a:spLocks noGrp="1"/>
          </p:cNvSpPr>
          <p:nvPr>
            <p:ph type="title"/>
          </p:nvPr>
        </p:nvSpPr>
        <p:spPr>
          <a:xfrm>
            <a:off x="838200" y="365125"/>
            <a:ext cx="6254496" cy="1828800"/>
          </a:xfrm>
        </p:spPr>
        <p:txBody>
          <a:bodyPr>
            <a:normAutofit/>
          </a:bodyPr>
          <a:lstStyle/>
          <a:p>
            <a:r>
              <a:rPr lang="en-US" dirty="0"/>
              <a:t>float</a:t>
            </a:r>
            <a:endParaRPr lang="en-IL" dirty="0"/>
          </a:p>
        </p:txBody>
      </p:sp>
      <p:pic>
        <p:nvPicPr>
          <p:cNvPr id="6" name="Picture 5">
            <a:extLst>
              <a:ext uri="{FF2B5EF4-FFF2-40B4-BE49-F238E27FC236}">
                <a16:creationId xmlns:a16="http://schemas.microsoft.com/office/drawing/2014/main" id="{56DAA052-706C-01FF-6C58-8C580C685A08}"/>
              </a:ext>
            </a:extLst>
          </p:cNvPr>
          <p:cNvPicPr>
            <a:picLocks noChangeAspect="1"/>
          </p:cNvPicPr>
          <p:nvPr/>
        </p:nvPicPr>
        <p:blipFill rotWithShape="1">
          <a:blip/>
          <a:srcRect l="28356" r="26484" b="-1"/>
          <a:stretch/>
        </p:blipFill>
        <p:spPr>
          <a:xfrm>
            <a:off x="7552266" y="10"/>
            <a:ext cx="4639733" cy="6857990"/>
          </a:xfrm>
          <a:prstGeom prst="rect">
            <a:avLst/>
          </a:prstGeom>
        </p:spPr>
      </p:pic>
      <p:graphicFrame>
        <p:nvGraphicFramePr>
          <p:cNvPr id="5" name="Content Placeholder 2">
            <a:extLst>
              <a:ext uri="{FF2B5EF4-FFF2-40B4-BE49-F238E27FC236}">
                <a16:creationId xmlns:a16="http://schemas.microsoft.com/office/drawing/2014/main" id="{B0CF906F-C5D9-7F27-5667-0C6A4167ACDC}"/>
              </a:ext>
            </a:extLst>
          </p:cNvPr>
          <p:cNvGraphicFramePr>
            <a:graphicFrameLocks noGrp="1"/>
          </p:cNvGraphicFramePr>
          <p:nvPr>
            <p:ph idx="1"/>
            <p:extLst>
              <p:ext uri="{D42A27DB-BD31-4B8C-83A1-F6EECF244321}">
                <p14:modId xmlns:p14="http://schemas.microsoft.com/office/powerpoint/2010/main" val="1485935178"/>
              </p:ext>
            </p:extLst>
          </p:nvPr>
        </p:nvGraphicFramePr>
        <p:xfrm>
          <a:off x="838200" y="2322576"/>
          <a:ext cx="6254496" cy="38587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54153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D72D4D1-076F-49D3-9889-EFC4F6D7C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4DE981-64F4-88E9-AB54-CA9ED70CE50C}"/>
              </a:ext>
            </a:extLst>
          </p:cNvPr>
          <p:cNvSpPr>
            <a:spLocks noGrp="1"/>
          </p:cNvSpPr>
          <p:nvPr>
            <p:ph type="title"/>
          </p:nvPr>
        </p:nvSpPr>
        <p:spPr>
          <a:xfrm>
            <a:off x="838200" y="963877"/>
            <a:ext cx="3494362" cy="4930246"/>
          </a:xfrm>
        </p:spPr>
        <p:txBody>
          <a:bodyPr>
            <a:normAutofit/>
          </a:bodyPr>
          <a:lstStyle/>
          <a:p>
            <a:pPr algn="r"/>
            <a:r>
              <a:rPr lang="en-US" dirty="0"/>
              <a:t>F</a:t>
            </a:r>
            <a:r>
              <a:rPr lang="en-IL" dirty="0"/>
              <a:t>loat more</a:t>
            </a:r>
            <a:endParaRPr lang="en-IL"/>
          </a:p>
        </p:txBody>
      </p:sp>
      <p:cxnSp>
        <p:nvCxnSpPr>
          <p:cNvPr id="10" name="Straight Connector 9">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E0FAA4E-DDF3-EB9F-A5AC-B2720E445886}"/>
              </a:ext>
            </a:extLst>
          </p:cNvPr>
          <p:cNvSpPr>
            <a:spLocks noGrp="1"/>
          </p:cNvSpPr>
          <p:nvPr>
            <p:ph idx="1"/>
          </p:nvPr>
        </p:nvSpPr>
        <p:spPr>
          <a:xfrm>
            <a:off x="4976031" y="963877"/>
            <a:ext cx="6377769" cy="4930246"/>
          </a:xfrm>
        </p:spPr>
        <p:txBody>
          <a:bodyPr anchor="ctr">
            <a:normAutofit/>
          </a:bodyPr>
          <a:lstStyle/>
          <a:p>
            <a:pPr marL="0" indent="0">
              <a:buNone/>
            </a:pPr>
            <a:r>
              <a:rPr lang="en-US" sz="2200"/>
              <a:t>The text will flow around the image, which will be on the right side of the paragraph.</a:t>
            </a:r>
          </a:p>
          <a:p>
            <a:pPr marL="0" indent="0">
              <a:buNone/>
            </a:pPr>
            <a:r>
              <a:rPr lang="en-US" sz="2200"/>
              <a:t>It's important to note that when an element is floated, the containing element will not automatically adjust its height to fit the floated element. This can lead to layout issues, so it's common to use the clear property in combination with float to fix it.</a:t>
            </a:r>
          </a:p>
          <a:p>
            <a:pPr marL="0" indent="0">
              <a:buNone/>
            </a:pPr>
            <a:r>
              <a:rPr lang="en-US" sz="2200"/>
              <a:t>Additionally, it's a good practice to always set a width when using float, as it might cause unexpected behavior with the width of the element.</a:t>
            </a:r>
          </a:p>
          <a:p>
            <a:pPr marL="0" indent="0">
              <a:buNone/>
            </a:pPr>
            <a:r>
              <a:rPr lang="en-US" sz="2200"/>
              <a:t>It's worth noting that flexbox and grid layout are now preferred over using float for layout and positioning as they are more powerful and flexible.</a:t>
            </a:r>
          </a:p>
          <a:p>
            <a:pPr marL="0" indent="0">
              <a:buNone/>
            </a:pPr>
            <a:endParaRPr lang="en-IL" sz="2200"/>
          </a:p>
        </p:txBody>
      </p:sp>
    </p:spTree>
    <p:extLst>
      <p:ext uri="{BB962C8B-B14F-4D97-AF65-F5344CB8AC3E}">
        <p14:creationId xmlns:p14="http://schemas.microsoft.com/office/powerpoint/2010/main" val="24287038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4D3D0-E2BE-EE6F-26CB-69FBB559574F}"/>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7BF84EC9-A509-1702-2B23-FBA2DDE147B2}"/>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417133493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0597E8-5D46-DDBD-9EFE-22261BE4EEF2}"/>
              </a:ext>
            </a:extLst>
          </p:cNvPr>
          <p:cNvSpPr>
            <a:spLocks noGrp="1"/>
          </p:cNvSpPr>
          <p:nvPr>
            <p:ph type="title"/>
          </p:nvPr>
        </p:nvSpPr>
        <p:spPr>
          <a:xfrm>
            <a:off x="5297762" y="329184"/>
            <a:ext cx="6251110" cy="1783080"/>
          </a:xfrm>
        </p:spPr>
        <p:txBody>
          <a:bodyPr anchor="b">
            <a:normAutofit/>
          </a:bodyPr>
          <a:lstStyle/>
          <a:p>
            <a:r>
              <a:rPr lang="en-US" sz="5400" b="0" i="0">
                <a:effectLst/>
                <a:latin typeface="Söhne"/>
              </a:rPr>
              <a:t>Flexbox</a:t>
            </a:r>
            <a:endParaRPr lang="en-IL" sz="5400"/>
          </a:p>
        </p:txBody>
      </p:sp>
      <p:pic>
        <p:nvPicPr>
          <p:cNvPr id="11" name="Picture 10" descr="Top view of cubes connected with black lines">
            <a:extLst>
              <a:ext uri="{FF2B5EF4-FFF2-40B4-BE49-F238E27FC236}">
                <a16:creationId xmlns:a16="http://schemas.microsoft.com/office/drawing/2014/main" id="{9402B756-8743-2E79-668B-51EB40C6DD48}"/>
              </a:ext>
            </a:extLst>
          </p:cNvPr>
          <p:cNvPicPr>
            <a:picLocks noChangeAspect="1"/>
          </p:cNvPicPr>
          <p:nvPr/>
        </p:nvPicPr>
        <p:blipFill rotWithShape="1">
          <a:blip r:embed="rId2"/>
          <a:srcRect l="29494" r="19572"/>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7"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3972B90-EB4C-7ABE-8441-F76AABAE5336}"/>
              </a:ext>
            </a:extLst>
          </p:cNvPr>
          <p:cNvSpPr>
            <a:spLocks noGrp="1"/>
          </p:cNvSpPr>
          <p:nvPr>
            <p:ph idx="1"/>
          </p:nvPr>
        </p:nvSpPr>
        <p:spPr>
          <a:xfrm>
            <a:off x="5297762" y="2706624"/>
            <a:ext cx="6251110" cy="3483864"/>
          </a:xfrm>
        </p:spPr>
        <p:txBody>
          <a:bodyPr>
            <a:normAutofit/>
          </a:bodyPr>
          <a:lstStyle/>
          <a:p>
            <a:r>
              <a:rPr lang="en-US" sz="2000"/>
              <a:t>Flexbox is a layout module in CSS that makes it easier to create flexible, responsive designs. It allows elements within a container to be aligned and distributed in various ways, such as horizontally or vertically. Flexbox is particularly useful for creating flexible grid layouts, and it can also be used to create responsive navigation bars and other UI elements. It has a set of CSS properties that can be used to control the layout of elements within a flex container, such as flex-direction, justify-content, and align-items. Flexbox is supported in most modern web browsers.</a:t>
            </a:r>
            <a:endParaRPr lang="en-IL" sz="2000"/>
          </a:p>
        </p:txBody>
      </p:sp>
    </p:spTree>
    <p:extLst>
      <p:ext uri="{BB962C8B-B14F-4D97-AF65-F5344CB8AC3E}">
        <p14:creationId xmlns:p14="http://schemas.microsoft.com/office/powerpoint/2010/main" val="29475911"/>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534C0-FD84-E7E7-D39C-36509B45F487}"/>
              </a:ext>
            </a:extLst>
          </p:cNvPr>
          <p:cNvSpPr>
            <a:spLocks noGrp="1"/>
          </p:cNvSpPr>
          <p:nvPr>
            <p:ph type="title"/>
          </p:nvPr>
        </p:nvSpPr>
        <p:spPr/>
        <p:txBody>
          <a:bodyPr/>
          <a:lstStyle/>
          <a:p>
            <a:r>
              <a:rPr lang="en-US" dirty="0"/>
              <a:t>Flexbox- info</a:t>
            </a:r>
            <a:endParaRPr lang="en-IL" dirty="0"/>
          </a:p>
        </p:txBody>
      </p:sp>
      <p:sp>
        <p:nvSpPr>
          <p:cNvPr id="3" name="Content Placeholder 2">
            <a:extLst>
              <a:ext uri="{FF2B5EF4-FFF2-40B4-BE49-F238E27FC236}">
                <a16:creationId xmlns:a16="http://schemas.microsoft.com/office/drawing/2014/main" id="{B6473F86-52C7-DC03-84B0-837257646147}"/>
              </a:ext>
            </a:extLst>
          </p:cNvPr>
          <p:cNvSpPr>
            <a:spLocks noGrp="1"/>
          </p:cNvSpPr>
          <p:nvPr>
            <p:ph idx="1"/>
          </p:nvPr>
        </p:nvSpPr>
        <p:spPr/>
        <p:txBody>
          <a:bodyPr/>
          <a:lstStyle/>
          <a:p>
            <a:pPr marL="0" indent="0">
              <a:buNone/>
            </a:pPr>
            <a:r>
              <a:rPr lang="en-US" dirty="0"/>
              <a:t>Flexbox, short for Flexible Box Layout, is a layout module in CSS that makes it easy to create flexible, responsive, and adaptable user interfaces. It allows for the alignment, direction, and distribution of elements within a container.</a:t>
            </a:r>
            <a:endParaRPr lang="en-IL" dirty="0"/>
          </a:p>
        </p:txBody>
      </p:sp>
    </p:spTree>
    <p:extLst>
      <p:ext uri="{BB962C8B-B14F-4D97-AF65-F5344CB8AC3E}">
        <p14:creationId xmlns:p14="http://schemas.microsoft.com/office/powerpoint/2010/main" val="211646688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F6148E-A849-E964-CF4C-28D3D7D3EDB5}"/>
              </a:ext>
            </a:extLst>
          </p:cNvPr>
          <p:cNvSpPr>
            <a:spLocks noGrp="1"/>
          </p:cNvSpPr>
          <p:nvPr>
            <p:ph type="title"/>
          </p:nvPr>
        </p:nvSpPr>
        <p:spPr>
          <a:xfrm>
            <a:off x="838200" y="365125"/>
            <a:ext cx="10515600" cy="1325563"/>
          </a:xfrm>
        </p:spPr>
        <p:txBody>
          <a:bodyPr>
            <a:normAutofit/>
          </a:bodyPr>
          <a:lstStyle/>
          <a:p>
            <a:r>
              <a:rPr lang="en-IL" sz="5400"/>
              <a:t>FlexBox – you need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DFAF8CF-9FD1-33A0-32CC-B718385BD6BB}"/>
              </a:ext>
            </a:extLst>
          </p:cNvPr>
          <p:cNvSpPr>
            <a:spLocks noGrp="1"/>
          </p:cNvSpPr>
          <p:nvPr>
            <p:ph idx="1"/>
          </p:nvPr>
        </p:nvSpPr>
        <p:spPr>
          <a:xfrm>
            <a:off x="838200" y="1929384"/>
            <a:ext cx="10515600" cy="4251960"/>
          </a:xfrm>
        </p:spPr>
        <p:txBody>
          <a:bodyPr>
            <a:normAutofit/>
          </a:bodyPr>
          <a:lstStyle/>
          <a:p>
            <a:r>
              <a:rPr lang="en-US" sz="2200"/>
              <a:t>To use flexbox, you first need to create a container element, and set its display property to flex. This turns the element into a flex container, and its direct children become flex items.</a:t>
            </a:r>
          </a:p>
          <a:p>
            <a:r>
              <a:rPr lang="en-US" sz="2200"/>
              <a:t>Once you have a flex container, you can use a variety of CSS properties to control the layout of the items within it. For example, you can use the justify-content property to align items along the horizontal axis, and the align-items property to align items along the vertical axis.</a:t>
            </a:r>
          </a:p>
          <a:p>
            <a:endParaRPr lang="en-IL" sz="2200"/>
          </a:p>
        </p:txBody>
      </p:sp>
    </p:spTree>
    <p:extLst>
      <p:ext uri="{BB962C8B-B14F-4D97-AF65-F5344CB8AC3E}">
        <p14:creationId xmlns:p14="http://schemas.microsoft.com/office/powerpoint/2010/main" val="761375688"/>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F6148E-A849-E964-CF4C-28D3D7D3EDB5}"/>
              </a:ext>
            </a:extLst>
          </p:cNvPr>
          <p:cNvSpPr>
            <a:spLocks noGrp="1"/>
          </p:cNvSpPr>
          <p:nvPr>
            <p:ph type="title"/>
          </p:nvPr>
        </p:nvSpPr>
        <p:spPr>
          <a:xfrm>
            <a:off x="643467" y="321734"/>
            <a:ext cx="10905066" cy="1135737"/>
          </a:xfrm>
        </p:spPr>
        <p:txBody>
          <a:bodyPr>
            <a:normAutofit/>
          </a:bodyPr>
          <a:lstStyle/>
          <a:p>
            <a:r>
              <a:rPr lang="en-US" sz="3600" b="0" i="0">
                <a:effectLst/>
                <a:latin typeface="Segoe UI" panose="020B0502040204020203" pitchFamily="34" charset="0"/>
              </a:rPr>
              <a:t>flex-direction</a:t>
            </a:r>
            <a:endParaRPr lang="en-IL" sz="3600"/>
          </a:p>
        </p:txBody>
      </p:sp>
      <p:sp>
        <p:nvSpPr>
          <p:cNvPr id="3" name="Content Placeholder 2">
            <a:extLst>
              <a:ext uri="{FF2B5EF4-FFF2-40B4-BE49-F238E27FC236}">
                <a16:creationId xmlns:a16="http://schemas.microsoft.com/office/drawing/2014/main" id="{1DFAF8CF-9FD1-33A0-32CC-B718385BD6BB}"/>
              </a:ext>
            </a:extLst>
          </p:cNvPr>
          <p:cNvSpPr>
            <a:spLocks noGrp="1"/>
          </p:cNvSpPr>
          <p:nvPr>
            <p:ph idx="1"/>
          </p:nvPr>
        </p:nvSpPr>
        <p:spPr>
          <a:xfrm>
            <a:off x="643467" y="1782981"/>
            <a:ext cx="10905066" cy="4393982"/>
          </a:xfrm>
        </p:spPr>
        <p:txBody>
          <a:bodyPr>
            <a:normAutofit/>
          </a:bodyPr>
          <a:lstStyle/>
          <a:p>
            <a:r>
              <a:rPr lang="en-US" sz="2000" b="0" i="0">
                <a:effectLst/>
                <a:latin typeface="Verdana" panose="020B0604030504040204" pitchFamily="34" charset="0"/>
              </a:rPr>
              <a:t>The </a:t>
            </a:r>
            <a:r>
              <a:rPr lang="en-US" sz="2000"/>
              <a:t>flex-direction</a:t>
            </a:r>
            <a:r>
              <a:rPr lang="en-US" sz="2000" b="0" i="0">
                <a:effectLst/>
                <a:latin typeface="Verdana" panose="020B0604030504040204" pitchFamily="34" charset="0"/>
              </a:rPr>
              <a:t> property defines in which direction the container wants to stack the flex items.</a:t>
            </a:r>
          </a:p>
          <a:p>
            <a:pPr marL="0" indent="0">
              <a:buNone/>
            </a:pPr>
            <a:r>
              <a:rPr lang="en-US" sz="2000">
                <a:latin typeface="Verdana" panose="020B0604030504040204" pitchFamily="34" charset="0"/>
              </a:rPr>
              <a:t>* </a:t>
            </a:r>
            <a:r>
              <a:rPr lang="en-US" sz="2000" b="0" i="0">
                <a:effectLst/>
                <a:latin typeface="Söhne"/>
              </a:rPr>
              <a:t>"row": This is the default value, which lays out items in a horizontal row, with the first item on the left and the last item on the right.</a:t>
            </a:r>
          </a:p>
          <a:p>
            <a:pPr>
              <a:buFont typeface="+mj-lt"/>
              <a:buAutoNum type="arabicPeriod"/>
            </a:pPr>
            <a:r>
              <a:rPr lang="en-US" sz="2000" b="0" i="0">
                <a:effectLst/>
                <a:latin typeface="Söhne"/>
              </a:rPr>
              <a:t>"row-reverse": This lays out items in a horizontal row with the first item on the right and the last item on the left.</a:t>
            </a:r>
          </a:p>
          <a:p>
            <a:pPr>
              <a:buFont typeface="+mj-lt"/>
              <a:buAutoNum type="arabicPeriod"/>
            </a:pPr>
            <a:r>
              <a:rPr lang="en-US" sz="2000" b="0" i="0">
                <a:effectLst/>
                <a:latin typeface="Söhne"/>
              </a:rPr>
              <a:t>"column": This lays out items in a vertical column with the first item at the top and the last item at the bottom.</a:t>
            </a:r>
          </a:p>
          <a:p>
            <a:pPr>
              <a:buFont typeface="+mj-lt"/>
              <a:buAutoNum type="arabicPeriod"/>
            </a:pPr>
            <a:r>
              <a:rPr lang="en-US" sz="2000" b="0" i="0">
                <a:effectLst/>
                <a:latin typeface="Söhne"/>
              </a:rPr>
              <a:t>"column-reverse": This lays out items in a vertical column with the first item at the bottom and the last item at the top.</a:t>
            </a:r>
          </a:p>
          <a:p>
            <a:pPr marL="0" indent="0">
              <a:buNone/>
            </a:pPr>
            <a:endParaRPr lang="en-IL" sz="200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28928921"/>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6148E-A849-E964-CF4C-28D3D7D3EDB5}"/>
              </a:ext>
            </a:extLst>
          </p:cNvPr>
          <p:cNvSpPr>
            <a:spLocks noGrp="1"/>
          </p:cNvSpPr>
          <p:nvPr>
            <p:ph type="title"/>
          </p:nvPr>
        </p:nvSpPr>
        <p:spPr>
          <a:xfrm>
            <a:off x="1136428" y="627564"/>
            <a:ext cx="7474172" cy="1325563"/>
          </a:xfrm>
        </p:spPr>
        <p:txBody>
          <a:bodyPr>
            <a:normAutofit/>
          </a:bodyPr>
          <a:lstStyle/>
          <a:p>
            <a:r>
              <a:rPr lang="en-US" b="0" i="0">
                <a:effectLst/>
                <a:latin typeface="Segoe UI" panose="020B0502040204020203" pitchFamily="34" charset="0"/>
              </a:rPr>
              <a:t> flex-wrap</a:t>
            </a:r>
            <a:endParaRPr lang="en-IL" dirty="0"/>
          </a:p>
        </p:txBody>
      </p:sp>
      <p:sp>
        <p:nvSpPr>
          <p:cNvPr id="3" name="Content Placeholder 2">
            <a:extLst>
              <a:ext uri="{FF2B5EF4-FFF2-40B4-BE49-F238E27FC236}">
                <a16:creationId xmlns:a16="http://schemas.microsoft.com/office/drawing/2014/main" id="{1DFAF8CF-9FD1-33A0-32CC-B718385BD6BB}"/>
              </a:ext>
            </a:extLst>
          </p:cNvPr>
          <p:cNvSpPr>
            <a:spLocks noGrp="1"/>
          </p:cNvSpPr>
          <p:nvPr>
            <p:ph idx="1"/>
          </p:nvPr>
        </p:nvSpPr>
        <p:spPr>
          <a:xfrm>
            <a:off x="1136429" y="2278173"/>
            <a:ext cx="6467867" cy="3450613"/>
          </a:xfrm>
        </p:spPr>
        <p:txBody>
          <a:bodyPr anchor="ctr">
            <a:normAutofit/>
          </a:bodyPr>
          <a:lstStyle/>
          <a:p>
            <a:pPr marL="0" indent="0">
              <a:buNone/>
            </a:pPr>
            <a:r>
              <a:rPr lang="en-US" sz="1900" b="0" i="0">
                <a:effectLst/>
                <a:latin typeface="Verdana" panose="020B0604030504040204" pitchFamily="34" charset="0"/>
              </a:rPr>
              <a:t>The flex-wrap property specifies whether the flex items should wrap or not.</a:t>
            </a:r>
          </a:p>
          <a:p>
            <a:pPr marL="0" indent="0">
              <a:buNone/>
            </a:pPr>
            <a:r>
              <a:rPr lang="en-US" sz="1900"/>
              <a:t>"nowrap": This is the default value, which lays out all items in a single line, with no wrapping.</a:t>
            </a:r>
          </a:p>
          <a:p>
            <a:pPr marL="0" indent="0">
              <a:buNone/>
            </a:pPr>
            <a:r>
              <a:rPr lang="en-US" sz="1900"/>
              <a:t>"wrap": This wraps flex items onto multiple lines in the flex container, with the first item on the first line, the second item on the second line, and so on.</a:t>
            </a:r>
          </a:p>
          <a:p>
            <a:pPr marL="0" indent="0">
              <a:buNone/>
            </a:pPr>
            <a:r>
              <a:rPr lang="en-US" sz="1900"/>
              <a:t>"wrap-reverse": Similar to "wrap", this also wraps flex items onto multiple lines, but the order of the items is reversed, with the last item on the first line, the second-to-last item on the second line, and so on.</a:t>
            </a:r>
          </a:p>
          <a:p>
            <a:pPr marL="0" indent="0">
              <a:buNone/>
            </a:pPr>
            <a:endParaRPr lang="en-IL" sz="190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Dictionary Remove">
            <a:extLst>
              <a:ext uri="{FF2B5EF4-FFF2-40B4-BE49-F238E27FC236}">
                <a16:creationId xmlns:a16="http://schemas.microsoft.com/office/drawing/2014/main" id="{C50644E7-392B-FAB3-A9B1-70A8FFD3C7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2432642672"/>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2F6148E-A849-E964-CF4C-28D3D7D3EDB5}"/>
              </a:ext>
            </a:extLst>
          </p:cNvPr>
          <p:cNvSpPr>
            <a:spLocks noGrp="1"/>
          </p:cNvSpPr>
          <p:nvPr>
            <p:ph type="title"/>
          </p:nvPr>
        </p:nvSpPr>
        <p:spPr>
          <a:xfrm>
            <a:off x="838200" y="365125"/>
            <a:ext cx="10515600" cy="1325563"/>
          </a:xfrm>
        </p:spPr>
        <p:txBody>
          <a:bodyPr>
            <a:normAutofit/>
          </a:bodyPr>
          <a:lstStyle/>
          <a:p>
            <a:r>
              <a:rPr lang="en-US" b="0" i="0">
                <a:effectLst/>
                <a:latin typeface="Segoe UI" panose="020B0502040204020203" pitchFamily="34" charset="0"/>
              </a:rPr>
              <a:t>flex-flow</a:t>
            </a:r>
            <a:endParaRPr lang="en-IL" dirty="0"/>
          </a:p>
        </p:txBody>
      </p:sp>
      <p:sp>
        <p:nvSpPr>
          <p:cNvPr id="20"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DFAF8CF-9FD1-33A0-32CC-B718385BD6BB}"/>
              </a:ext>
            </a:extLst>
          </p:cNvPr>
          <p:cNvSpPr>
            <a:spLocks noGrp="1"/>
          </p:cNvSpPr>
          <p:nvPr>
            <p:ph idx="1"/>
          </p:nvPr>
        </p:nvSpPr>
        <p:spPr>
          <a:xfrm>
            <a:off x="838200" y="1825625"/>
            <a:ext cx="10515600" cy="4351338"/>
          </a:xfrm>
        </p:spPr>
        <p:txBody>
          <a:bodyPr>
            <a:normAutofit/>
          </a:bodyPr>
          <a:lstStyle/>
          <a:p>
            <a:r>
              <a:rPr lang="en-US"/>
              <a:t>The flex-flow property is a shorthand property for setting both the flex-direction and flex-wrap properties.</a:t>
            </a:r>
          </a:p>
          <a:p>
            <a:r>
              <a:rPr lang="en-US" b="0" i="0">
                <a:effectLst/>
                <a:latin typeface="Consolas" panose="020B0609020204030204" pitchFamily="49" charset="0"/>
              </a:rPr>
              <a:t>.flex-container {</a:t>
            </a:r>
            <a:br>
              <a:rPr lang="en-US" b="0" i="0">
                <a:effectLst/>
                <a:latin typeface="Consolas" panose="020B0609020204030204" pitchFamily="49" charset="0"/>
              </a:rPr>
            </a:br>
            <a:r>
              <a:rPr lang="en-US" b="0" i="0">
                <a:effectLst/>
                <a:latin typeface="Consolas" panose="020B0609020204030204" pitchFamily="49" charset="0"/>
              </a:rPr>
              <a:t>  display: flex;</a:t>
            </a:r>
            <a:br>
              <a:rPr lang="en-US" b="0" i="0">
                <a:effectLst/>
                <a:latin typeface="Consolas" panose="020B0609020204030204" pitchFamily="49" charset="0"/>
              </a:rPr>
            </a:br>
            <a:r>
              <a:rPr lang="en-US" b="0" i="0">
                <a:effectLst/>
                <a:latin typeface="Consolas" panose="020B0609020204030204" pitchFamily="49" charset="0"/>
              </a:rPr>
              <a:t>  flex-flow: row wrap;</a:t>
            </a:r>
            <a:br>
              <a:rPr lang="en-US" b="0" i="0">
                <a:effectLst/>
                <a:latin typeface="Consolas" panose="020B0609020204030204" pitchFamily="49" charset="0"/>
              </a:rPr>
            </a:br>
            <a:r>
              <a:rPr lang="en-US" b="0" i="0">
                <a:effectLst/>
                <a:latin typeface="Consolas" panose="020B0609020204030204" pitchFamily="49" charset="0"/>
              </a:rPr>
              <a:t>}</a:t>
            </a:r>
            <a:endParaRPr lang="en-IL" dirty="0"/>
          </a:p>
        </p:txBody>
      </p:sp>
    </p:spTree>
    <p:extLst>
      <p:ext uri="{BB962C8B-B14F-4D97-AF65-F5344CB8AC3E}">
        <p14:creationId xmlns:p14="http://schemas.microsoft.com/office/powerpoint/2010/main" val="4261352214"/>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F6148E-A849-E964-CF4C-28D3D7D3EDB5}"/>
              </a:ext>
            </a:extLst>
          </p:cNvPr>
          <p:cNvSpPr>
            <a:spLocks noGrp="1"/>
          </p:cNvSpPr>
          <p:nvPr>
            <p:ph type="title"/>
          </p:nvPr>
        </p:nvSpPr>
        <p:spPr>
          <a:xfrm>
            <a:off x="643467" y="321734"/>
            <a:ext cx="10905066" cy="1135737"/>
          </a:xfrm>
        </p:spPr>
        <p:txBody>
          <a:bodyPr>
            <a:normAutofit/>
          </a:bodyPr>
          <a:lstStyle/>
          <a:p>
            <a:r>
              <a:rPr lang="en-US" sz="3600"/>
              <a:t>justify-content</a:t>
            </a:r>
            <a:endParaRPr lang="en-IL" sz="3600"/>
          </a:p>
        </p:txBody>
      </p:sp>
      <p:sp>
        <p:nvSpPr>
          <p:cNvPr id="3" name="Content Placeholder 2">
            <a:extLst>
              <a:ext uri="{FF2B5EF4-FFF2-40B4-BE49-F238E27FC236}">
                <a16:creationId xmlns:a16="http://schemas.microsoft.com/office/drawing/2014/main" id="{1DFAF8CF-9FD1-33A0-32CC-B718385BD6BB}"/>
              </a:ext>
            </a:extLst>
          </p:cNvPr>
          <p:cNvSpPr>
            <a:spLocks noGrp="1"/>
          </p:cNvSpPr>
          <p:nvPr>
            <p:ph idx="1"/>
          </p:nvPr>
        </p:nvSpPr>
        <p:spPr>
          <a:xfrm>
            <a:off x="643467" y="1782981"/>
            <a:ext cx="10905066" cy="4393982"/>
          </a:xfrm>
        </p:spPr>
        <p:txBody>
          <a:bodyPr>
            <a:normAutofit/>
          </a:bodyPr>
          <a:lstStyle/>
          <a:p>
            <a:r>
              <a:rPr lang="en-US" sz="1600" b="0" i="0">
                <a:effectLst/>
                <a:latin typeface="Verdana" panose="020B0604030504040204" pitchFamily="34" charset="0"/>
              </a:rPr>
              <a:t>The </a:t>
            </a:r>
            <a:r>
              <a:rPr lang="en-US" sz="1600"/>
              <a:t>justify-content</a:t>
            </a:r>
            <a:r>
              <a:rPr lang="en-US" sz="1600" b="0" i="0">
                <a:effectLst/>
                <a:latin typeface="Verdana" panose="020B0604030504040204" pitchFamily="34" charset="0"/>
              </a:rPr>
              <a:t> property is used to align the flex items</a:t>
            </a:r>
          </a:p>
          <a:p>
            <a:pPr marL="0" indent="0">
              <a:buNone/>
            </a:pPr>
            <a:r>
              <a:rPr lang="en-US" sz="1600"/>
              <a:t>"justify-content" is a CSS property that is used to align flex items along the horizontal (main) axis within a flex container. It is used in conjunction with the "display: flex" property.</a:t>
            </a:r>
          </a:p>
          <a:p>
            <a:pPr marL="0" indent="0">
              <a:buNone/>
            </a:pPr>
            <a:r>
              <a:rPr lang="en-US" sz="1600"/>
              <a:t>The available options for the "justify-content" property are:</a:t>
            </a:r>
          </a:p>
          <a:p>
            <a:pPr marL="0" indent="0">
              <a:buNone/>
            </a:pPr>
            <a:r>
              <a:rPr lang="en-US" sz="1600"/>
              <a:t>"flex-start": This aligns flex items to the start of the flex container.</a:t>
            </a:r>
          </a:p>
          <a:p>
            <a:pPr marL="0" indent="0">
              <a:buNone/>
            </a:pPr>
            <a:r>
              <a:rPr lang="en-US" sz="1600"/>
              <a:t>"flex-end": This aligns flex items to the end of the flex container.</a:t>
            </a:r>
          </a:p>
          <a:p>
            <a:pPr marL="0" indent="0">
              <a:buNone/>
            </a:pPr>
            <a:r>
              <a:rPr lang="en-US" sz="1600"/>
              <a:t>"center": This aligns flex items at the center of the flex container.</a:t>
            </a:r>
          </a:p>
          <a:p>
            <a:pPr marL="0" indent="0">
              <a:buNone/>
            </a:pPr>
            <a:r>
              <a:rPr lang="en-US" sz="1600"/>
              <a:t>"space-between": This distributes flex items evenly along the horizontal axis, with the first item at the start of the flex container and the last item at the end.</a:t>
            </a:r>
          </a:p>
          <a:p>
            <a:pPr marL="0" indent="0">
              <a:buNone/>
            </a:pPr>
            <a:r>
              <a:rPr lang="en-US" sz="1600"/>
              <a:t>"space-around": This distributes flex items evenly along the horizontal axis, with equal space around each item.</a:t>
            </a:r>
          </a:p>
          <a:p>
            <a:pPr marL="0" indent="0">
              <a:buNone/>
            </a:pPr>
            <a:r>
              <a:rPr lang="en-US" sz="1600"/>
              <a:t>"space-evenly": This distributes flex items evenly along the horizontal axis, with equal space around each item and between the items.</a:t>
            </a:r>
          </a:p>
          <a:p>
            <a:pPr marL="0" indent="0">
              <a:buNone/>
            </a:pPr>
            <a:r>
              <a:rPr lang="en-US" sz="1600"/>
              <a:t>The justify-content property tells the flex container how should it align the items along the main-axis (horizontal). It can be set as flex-start, flex-end, center, space-between, space-around, space-evenly. This property is used along with display: flex property.</a:t>
            </a:r>
          </a:p>
          <a:p>
            <a:pPr marL="0" indent="0">
              <a:buNone/>
            </a:pPr>
            <a:endParaRPr lang="en-IL" sz="160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3523615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F6148E-A849-E964-CF4C-28D3D7D3EDB5}"/>
              </a:ext>
            </a:extLst>
          </p:cNvPr>
          <p:cNvSpPr>
            <a:spLocks noGrp="1"/>
          </p:cNvSpPr>
          <p:nvPr>
            <p:ph type="title"/>
          </p:nvPr>
        </p:nvSpPr>
        <p:spPr>
          <a:xfrm>
            <a:off x="643467" y="321734"/>
            <a:ext cx="10905066" cy="1135737"/>
          </a:xfrm>
        </p:spPr>
        <p:txBody>
          <a:bodyPr>
            <a:normAutofit/>
          </a:bodyPr>
          <a:lstStyle/>
          <a:p>
            <a:r>
              <a:rPr lang="en-US" sz="3600"/>
              <a:t>align-items</a:t>
            </a:r>
            <a:endParaRPr lang="en-IL" sz="3600"/>
          </a:p>
        </p:txBody>
      </p:sp>
      <p:sp>
        <p:nvSpPr>
          <p:cNvPr id="3" name="Content Placeholder 2">
            <a:extLst>
              <a:ext uri="{FF2B5EF4-FFF2-40B4-BE49-F238E27FC236}">
                <a16:creationId xmlns:a16="http://schemas.microsoft.com/office/drawing/2014/main" id="{1DFAF8CF-9FD1-33A0-32CC-B718385BD6BB}"/>
              </a:ext>
            </a:extLst>
          </p:cNvPr>
          <p:cNvSpPr>
            <a:spLocks noGrp="1"/>
          </p:cNvSpPr>
          <p:nvPr>
            <p:ph idx="1"/>
          </p:nvPr>
        </p:nvSpPr>
        <p:spPr>
          <a:xfrm>
            <a:off x="643467" y="1782981"/>
            <a:ext cx="10905066" cy="4393982"/>
          </a:xfrm>
        </p:spPr>
        <p:txBody>
          <a:bodyPr>
            <a:normAutofit/>
          </a:bodyPr>
          <a:lstStyle/>
          <a:p>
            <a:pPr marL="0" indent="0">
              <a:buNone/>
            </a:pPr>
            <a:r>
              <a:rPr lang="en-US" sz="2000"/>
              <a:t>"align-items" is a CSS property that is used to align flex items along the vertical (cross) axis within a flex container. It is used in conjunction with the "display: flex" property.</a:t>
            </a:r>
          </a:p>
          <a:p>
            <a:r>
              <a:rPr lang="en-US" sz="2000"/>
              <a:t>The available options for the "align-items" property are:</a:t>
            </a:r>
          </a:p>
          <a:p>
            <a:r>
              <a:rPr lang="en-US" sz="2000"/>
              <a:t>"flex-start": This aligns flex items to the start of the flex container along the vertical axis.</a:t>
            </a:r>
          </a:p>
          <a:p>
            <a:r>
              <a:rPr lang="en-US" sz="2000"/>
              <a:t>"flex-end": This aligns flex items to the end of the flex container along the vertical axis.</a:t>
            </a:r>
          </a:p>
          <a:p>
            <a:r>
              <a:rPr lang="en-US" sz="2000"/>
              <a:t>"center": This aligns flex items at the center of the flex container along the vertical axis.</a:t>
            </a:r>
          </a:p>
          <a:p>
            <a:r>
              <a:rPr lang="en-US" sz="2000"/>
              <a:t>"baseline": This aligns flex items along their baselines.</a:t>
            </a:r>
          </a:p>
          <a:p>
            <a:r>
              <a:rPr lang="en-US" sz="2000"/>
              <a:t>"stretch": This stretches flex items to fill the flex container along the vertical axis.</a:t>
            </a:r>
          </a:p>
          <a:p>
            <a:r>
              <a:rPr lang="en-US" sz="2000"/>
              <a:t>The align-items property tells the flex container how should it align the items along the cross-axis (vertical). It can be set as flex-start, flex-end, center, baseline, stretch. This property is used along with display: flex property. It's worth noting that if all the items in a container have a fixed height or width, align-items property won't have any effect.</a:t>
            </a:r>
          </a:p>
          <a:p>
            <a:endParaRPr lang="en-IL" sz="200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64055043"/>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FE77D5-7F87-B4F6-F849-ECFD7F8E0186}"/>
              </a:ext>
            </a:extLst>
          </p:cNvPr>
          <p:cNvPicPr>
            <a:picLocks noChangeAspect="1"/>
          </p:cNvPicPr>
          <p:nvPr/>
        </p:nvPicPr>
        <p:blipFill rotWithShape="1">
          <a:blip r:embed="rId2">
            <a:duotone>
              <a:schemeClr val="bg2">
                <a:shade val="45000"/>
                <a:satMod val="135000"/>
              </a:schemeClr>
              <a:prstClr val="white"/>
            </a:duotone>
          </a:blip>
          <a:srcRect t="10967" b="4764"/>
          <a:stretch/>
        </p:blipFill>
        <p:spPr>
          <a:xfrm>
            <a:off x="20" y="10"/>
            <a:ext cx="12191980" cy="6857990"/>
          </a:xfrm>
          <a:prstGeom prst="rect">
            <a:avLst/>
          </a:prstGeom>
        </p:spPr>
      </p:pic>
      <p:sp>
        <p:nvSpPr>
          <p:cNvPr id="14"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5ED82F-5583-C671-9AB9-658A8975E799}"/>
              </a:ext>
            </a:extLst>
          </p:cNvPr>
          <p:cNvSpPr>
            <a:spLocks noGrp="1"/>
          </p:cNvSpPr>
          <p:nvPr>
            <p:ph type="title"/>
          </p:nvPr>
        </p:nvSpPr>
        <p:spPr>
          <a:xfrm>
            <a:off x="838200" y="365125"/>
            <a:ext cx="10515600" cy="1325563"/>
          </a:xfrm>
        </p:spPr>
        <p:txBody>
          <a:bodyPr>
            <a:normAutofit/>
          </a:bodyPr>
          <a:lstStyle/>
          <a:p>
            <a:r>
              <a:rPr lang="en-US" dirty="0"/>
              <a:t>align-content</a:t>
            </a:r>
            <a:endParaRPr lang="en-IL" dirty="0"/>
          </a:p>
        </p:txBody>
      </p:sp>
      <p:graphicFrame>
        <p:nvGraphicFramePr>
          <p:cNvPr id="5" name="Content Placeholder 2">
            <a:extLst>
              <a:ext uri="{FF2B5EF4-FFF2-40B4-BE49-F238E27FC236}">
                <a16:creationId xmlns:a16="http://schemas.microsoft.com/office/drawing/2014/main" id="{CC019711-4950-9FBD-3D6C-B7E2B0C51352}"/>
              </a:ext>
            </a:extLst>
          </p:cNvPr>
          <p:cNvGraphicFramePr>
            <a:graphicFrameLocks noGrp="1"/>
          </p:cNvGraphicFramePr>
          <p:nvPr>
            <p:ph idx="1"/>
            <p:extLst>
              <p:ext uri="{D42A27DB-BD31-4B8C-83A1-F6EECF244321}">
                <p14:modId xmlns:p14="http://schemas.microsoft.com/office/powerpoint/2010/main" val="145508654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09710018"/>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12192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9F5133-5BA6-00ED-AC53-85625D54D578}"/>
              </a:ext>
            </a:extLst>
          </p:cNvPr>
          <p:cNvSpPr>
            <a:spLocks noGrp="1"/>
          </p:cNvSpPr>
          <p:nvPr>
            <p:ph type="title"/>
          </p:nvPr>
        </p:nvSpPr>
        <p:spPr>
          <a:xfrm>
            <a:off x="526073" y="489439"/>
            <a:ext cx="11139854" cy="930447"/>
          </a:xfrm>
        </p:spPr>
        <p:txBody>
          <a:bodyPr vert="horz" lIns="91440" tIns="45720" rIns="91440" bIns="45720" rtlCol="0" anchor="b">
            <a:normAutofit/>
          </a:bodyPr>
          <a:lstStyle/>
          <a:p>
            <a:pPr algn="ctr"/>
            <a:r>
              <a:rPr lang="en-US" sz="5400" kern="1200">
                <a:solidFill>
                  <a:schemeClr val="bg1"/>
                </a:solidFill>
                <a:latin typeface="+mj-lt"/>
                <a:ea typeface="+mj-ea"/>
                <a:cs typeface="+mj-cs"/>
              </a:rPr>
              <a:t>summery</a:t>
            </a:r>
          </a:p>
        </p:txBody>
      </p:sp>
      <p:cxnSp>
        <p:nvCxnSpPr>
          <p:cNvPr id="14" name="Straight Connector 13">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1479733"/>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Graphical user interface, text, application, email&#10;&#10;Description automatically generated">
            <a:extLst>
              <a:ext uri="{FF2B5EF4-FFF2-40B4-BE49-F238E27FC236}">
                <a16:creationId xmlns:a16="http://schemas.microsoft.com/office/drawing/2014/main" id="{E68D29F5-CC0D-2AEF-2997-CB762B491D0E}"/>
              </a:ext>
            </a:extLst>
          </p:cNvPr>
          <p:cNvPicPr>
            <a:picLocks noGrp="1" noChangeAspect="1"/>
          </p:cNvPicPr>
          <p:nvPr>
            <p:ph idx="1"/>
          </p:nvPr>
        </p:nvPicPr>
        <p:blipFill>
          <a:blip r:embed="rId2"/>
          <a:stretch>
            <a:fillRect/>
          </a:stretch>
        </p:blipFill>
        <p:spPr>
          <a:xfrm>
            <a:off x="592235" y="2427541"/>
            <a:ext cx="10952431" cy="3997637"/>
          </a:xfrm>
          <a:prstGeom prst="rect">
            <a:avLst/>
          </a:prstGeom>
        </p:spPr>
      </p:pic>
    </p:spTree>
    <p:extLst>
      <p:ext uri="{BB962C8B-B14F-4D97-AF65-F5344CB8AC3E}">
        <p14:creationId xmlns:p14="http://schemas.microsoft.com/office/powerpoint/2010/main" val="4130986692"/>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2F35CF7-9A43-F366-955D-9997DA7DE5E7}"/>
              </a:ext>
            </a:extLst>
          </p:cNvPr>
          <p:cNvSpPr>
            <a:spLocks noGrp="1"/>
          </p:cNvSpPr>
          <p:nvPr>
            <p:ph type="title"/>
          </p:nvPr>
        </p:nvSpPr>
        <p:spPr>
          <a:xfrm>
            <a:off x="838200" y="365125"/>
            <a:ext cx="10515600" cy="1325563"/>
          </a:xfrm>
        </p:spPr>
        <p:txBody>
          <a:bodyPr>
            <a:normAutofit/>
          </a:bodyPr>
          <a:lstStyle/>
          <a:p>
            <a:r>
              <a:rPr lang="en-IL"/>
              <a:t>Flex Item</a:t>
            </a:r>
            <a:endParaRPr lang="en-IL"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B6FEE25-19B9-89B9-3B0D-6578B15DF2A1}"/>
              </a:ext>
            </a:extLst>
          </p:cNvPr>
          <p:cNvSpPr>
            <a:spLocks noGrp="1"/>
          </p:cNvSpPr>
          <p:nvPr>
            <p:ph idx="1"/>
          </p:nvPr>
        </p:nvSpPr>
        <p:spPr>
          <a:xfrm>
            <a:off x="838200" y="1825625"/>
            <a:ext cx="10515600" cy="4351338"/>
          </a:xfrm>
        </p:spPr>
        <p:txBody>
          <a:bodyPr>
            <a:normAutofit/>
          </a:bodyPr>
          <a:lstStyle/>
          <a:p>
            <a:r>
              <a:rPr lang="en-US" b="0" i="0">
                <a:effectLst/>
                <a:latin typeface="Verdana" panose="020B0604030504040204" pitchFamily="34" charset="0"/>
              </a:rPr>
              <a:t>The direct child elements of a flex container automatically becomes flexible (flex) items.</a:t>
            </a:r>
          </a:p>
          <a:p>
            <a:br>
              <a:rPr lang="en-US" b="0" i="0">
                <a:effectLst/>
                <a:latin typeface="Verdana" panose="020B0604030504040204" pitchFamily="34" charset="0"/>
              </a:rPr>
            </a:br>
            <a:endParaRPr lang="en-US" b="0" i="0">
              <a:effectLst/>
              <a:latin typeface="Verdana" panose="020B0604030504040204" pitchFamily="34" charset="0"/>
            </a:endParaRPr>
          </a:p>
          <a:p>
            <a:pPr marL="0" indent="0">
              <a:buNone/>
            </a:pPr>
            <a:endParaRPr lang="en-IL" dirty="0"/>
          </a:p>
        </p:txBody>
      </p:sp>
    </p:spTree>
    <p:extLst>
      <p:ext uri="{BB962C8B-B14F-4D97-AF65-F5344CB8AC3E}">
        <p14:creationId xmlns:p14="http://schemas.microsoft.com/office/powerpoint/2010/main" val="244533293"/>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C413610-CA0D-A56A-23C0-68D1AFFFFC54}"/>
              </a:ext>
            </a:extLst>
          </p:cNvPr>
          <p:cNvPicPr>
            <a:picLocks noChangeAspect="1"/>
          </p:cNvPicPr>
          <p:nvPr/>
        </p:nvPicPr>
        <p:blipFill rotWithShape="1">
          <a:blip r:embed="rId2">
            <a:duotone>
              <a:schemeClr val="bg2">
                <a:shade val="45000"/>
                <a:satMod val="135000"/>
              </a:schemeClr>
              <a:prstClr val="white"/>
            </a:duotone>
          </a:blip>
          <a:srcRect t="7930" b="15278"/>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5CF7-9A43-F366-955D-9997DA7DE5E7}"/>
              </a:ext>
            </a:extLst>
          </p:cNvPr>
          <p:cNvSpPr>
            <a:spLocks noGrp="1"/>
          </p:cNvSpPr>
          <p:nvPr>
            <p:ph type="title"/>
          </p:nvPr>
        </p:nvSpPr>
        <p:spPr>
          <a:xfrm>
            <a:off x="838200" y="365125"/>
            <a:ext cx="10515600" cy="1325563"/>
          </a:xfrm>
        </p:spPr>
        <p:txBody>
          <a:bodyPr>
            <a:normAutofit/>
          </a:bodyPr>
          <a:lstStyle/>
          <a:p>
            <a:r>
              <a:rPr lang="en-IL" dirty="0"/>
              <a:t>Flex Item - </a:t>
            </a:r>
            <a:r>
              <a:rPr lang="en-US" b="0" i="0" dirty="0">
                <a:effectLst/>
                <a:latin typeface="Verdana" panose="020B0604030504040204" pitchFamily="34" charset="0"/>
                <a:hlinkClick r:id="rId3">
                  <a:extLst>
                    <a:ext uri="{A12FA001-AC4F-418D-AE19-62706E023703}">
                      <ahyp:hlinkClr xmlns:ahyp="http://schemas.microsoft.com/office/drawing/2018/hyperlinkcolor" val="tx"/>
                    </a:ext>
                  </a:extLst>
                </a:hlinkClick>
              </a:rPr>
              <a:t>order</a:t>
            </a:r>
            <a:endParaRPr lang="en-IL" dirty="0"/>
          </a:p>
        </p:txBody>
      </p:sp>
      <p:graphicFrame>
        <p:nvGraphicFramePr>
          <p:cNvPr id="5" name="Content Placeholder 2">
            <a:extLst>
              <a:ext uri="{FF2B5EF4-FFF2-40B4-BE49-F238E27FC236}">
                <a16:creationId xmlns:a16="http://schemas.microsoft.com/office/drawing/2014/main" id="{BA87846D-B1CF-24CB-1BAB-CFE535C3B768}"/>
              </a:ext>
            </a:extLst>
          </p:cNvPr>
          <p:cNvGraphicFramePr>
            <a:graphicFrameLocks noGrp="1"/>
          </p:cNvGraphicFramePr>
          <p:nvPr>
            <p:ph idx="1"/>
            <p:extLst>
              <p:ext uri="{D42A27DB-BD31-4B8C-83A1-F6EECF244321}">
                <p14:modId xmlns:p14="http://schemas.microsoft.com/office/powerpoint/2010/main" val="197056444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17484453"/>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9A9404C-7D10-D09A-CE36-B80F31ECB360}"/>
              </a:ext>
            </a:extLst>
          </p:cNvPr>
          <p:cNvPicPr>
            <a:picLocks noChangeAspect="1"/>
          </p:cNvPicPr>
          <p:nvPr/>
        </p:nvPicPr>
        <p:blipFill rotWithShape="1">
          <a:blip r:embed="rId2">
            <a:duotone>
              <a:schemeClr val="bg2">
                <a:shade val="45000"/>
                <a:satMod val="135000"/>
              </a:schemeClr>
              <a:prstClr val="white"/>
            </a:duotone>
          </a:blip>
          <a:srcRect t="15730"/>
          <a:stretch/>
        </p:blipFill>
        <p:spPr>
          <a:xfrm>
            <a:off x="20" y="10"/>
            <a:ext cx="12191980" cy="6857990"/>
          </a:xfrm>
          <a:prstGeom prst="rect">
            <a:avLst/>
          </a:prstGeom>
        </p:spPr>
      </p:pic>
      <p:sp>
        <p:nvSpPr>
          <p:cNvPr id="18"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5CF7-9A43-F366-955D-9997DA7DE5E7}"/>
              </a:ext>
            </a:extLst>
          </p:cNvPr>
          <p:cNvSpPr>
            <a:spLocks noGrp="1"/>
          </p:cNvSpPr>
          <p:nvPr>
            <p:ph type="title"/>
          </p:nvPr>
        </p:nvSpPr>
        <p:spPr>
          <a:xfrm>
            <a:off x="838200" y="365125"/>
            <a:ext cx="10515600" cy="1325563"/>
          </a:xfrm>
        </p:spPr>
        <p:txBody>
          <a:bodyPr>
            <a:normAutofit/>
          </a:bodyPr>
          <a:lstStyle/>
          <a:p>
            <a:r>
              <a:rPr lang="en-IL"/>
              <a:t>Flex Item- </a:t>
            </a:r>
            <a:r>
              <a:rPr lang="en-US" b="0" i="0">
                <a:effectLst/>
                <a:latin typeface="Consolas" panose="020B0609020204030204" pitchFamily="49" charset="0"/>
              </a:rPr>
              <a:t>flex-grow</a:t>
            </a:r>
            <a:endParaRPr lang="en-IL" dirty="0"/>
          </a:p>
        </p:txBody>
      </p:sp>
      <p:graphicFrame>
        <p:nvGraphicFramePr>
          <p:cNvPr id="5" name="Content Placeholder 2">
            <a:extLst>
              <a:ext uri="{FF2B5EF4-FFF2-40B4-BE49-F238E27FC236}">
                <a16:creationId xmlns:a16="http://schemas.microsoft.com/office/drawing/2014/main" id="{945E3B09-D4D0-74E7-AE4F-5B53EE6721EF}"/>
              </a:ext>
            </a:extLst>
          </p:cNvPr>
          <p:cNvGraphicFramePr>
            <a:graphicFrameLocks noGrp="1"/>
          </p:cNvGraphicFramePr>
          <p:nvPr>
            <p:ph idx="1"/>
            <p:extLst>
              <p:ext uri="{D42A27DB-BD31-4B8C-83A1-F6EECF244321}">
                <p14:modId xmlns:p14="http://schemas.microsoft.com/office/powerpoint/2010/main" val="250181077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1320536"/>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2F82D0-7C49-E113-854A-64D310A5FC4F}"/>
              </a:ext>
            </a:extLst>
          </p:cNvPr>
          <p:cNvPicPr>
            <a:picLocks noChangeAspect="1"/>
          </p:cNvPicPr>
          <p:nvPr/>
        </p:nvPicPr>
        <p:blipFill rotWithShape="1">
          <a:blip r:embed="rId2">
            <a:duotone>
              <a:schemeClr val="bg2">
                <a:shade val="45000"/>
                <a:satMod val="135000"/>
              </a:schemeClr>
              <a:prstClr val="white"/>
            </a:duotone>
          </a:blip>
          <a:srcRect b="25000"/>
          <a:stretch/>
        </p:blipFill>
        <p:spPr>
          <a:xfrm>
            <a:off x="20" y="10"/>
            <a:ext cx="12191980" cy="6857990"/>
          </a:xfrm>
          <a:prstGeom prst="rect">
            <a:avLst/>
          </a:prstGeom>
        </p:spPr>
      </p:pic>
      <p:sp>
        <p:nvSpPr>
          <p:cNvPr id="18"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5CF7-9A43-F366-955D-9997DA7DE5E7}"/>
              </a:ext>
            </a:extLst>
          </p:cNvPr>
          <p:cNvSpPr>
            <a:spLocks noGrp="1"/>
          </p:cNvSpPr>
          <p:nvPr>
            <p:ph type="title"/>
          </p:nvPr>
        </p:nvSpPr>
        <p:spPr>
          <a:xfrm>
            <a:off x="838200" y="365125"/>
            <a:ext cx="10515600" cy="1325563"/>
          </a:xfrm>
        </p:spPr>
        <p:txBody>
          <a:bodyPr>
            <a:normAutofit/>
          </a:bodyPr>
          <a:lstStyle/>
          <a:p>
            <a:r>
              <a:rPr lang="en-IL"/>
              <a:t>Flex Item- </a:t>
            </a:r>
            <a:r>
              <a:rPr lang="en-US" b="0" i="0">
                <a:effectLst/>
                <a:latin typeface="Consolas" panose="020B0609020204030204" pitchFamily="49" charset="0"/>
              </a:rPr>
              <a:t>flex-grow</a:t>
            </a:r>
            <a:endParaRPr lang="en-IL" dirty="0"/>
          </a:p>
        </p:txBody>
      </p:sp>
      <p:graphicFrame>
        <p:nvGraphicFramePr>
          <p:cNvPr id="5" name="Content Placeholder 2">
            <a:extLst>
              <a:ext uri="{FF2B5EF4-FFF2-40B4-BE49-F238E27FC236}">
                <a16:creationId xmlns:a16="http://schemas.microsoft.com/office/drawing/2014/main" id="{D463C417-3FF0-1B87-13E5-170B20D2AEA8}"/>
              </a:ext>
            </a:extLst>
          </p:cNvPr>
          <p:cNvGraphicFramePr>
            <a:graphicFrameLocks noGrp="1"/>
          </p:cNvGraphicFramePr>
          <p:nvPr>
            <p:ph idx="1"/>
            <p:extLst>
              <p:ext uri="{D42A27DB-BD31-4B8C-83A1-F6EECF244321}">
                <p14:modId xmlns:p14="http://schemas.microsoft.com/office/powerpoint/2010/main" val="222113716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1402424"/>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F35CF7-9A43-F366-955D-9997DA7DE5E7}"/>
              </a:ext>
            </a:extLst>
          </p:cNvPr>
          <p:cNvSpPr>
            <a:spLocks noGrp="1"/>
          </p:cNvSpPr>
          <p:nvPr>
            <p:ph type="title"/>
          </p:nvPr>
        </p:nvSpPr>
        <p:spPr>
          <a:xfrm>
            <a:off x="643467" y="321734"/>
            <a:ext cx="10905066" cy="1135737"/>
          </a:xfrm>
        </p:spPr>
        <p:txBody>
          <a:bodyPr>
            <a:normAutofit/>
          </a:bodyPr>
          <a:lstStyle/>
          <a:p>
            <a:r>
              <a:rPr lang="en-IL" sz="3600"/>
              <a:t>Flex Item - </a:t>
            </a:r>
            <a:r>
              <a:rPr lang="en-US" sz="3600"/>
              <a:t>flex-shrink</a:t>
            </a:r>
            <a:endParaRPr lang="en-IL" sz="3600"/>
          </a:p>
        </p:txBody>
      </p:sp>
      <p:sp>
        <p:nvSpPr>
          <p:cNvPr id="3" name="Content Placeholder 2">
            <a:extLst>
              <a:ext uri="{FF2B5EF4-FFF2-40B4-BE49-F238E27FC236}">
                <a16:creationId xmlns:a16="http://schemas.microsoft.com/office/drawing/2014/main" id="{2B6FEE25-19B9-89B9-3B0D-6578B15DF2A1}"/>
              </a:ext>
            </a:extLst>
          </p:cNvPr>
          <p:cNvSpPr>
            <a:spLocks noGrp="1"/>
          </p:cNvSpPr>
          <p:nvPr>
            <p:ph idx="1"/>
          </p:nvPr>
        </p:nvSpPr>
        <p:spPr>
          <a:xfrm>
            <a:off x="643467" y="1782981"/>
            <a:ext cx="10905066" cy="4393982"/>
          </a:xfrm>
        </p:spPr>
        <p:txBody>
          <a:bodyPr>
            <a:normAutofit/>
          </a:bodyPr>
          <a:lstStyle/>
          <a:p>
            <a:r>
              <a:rPr lang="en-US" sz="2000" b="0" i="0">
                <a:effectLst/>
                <a:latin typeface="Verdana" panose="020B0604030504040204" pitchFamily="34" charset="0"/>
              </a:rPr>
              <a:t>"flex-shrink" is a CSS property in Flexbox that is used to control the proportion of space that a flex item will shrink relative to the other flex items in a flex container. It works in a similar way to the "flex-grow" property, but it is used to control shrinking instead of growing.</a:t>
            </a:r>
          </a:p>
          <a:p>
            <a:r>
              <a:rPr lang="en-US" sz="2000" b="0" i="0">
                <a:effectLst/>
                <a:latin typeface="Verdana" panose="020B0604030504040204" pitchFamily="34" charset="0"/>
              </a:rPr>
              <a:t>The "flex-shrink" property also accepts a numerical value as its value, with a default value of 1. A value of 1 means that the flex item will shrink at the same rate as the other flex items in the container. A value of 2 means that the flex item will shrink twice as much as the other flex items, and so on. A value of 0 means that the flex item will not shrink at all.</a:t>
            </a:r>
          </a:p>
          <a:p>
            <a:br>
              <a:rPr lang="en-US" sz="2000" b="0" i="0">
                <a:effectLst/>
                <a:latin typeface="Verdana" panose="020B0604030504040204" pitchFamily="34" charset="0"/>
              </a:rPr>
            </a:br>
            <a:endParaRPr lang="en-US" sz="2000" b="0" i="0">
              <a:effectLst/>
              <a:latin typeface="Verdana" panose="020B0604030504040204" pitchFamily="34" charset="0"/>
            </a:endParaRPr>
          </a:p>
          <a:p>
            <a:pPr marL="0" indent="0">
              <a:buNone/>
            </a:pPr>
            <a:endParaRPr lang="en-IL" sz="2000"/>
          </a:p>
        </p:txBody>
      </p:sp>
      <p:sp>
        <p:nvSpPr>
          <p:cNvPr id="23"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81040309"/>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2F35CF7-9A43-F366-955D-9997DA7DE5E7}"/>
              </a:ext>
            </a:extLst>
          </p:cNvPr>
          <p:cNvSpPr>
            <a:spLocks noGrp="1"/>
          </p:cNvSpPr>
          <p:nvPr>
            <p:ph type="title"/>
          </p:nvPr>
        </p:nvSpPr>
        <p:spPr>
          <a:xfrm>
            <a:off x="643467" y="321734"/>
            <a:ext cx="10905066" cy="1135737"/>
          </a:xfrm>
        </p:spPr>
        <p:txBody>
          <a:bodyPr>
            <a:normAutofit/>
          </a:bodyPr>
          <a:lstStyle/>
          <a:p>
            <a:r>
              <a:rPr lang="en-IL" sz="3600"/>
              <a:t>Flex Item – grow vs shrink</a:t>
            </a:r>
          </a:p>
        </p:txBody>
      </p:sp>
      <p:sp>
        <p:nvSpPr>
          <p:cNvPr id="3" name="Content Placeholder 2">
            <a:extLst>
              <a:ext uri="{FF2B5EF4-FFF2-40B4-BE49-F238E27FC236}">
                <a16:creationId xmlns:a16="http://schemas.microsoft.com/office/drawing/2014/main" id="{2B6FEE25-19B9-89B9-3B0D-6578B15DF2A1}"/>
              </a:ext>
            </a:extLst>
          </p:cNvPr>
          <p:cNvSpPr>
            <a:spLocks noGrp="1"/>
          </p:cNvSpPr>
          <p:nvPr>
            <p:ph idx="1"/>
          </p:nvPr>
        </p:nvSpPr>
        <p:spPr>
          <a:xfrm>
            <a:off x="643467" y="1782981"/>
            <a:ext cx="10905066" cy="4393982"/>
          </a:xfrm>
        </p:spPr>
        <p:txBody>
          <a:bodyPr>
            <a:normAutofit/>
          </a:bodyPr>
          <a:lstStyle/>
          <a:p>
            <a:pPr marL="0" indent="0">
              <a:buNone/>
            </a:pPr>
            <a:r>
              <a:rPr lang="en-US" sz="2000" b="0" i="0">
                <a:effectLst/>
                <a:latin typeface="Söhne"/>
              </a:rPr>
              <a:t>The main difference between "flex-grow" and "flex-shrink" is that the "flex-grow" property controls how much a flex item will grow when there is extra space in the flex container, while the "flex-shrink" property controls how much a flex item will shrink when there is not enough space in the container.</a:t>
            </a:r>
            <a:br>
              <a:rPr lang="en-US" sz="2000" b="0" i="0">
                <a:effectLst/>
                <a:latin typeface="Verdana" panose="020B0604030504040204" pitchFamily="34" charset="0"/>
              </a:rPr>
            </a:br>
            <a:endParaRPr lang="en-US" sz="2000" b="0" i="0">
              <a:effectLst/>
              <a:latin typeface="Verdana" panose="020B0604030504040204" pitchFamily="34" charset="0"/>
            </a:endParaRPr>
          </a:p>
          <a:p>
            <a:pPr marL="0" indent="0">
              <a:buNone/>
            </a:pPr>
            <a:r>
              <a:rPr lang="en-US" sz="2000"/>
              <a:t>For example, if you have a flex container with three flex items, and you set the "flex-grow" value of the first item to 1, the second item to 2 and the third item to 3, and the "flex-shrink" value of the first item to 1, the second item to 2 and the third item to 3. The second item will grow twice as much as the first item and shrink twice as much as the first item and the third item will grow three times as much as the first item and shrink three times as much as the first item.</a:t>
            </a:r>
            <a:endParaRPr lang="en-IL" sz="2000"/>
          </a:p>
        </p:txBody>
      </p:sp>
      <p:sp>
        <p:nvSpPr>
          <p:cNvPr id="23"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2355787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88267ED-580F-5007-CC8E-D72D439D2186}"/>
              </a:ext>
            </a:extLst>
          </p:cNvPr>
          <p:cNvSpPr>
            <a:spLocks noGrp="1"/>
          </p:cNvSpPr>
          <p:nvPr>
            <p:ph type="title"/>
          </p:nvPr>
        </p:nvSpPr>
        <p:spPr>
          <a:xfrm>
            <a:off x="643467" y="321734"/>
            <a:ext cx="10905066" cy="1135737"/>
          </a:xfrm>
        </p:spPr>
        <p:txBody>
          <a:bodyPr>
            <a:normAutofit/>
          </a:bodyPr>
          <a:lstStyle/>
          <a:p>
            <a:r>
              <a:rPr lang="en-US" sz="3600"/>
              <a:t>S</a:t>
            </a:r>
            <a:r>
              <a:rPr lang="en-IL" sz="3600"/>
              <a:t>hrink vs grow summary</a:t>
            </a:r>
          </a:p>
        </p:txBody>
      </p:sp>
      <p:sp>
        <p:nvSpPr>
          <p:cNvPr id="3" name="Content Placeholder 2">
            <a:extLst>
              <a:ext uri="{FF2B5EF4-FFF2-40B4-BE49-F238E27FC236}">
                <a16:creationId xmlns:a16="http://schemas.microsoft.com/office/drawing/2014/main" id="{7B043C9D-6544-F1B5-5448-ACEBACDC6CAF}"/>
              </a:ext>
            </a:extLst>
          </p:cNvPr>
          <p:cNvSpPr>
            <a:spLocks noGrp="1"/>
          </p:cNvSpPr>
          <p:nvPr>
            <p:ph idx="1"/>
          </p:nvPr>
        </p:nvSpPr>
        <p:spPr>
          <a:xfrm>
            <a:off x="643467" y="1782981"/>
            <a:ext cx="10905066" cy="4393982"/>
          </a:xfrm>
        </p:spPr>
        <p:txBody>
          <a:bodyPr>
            <a:normAutofit/>
          </a:bodyPr>
          <a:lstStyle/>
          <a:p>
            <a:pPr marL="0" indent="0">
              <a:buNone/>
            </a:pPr>
            <a:r>
              <a:rPr lang="en-US" sz="2000"/>
              <a:t>In summary, "flex-shrink" is a CSS property in Flexbox that controls the proportion of space that a flex item will shrink relative to the other flex items in a flex container. It works in a similar way to "flex-grow" but instead of growing, it controls shrinking. The main difference between "flex-grow" and "flex-shrink" is that the "flex-grow" property controls how much a flex item will grow when there is extra space in the flex container, while the "flex-shrink" property controls how much a flex item will shrink when there is not enough space in the container.</a:t>
            </a:r>
            <a:endParaRPr lang="en-IL" sz="200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53450388"/>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2C6AD-6032-022F-4B2D-6B101E3F1EB0}"/>
              </a:ext>
            </a:extLst>
          </p:cNvPr>
          <p:cNvSpPr>
            <a:spLocks noGrp="1"/>
          </p:cNvSpPr>
          <p:nvPr>
            <p:ph type="title"/>
          </p:nvPr>
        </p:nvSpPr>
        <p:spPr/>
        <p:txBody>
          <a:bodyPr/>
          <a:lstStyle/>
          <a:p>
            <a:r>
              <a:rPr lang="en-US"/>
              <a:t>F</a:t>
            </a:r>
            <a:r>
              <a:rPr lang="en-IL"/>
              <a:t>lex item - </a:t>
            </a:r>
            <a:r>
              <a:rPr lang="en-US" b="0" i="0">
                <a:solidFill>
                  <a:srgbClr val="000000"/>
                </a:solidFill>
                <a:effectLst/>
                <a:latin typeface="Segoe UI" panose="020B0502040204020203" pitchFamily="34" charset="0"/>
              </a:rPr>
              <a:t>align-self</a:t>
            </a:r>
            <a:endParaRPr lang="en-IL" dirty="0"/>
          </a:p>
        </p:txBody>
      </p:sp>
      <p:graphicFrame>
        <p:nvGraphicFramePr>
          <p:cNvPr id="5" name="Content Placeholder 2">
            <a:extLst>
              <a:ext uri="{FF2B5EF4-FFF2-40B4-BE49-F238E27FC236}">
                <a16:creationId xmlns:a16="http://schemas.microsoft.com/office/drawing/2014/main" id="{C406D5A0-B103-5B7D-ADB5-A9403EC2955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5431536"/>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12192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DC1397-56B4-C299-CBF7-3F603C1A7E26}"/>
              </a:ext>
            </a:extLst>
          </p:cNvPr>
          <p:cNvSpPr>
            <a:spLocks noGrp="1"/>
          </p:cNvSpPr>
          <p:nvPr>
            <p:ph type="title"/>
          </p:nvPr>
        </p:nvSpPr>
        <p:spPr>
          <a:xfrm>
            <a:off x="526073" y="489439"/>
            <a:ext cx="11139854" cy="930447"/>
          </a:xfrm>
        </p:spPr>
        <p:txBody>
          <a:bodyPr vert="horz" lIns="91440" tIns="45720" rIns="91440" bIns="45720" rtlCol="0" anchor="b">
            <a:normAutofit/>
          </a:bodyPr>
          <a:lstStyle/>
          <a:p>
            <a:pPr algn="ctr"/>
            <a:r>
              <a:rPr lang="en-US" sz="5400" kern="1200">
                <a:solidFill>
                  <a:schemeClr val="bg1"/>
                </a:solidFill>
                <a:latin typeface="+mj-lt"/>
                <a:ea typeface="+mj-ea"/>
                <a:cs typeface="+mj-cs"/>
              </a:rPr>
              <a:t>Flex item summary</a:t>
            </a:r>
          </a:p>
        </p:txBody>
      </p:sp>
      <p:cxnSp>
        <p:nvCxnSpPr>
          <p:cNvPr id="14" name="Straight Connector 13">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1479733"/>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Graphical user interface, text, application, email&#10;&#10;Description automatically generated">
            <a:extLst>
              <a:ext uri="{FF2B5EF4-FFF2-40B4-BE49-F238E27FC236}">
                <a16:creationId xmlns:a16="http://schemas.microsoft.com/office/drawing/2014/main" id="{528F7B70-B48D-E3C4-3F00-D1040029AA11}"/>
              </a:ext>
            </a:extLst>
          </p:cNvPr>
          <p:cNvPicPr>
            <a:picLocks noGrp="1" noChangeAspect="1"/>
          </p:cNvPicPr>
          <p:nvPr>
            <p:ph idx="1"/>
          </p:nvPr>
        </p:nvPicPr>
        <p:blipFill>
          <a:blip r:embed="rId2"/>
          <a:stretch>
            <a:fillRect/>
          </a:stretch>
        </p:blipFill>
        <p:spPr>
          <a:xfrm>
            <a:off x="320040" y="2629981"/>
            <a:ext cx="11496821" cy="3592757"/>
          </a:xfrm>
          <a:prstGeom prst="rect">
            <a:avLst/>
          </a:prstGeom>
        </p:spPr>
      </p:pic>
    </p:spTree>
    <p:extLst>
      <p:ext uri="{BB962C8B-B14F-4D97-AF65-F5344CB8AC3E}">
        <p14:creationId xmlns:p14="http://schemas.microsoft.com/office/powerpoint/2010/main" val="3806300795"/>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4" descr="3D box skeletons">
            <a:extLst>
              <a:ext uri="{FF2B5EF4-FFF2-40B4-BE49-F238E27FC236}">
                <a16:creationId xmlns:a16="http://schemas.microsoft.com/office/drawing/2014/main" id="{E95D663E-17C6-29B4-AF9F-556865768FD6}"/>
              </a:ext>
            </a:extLst>
          </p:cNvPr>
          <p:cNvPicPr>
            <a:picLocks noChangeAspect="1"/>
          </p:cNvPicPr>
          <p:nvPr/>
        </p:nvPicPr>
        <p:blipFill rotWithShape="1">
          <a:blip r:embed="rId2">
            <a:duotone>
              <a:schemeClr val="bg2">
                <a:shade val="45000"/>
                <a:satMod val="135000"/>
              </a:schemeClr>
              <a:prstClr val="white"/>
            </a:duotone>
          </a:blip>
          <a:srcRect t="12774" b="2956"/>
          <a:stretch/>
        </p:blipFill>
        <p:spPr>
          <a:xfrm>
            <a:off x="20" y="10"/>
            <a:ext cx="12191980" cy="6857990"/>
          </a:xfrm>
          <a:prstGeom prst="rect">
            <a:avLst/>
          </a:prstGeom>
        </p:spPr>
      </p:pic>
      <p:sp>
        <p:nvSpPr>
          <p:cNvPr id="12" name="Rectangle 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A3E78B-84A3-BD6E-A0AC-C52F6C49D311}"/>
              </a:ext>
            </a:extLst>
          </p:cNvPr>
          <p:cNvSpPr>
            <a:spLocks noGrp="1"/>
          </p:cNvSpPr>
          <p:nvPr>
            <p:ph type="title"/>
          </p:nvPr>
        </p:nvSpPr>
        <p:spPr>
          <a:xfrm>
            <a:off x="838200" y="365125"/>
            <a:ext cx="10515600" cy="1325563"/>
          </a:xfrm>
        </p:spPr>
        <p:txBody>
          <a:bodyPr>
            <a:normAutofit/>
          </a:bodyPr>
          <a:lstStyle/>
          <a:p>
            <a:r>
              <a:rPr lang="en-US" dirty="0"/>
              <a:t>inline-flex</a:t>
            </a:r>
            <a:endParaRPr lang="en-IL" dirty="0"/>
          </a:p>
        </p:txBody>
      </p:sp>
      <p:sp>
        <p:nvSpPr>
          <p:cNvPr id="3" name="Content Placeholder 2">
            <a:extLst>
              <a:ext uri="{FF2B5EF4-FFF2-40B4-BE49-F238E27FC236}">
                <a16:creationId xmlns:a16="http://schemas.microsoft.com/office/drawing/2014/main" id="{D7AB8825-DCE5-013E-49BC-CEABE4EE2972}"/>
              </a:ext>
            </a:extLst>
          </p:cNvPr>
          <p:cNvSpPr>
            <a:spLocks noGrp="1"/>
          </p:cNvSpPr>
          <p:nvPr>
            <p:ph idx="1"/>
          </p:nvPr>
        </p:nvSpPr>
        <p:spPr>
          <a:xfrm>
            <a:off x="838200" y="1825625"/>
            <a:ext cx="10515600" cy="4351338"/>
          </a:xfrm>
        </p:spPr>
        <p:txBody>
          <a:bodyPr>
            <a:normAutofit/>
          </a:bodyPr>
          <a:lstStyle/>
          <a:p>
            <a:pPr marL="0" indent="0">
              <a:buNone/>
            </a:pPr>
            <a:r>
              <a:rPr lang="en-US" sz="2200"/>
              <a:t>The "display" property in CSS determines how an element is rendered on the web page, and it has several different values, including "flex" and "inline-flex".</a:t>
            </a:r>
          </a:p>
          <a:p>
            <a:pPr marL="0" indent="0">
              <a:buNone/>
            </a:pPr>
            <a:r>
              <a:rPr lang="en-US" sz="2200"/>
              <a:t>The "flex" value is used to create a flex container, which is a block-level element that lays out its children (flex items) in a flexbox layout. Flex containers take up the full width of their parent container, and they can have a fixed or a flexible height.</a:t>
            </a:r>
          </a:p>
          <a:p>
            <a:pPr marL="0" indent="0">
              <a:buNone/>
            </a:pPr>
            <a:r>
              <a:rPr lang="en-US" sz="2200"/>
              <a:t>The "inline-flex" value, on the other hand, creates an inline-level flex container, which is similar to a flex container, but it is rendered as an inline element. Inline-flex containers take up only the width of their contents, and they can have a fixed or a flexible height.</a:t>
            </a:r>
          </a:p>
          <a:p>
            <a:pPr marL="0" indent="0">
              <a:buNone/>
            </a:pPr>
            <a:r>
              <a:rPr lang="en-US" sz="2200"/>
              <a:t>In summary, the difference between "flex" and "inline-flex" is that "flex" creates a block-level flex container, while "inline-flex" creates an inline-level flex container. Flex containers take up the full width of their parent container, while inline-flex containers take up only the width of their contents. Both can have a fixed or a flexible height.</a:t>
            </a:r>
          </a:p>
          <a:p>
            <a:pPr marL="0" indent="0">
              <a:buNone/>
            </a:pPr>
            <a:endParaRPr lang="en-IL" sz="2200"/>
          </a:p>
        </p:txBody>
      </p:sp>
    </p:spTree>
    <p:extLst>
      <p:ext uri="{BB962C8B-B14F-4D97-AF65-F5344CB8AC3E}">
        <p14:creationId xmlns:p14="http://schemas.microsoft.com/office/powerpoint/2010/main" val="367827993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4BF5773-C218-A69A-B731-1775DC3900A6}"/>
              </a:ext>
            </a:extLst>
          </p:cNvPr>
          <p:cNvSpPr>
            <a:spLocks noGrp="1"/>
          </p:cNvSpPr>
          <p:nvPr>
            <p:ph type="title"/>
          </p:nvPr>
        </p:nvSpPr>
        <p:spPr>
          <a:xfrm>
            <a:off x="643467" y="321734"/>
            <a:ext cx="10905066" cy="1135737"/>
          </a:xfrm>
        </p:spPr>
        <p:txBody>
          <a:bodyPr>
            <a:normAutofit/>
          </a:bodyPr>
          <a:lstStyle/>
          <a:p>
            <a:r>
              <a:rPr lang="en-US" sz="3600"/>
              <a:t>Flex-item: flex-basis</a:t>
            </a:r>
            <a:endParaRPr lang="en-IL" sz="3600"/>
          </a:p>
        </p:txBody>
      </p:sp>
      <p:sp>
        <p:nvSpPr>
          <p:cNvPr id="3" name="Content Placeholder 2">
            <a:extLst>
              <a:ext uri="{FF2B5EF4-FFF2-40B4-BE49-F238E27FC236}">
                <a16:creationId xmlns:a16="http://schemas.microsoft.com/office/drawing/2014/main" id="{41435DC0-C46F-8D6B-3275-5D74F488200F}"/>
              </a:ext>
            </a:extLst>
          </p:cNvPr>
          <p:cNvSpPr>
            <a:spLocks noGrp="1"/>
          </p:cNvSpPr>
          <p:nvPr>
            <p:ph idx="1"/>
          </p:nvPr>
        </p:nvSpPr>
        <p:spPr>
          <a:xfrm>
            <a:off x="643467" y="1782981"/>
            <a:ext cx="10905066" cy="4393982"/>
          </a:xfrm>
        </p:spPr>
        <p:txBody>
          <a:bodyPr>
            <a:normAutofit/>
          </a:bodyPr>
          <a:lstStyle/>
          <a:p>
            <a:pPr marL="0" indent="0">
              <a:buNone/>
            </a:pPr>
            <a:r>
              <a:rPr lang="en-US" sz="2000"/>
              <a:t>The flex-basis property in CSS is used to specify the initial main size of a flex item. It works in conjunction with the flex-grow and flex-shrink properties to determine the final size of a flex item. The flex-basis property can be set using a length value (e.g. pixels, ems), a percentage, or the keyword "auto". The default value for flex-basis is "auto".</a:t>
            </a:r>
          </a:p>
          <a:p>
            <a:pPr marL="0" indent="0">
              <a:buNone/>
            </a:pPr>
            <a:r>
              <a:rPr lang="en-US" sz="2000"/>
              <a:t>If the flex-basis value is set to "auto", the main size of the flex item will be the size of its content. If the value is set to a length or percentage, the main size of the flex item will be the specified value.</a:t>
            </a:r>
          </a:p>
          <a:p>
            <a:pPr marL="0" indent="0">
              <a:buNone/>
            </a:pPr>
            <a:r>
              <a:rPr lang="en-US" sz="2000"/>
              <a:t>The flex-basis property can be used to control the size of flex items in a flex container, allowing you to create flexible, responsive layouts.</a:t>
            </a:r>
          </a:p>
          <a:p>
            <a:pPr marL="0" indent="0">
              <a:buNone/>
            </a:pPr>
            <a:endParaRPr lang="en-IL" sz="2000"/>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3153606"/>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descr="Dumbbells on a gym floor">
            <a:extLst>
              <a:ext uri="{FF2B5EF4-FFF2-40B4-BE49-F238E27FC236}">
                <a16:creationId xmlns:a16="http://schemas.microsoft.com/office/drawing/2014/main" id="{364B9890-6830-B1BF-821C-791F3BA2D945}"/>
              </a:ext>
            </a:extLst>
          </p:cNvPr>
          <p:cNvPicPr>
            <a:picLocks noChangeAspect="1"/>
          </p:cNvPicPr>
          <p:nvPr/>
        </p:nvPicPr>
        <p:blipFill rotWithShape="1">
          <a:blip r:embed="rId2">
            <a:alphaModFix amt="35000"/>
          </a:blip>
          <a:srcRect r="1" b="15125"/>
          <a:stretch/>
        </p:blipFill>
        <p:spPr>
          <a:xfrm>
            <a:off x="-4243" y="10"/>
            <a:ext cx="12196243" cy="6857990"/>
          </a:xfrm>
          <a:prstGeom prst="rect">
            <a:avLst/>
          </a:prstGeom>
        </p:spPr>
      </p:pic>
      <p:sp>
        <p:nvSpPr>
          <p:cNvPr id="2" name="Title 1">
            <a:extLst>
              <a:ext uri="{FF2B5EF4-FFF2-40B4-BE49-F238E27FC236}">
                <a16:creationId xmlns:a16="http://schemas.microsoft.com/office/drawing/2014/main" id="{FCADE6E5-C112-DE0B-D5BF-B06648AA711E}"/>
              </a:ext>
            </a:extLst>
          </p:cNvPr>
          <p:cNvSpPr>
            <a:spLocks noGrp="1"/>
          </p:cNvSpPr>
          <p:nvPr>
            <p:ph type="title"/>
          </p:nvPr>
        </p:nvSpPr>
        <p:spPr>
          <a:xfrm>
            <a:off x="643467" y="321734"/>
            <a:ext cx="10905066" cy="1135737"/>
          </a:xfrm>
        </p:spPr>
        <p:txBody>
          <a:bodyPr>
            <a:normAutofit/>
          </a:bodyPr>
          <a:lstStyle/>
          <a:p>
            <a:r>
              <a:rPr lang="en-US" sz="3600"/>
              <a:t>F</a:t>
            </a:r>
            <a:r>
              <a:rPr lang="en-IL" sz="3600"/>
              <a:t>lex-item- flex</a:t>
            </a:r>
          </a:p>
        </p:txBody>
      </p:sp>
      <p:sp>
        <p:nvSpPr>
          <p:cNvPr id="3" name="Content Placeholder 2">
            <a:extLst>
              <a:ext uri="{FF2B5EF4-FFF2-40B4-BE49-F238E27FC236}">
                <a16:creationId xmlns:a16="http://schemas.microsoft.com/office/drawing/2014/main" id="{E5FC6E68-F44F-26BB-1257-1F06F25CB2BF}"/>
              </a:ext>
            </a:extLst>
          </p:cNvPr>
          <p:cNvSpPr>
            <a:spLocks noGrp="1"/>
          </p:cNvSpPr>
          <p:nvPr>
            <p:ph idx="1"/>
          </p:nvPr>
        </p:nvSpPr>
        <p:spPr>
          <a:xfrm>
            <a:off x="643467" y="1782981"/>
            <a:ext cx="10905066" cy="4393982"/>
          </a:xfrm>
        </p:spPr>
        <p:txBody>
          <a:bodyPr>
            <a:normAutofit/>
          </a:bodyPr>
          <a:lstStyle/>
          <a:p>
            <a:pPr marL="0" indent="0">
              <a:buNone/>
            </a:pPr>
            <a:r>
              <a:rPr lang="en-US" sz="2000"/>
              <a:t>The flex property in CSS is a shorthand property that sets the flex item's main size, flex basis, and flexibility. It is a shorthand for the flex-grow, flex-shrink, and flex-basis properties, and sets the flexibility of a flex item. The flex property can be used to specify the proportion of space that an element should take up within a flex container. For example, if all flex items have a flex value of 1, they will all take up an equal amount of space within the container. The flex-basis property specifies the initial size of a flex item before any free space is distributed according to the flex-grow and flex-shrink properties.</a:t>
            </a:r>
            <a:endParaRPr lang="en-IL" sz="2000"/>
          </a:p>
        </p:txBody>
      </p:sp>
      <p:sp>
        <p:nvSpPr>
          <p:cNvPr id="24" name="Rectangle 2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197116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B859-3681-D616-FA9C-E61AA368F50A}"/>
              </a:ext>
            </a:extLst>
          </p:cNvPr>
          <p:cNvSpPr>
            <a:spLocks noGrp="1"/>
          </p:cNvSpPr>
          <p:nvPr>
            <p:ph type="title"/>
          </p:nvPr>
        </p:nvSpPr>
        <p:spPr>
          <a:xfrm>
            <a:off x="1286934" y="1286934"/>
            <a:ext cx="9618132" cy="790147"/>
          </a:xfrm>
          <a:solidFill>
            <a:schemeClr val="tx1"/>
          </a:solidFill>
        </p:spPr>
        <p:txBody>
          <a:bodyPr>
            <a:normAutofit/>
          </a:bodyPr>
          <a:lstStyle/>
          <a:p>
            <a:pPr algn="ctr"/>
            <a:r>
              <a:rPr lang="en-US" sz="3200">
                <a:solidFill>
                  <a:schemeClr val="bg1"/>
                </a:solidFill>
              </a:rPr>
              <a:t>L</a:t>
            </a:r>
            <a:r>
              <a:rPr lang="en-IL" sz="3200">
                <a:solidFill>
                  <a:schemeClr val="bg1"/>
                </a:solidFill>
              </a:rPr>
              <a:t>ink to id ?</a:t>
            </a:r>
          </a:p>
        </p:txBody>
      </p:sp>
      <p:sp>
        <p:nvSpPr>
          <p:cNvPr id="3" name="Content Placeholder 2">
            <a:extLst>
              <a:ext uri="{FF2B5EF4-FFF2-40B4-BE49-F238E27FC236}">
                <a16:creationId xmlns:a16="http://schemas.microsoft.com/office/drawing/2014/main" id="{CE861F15-46CC-6FB1-FBD5-986B401477E6}"/>
              </a:ext>
            </a:extLst>
          </p:cNvPr>
          <p:cNvSpPr>
            <a:spLocks noGrp="1"/>
          </p:cNvSpPr>
          <p:nvPr>
            <p:ph idx="1"/>
          </p:nvPr>
        </p:nvSpPr>
        <p:spPr>
          <a:xfrm>
            <a:off x="1286934" y="2365002"/>
            <a:ext cx="9618132" cy="1536382"/>
          </a:xfrm>
        </p:spPr>
        <p:txBody>
          <a:bodyPr>
            <a:normAutofit/>
          </a:bodyPr>
          <a:lstStyle/>
          <a:p>
            <a:pPr marL="0" indent="0">
              <a:buNone/>
            </a:pPr>
            <a:r>
              <a:rPr lang="en-US" sz="2000"/>
              <a:t>When creating a website, it's common to have long pages with multiple sections, and in order to navigate through them, you can use anchor links (also known as jump links) that allow users to jump to a specific section of the page. These links can be created by using the id attribute on an HTML element and linking to it using the # symbol followed by the id of the element in the href attribute of the anchor link.</a:t>
            </a:r>
          </a:p>
          <a:p>
            <a:pPr marL="0" indent="0">
              <a:buNone/>
            </a:pPr>
            <a:endParaRPr lang="en-IL" sz="2000"/>
          </a:p>
        </p:txBody>
      </p:sp>
      <p:pic>
        <p:nvPicPr>
          <p:cNvPr id="5" name="Picture 4">
            <a:extLst>
              <a:ext uri="{FF2B5EF4-FFF2-40B4-BE49-F238E27FC236}">
                <a16:creationId xmlns:a16="http://schemas.microsoft.com/office/drawing/2014/main" id="{E261A94C-9AC8-E9FB-E210-79A7101F2B3E}"/>
              </a:ext>
            </a:extLst>
          </p:cNvPr>
          <p:cNvPicPr>
            <a:picLocks noChangeAspect="1"/>
          </p:cNvPicPr>
          <p:nvPr/>
        </p:nvPicPr>
        <p:blipFill>
          <a:blip r:embed="rId2"/>
          <a:stretch>
            <a:fillRect/>
          </a:stretch>
        </p:blipFill>
        <p:spPr>
          <a:xfrm>
            <a:off x="2981026" y="4636346"/>
            <a:ext cx="6096002" cy="487679"/>
          </a:xfrm>
          <a:prstGeom prst="rect">
            <a:avLst/>
          </a:prstGeom>
        </p:spPr>
      </p:pic>
    </p:spTree>
    <p:extLst>
      <p:ext uri="{BB962C8B-B14F-4D97-AF65-F5344CB8AC3E}">
        <p14:creationId xmlns:p14="http://schemas.microsoft.com/office/powerpoint/2010/main" val="2479210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16489-941D-5CF1-838C-C60667F8DCC0}"/>
              </a:ext>
            </a:extLst>
          </p:cNvPr>
          <p:cNvSpPr>
            <a:spLocks noGrp="1"/>
          </p:cNvSpPr>
          <p:nvPr>
            <p:ph type="title"/>
          </p:nvPr>
        </p:nvSpPr>
        <p:spPr>
          <a:xfrm>
            <a:off x="1286934" y="1286934"/>
            <a:ext cx="9618132" cy="790147"/>
          </a:xfrm>
          <a:solidFill>
            <a:schemeClr val="tx1"/>
          </a:solidFill>
        </p:spPr>
        <p:txBody>
          <a:bodyPr vert="horz" lIns="91440" tIns="45720" rIns="91440" bIns="45720" rtlCol="0" anchor="ctr">
            <a:normAutofit/>
          </a:bodyPr>
          <a:lstStyle/>
          <a:p>
            <a:pPr algn="ctr"/>
            <a:r>
              <a:rPr lang="en-US" sz="3200" kern="1200">
                <a:solidFill>
                  <a:schemeClr val="bg1"/>
                </a:solidFill>
                <a:latin typeface="+mj-lt"/>
                <a:ea typeface="+mj-ea"/>
                <a:cs typeface="+mj-cs"/>
              </a:rPr>
              <a:t>Animate it </a:t>
            </a:r>
          </a:p>
        </p:txBody>
      </p:sp>
      <p:sp>
        <p:nvSpPr>
          <p:cNvPr id="5" name="TextBox 4">
            <a:extLst>
              <a:ext uri="{FF2B5EF4-FFF2-40B4-BE49-F238E27FC236}">
                <a16:creationId xmlns:a16="http://schemas.microsoft.com/office/drawing/2014/main" id="{3E0C8C99-5BC4-1BA2-AAD9-CFCB64363FF2}"/>
              </a:ext>
            </a:extLst>
          </p:cNvPr>
          <p:cNvSpPr txBox="1"/>
          <p:nvPr/>
        </p:nvSpPr>
        <p:spPr>
          <a:xfrm>
            <a:off x="1286934" y="2365002"/>
            <a:ext cx="9618132" cy="153638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a:t>html {</a:t>
            </a:r>
          </a:p>
          <a:p>
            <a:pPr indent="-228600">
              <a:lnSpc>
                <a:spcPct val="90000"/>
              </a:lnSpc>
              <a:spcAft>
                <a:spcPts val="600"/>
              </a:spcAft>
              <a:buFont typeface="Arial" panose="020B0604020202020204" pitchFamily="34" charset="0"/>
              <a:buChar char="•"/>
            </a:pPr>
            <a:r>
              <a:rPr lang="en-US" sz="2400"/>
              <a:t>scroll-behavior: smooth;</a:t>
            </a:r>
          </a:p>
          <a:p>
            <a:pPr indent="-228600">
              <a:lnSpc>
                <a:spcPct val="90000"/>
              </a:lnSpc>
              <a:spcAft>
                <a:spcPts val="600"/>
              </a:spcAft>
              <a:buFont typeface="Arial" panose="020B0604020202020204" pitchFamily="34" charset="0"/>
              <a:buChar char="•"/>
            </a:pPr>
            <a:r>
              <a:rPr lang="en-US" sz="2400"/>
              <a:t>}</a:t>
            </a:r>
          </a:p>
        </p:txBody>
      </p:sp>
      <p:pic>
        <p:nvPicPr>
          <p:cNvPr id="7" name="Picture 6" descr="A picture containing text, clock&#10;&#10;Description automatically generated">
            <a:extLst>
              <a:ext uri="{FF2B5EF4-FFF2-40B4-BE49-F238E27FC236}">
                <a16:creationId xmlns:a16="http://schemas.microsoft.com/office/drawing/2014/main" id="{48AA753D-F27A-EFFC-BC56-10741556BAD1}"/>
              </a:ext>
            </a:extLst>
          </p:cNvPr>
          <p:cNvPicPr>
            <a:picLocks noChangeAspect="1"/>
          </p:cNvPicPr>
          <p:nvPr/>
        </p:nvPicPr>
        <p:blipFill>
          <a:blip r:embed="rId2"/>
          <a:stretch>
            <a:fillRect/>
          </a:stretch>
        </p:blipFill>
        <p:spPr>
          <a:xfrm>
            <a:off x="3005305" y="4189306"/>
            <a:ext cx="6047443" cy="1381760"/>
          </a:xfrm>
          <a:prstGeom prst="rect">
            <a:avLst/>
          </a:prstGeom>
        </p:spPr>
      </p:pic>
    </p:spTree>
    <p:extLst>
      <p:ext uri="{BB962C8B-B14F-4D97-AF65-F5344CB8AC3E}">
        <p14:creationId xmlns:p14="http://schemas.microsoft.com/office/powerpoint/2010/main" val="40679987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B9D048-80C8-EFD1-33AC-8E875F8E4FAC}"/>
              </a:ext>
            </a:extLst>
          </p:cNvPr>
          <p:cNvSpPr>
            <a:spLocks noGrp="1"/>
          </p:cNvSpPr>
          <p:nvPr>
            <p:ph type="title"/>
          </p:nvPr>
        </p:nvSpPr>
        <p:spPr>
          <a:xfrm>
            <a:off x="838200" y="365125"/>
            <a:ext cx="10515600" cy="1325563"/>
          </a:xfrm>
        </p:spPr>
        <p:txBody>
          <a:bodyPr>
            <a:normAutofit/>
          </a:bodyPr>
          <a:lstStyle/>
          <a:p>
            <a:r>
              <a:rPr lang="en-IL" sz="5400"/>
              <a:t>Javascript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23DFFD5-B50E-388E-BD04-28A16ADCB132}"/>
              </a:ext>
            </a:extLst>
          </p:cNvPr>
          <p:cNvSpPr>
            <a:spLocks noGrp="1"/>
          </p:cNvSpPr>
          <p:nvPr>
            <p:ph idx="1"/>
          </p:nvPr>
        </p:nvSpPr>
        <p:spPr>
          <a:xfrm>
            <a:off x="838200" y="1929384"/>
            <a:ext cx="10515600" cy="4251960"/>
          </a:xfrm>
        </p:spPr>
        <p:txBody>
          <a:bodyPr>
            <a:normAutofit/>
          </a:bodyPr>
          <a:lstStyle/>
          <a:p>
            <a:r>
              <a:rPr lang="en-US" sz="1200"/>
              <a:t>Programming languages are a set of instructions that a computer can understand and execute. They are used to create software, applications, and other computer programs. There are many different types of programming languages, each with its own set of features and capabilities.</a:t>
            </a:r>
          </a:p>
          <a:p>
            <a:r>
              <a:rPr lang="en-US" sz="1200"/>
              <a:t>The basic concepts of programming languages include:</a:t>
            </a:r>
          </a:p>
          <a:p>
            <a:r>
              <a:rPr lang="en-US" sz="1200"/>
              <a:t>Syntax: The set of rules that dictate how a programming language should be written. This includes things like keywords, variable names, and operator symbols.</a:t>
            </a:r>
          </a:p>
          <a:p>
            <a:r>
              <a:rPr lang="en-US" sz="1200"/>
              <a:t>Variables: A container that holds a value that can be changed during the execution of a program.</a:t>
            </a:r>
          </a:p>
          <a:p>
            <a:r>
              <a:rPr lang="en-US" sz="1200"/>
              <a:t>Data Types: The type of data that a variable can hold, such as numbers, text, or true/false values.</a:t>
            </a:r>
          </a:p>
          <a:p>
            <a:r>
              <a:rPr lang="en-US" sz="1200"/>
              <a:t>Control Flow: The ability to control the flow of a program by making decisions and looping through sets of code.</a:t>
            </a:r>
          </a:p>
          <a:p>
            <a:r>
              <a:rPr lang="en-US" sz="1200"/>
              <a:t>Functions: A block of code that can be reused throughout a program.</a:t>
            </a:r>
          </a:p>
          <a:p>
            <a:r>
              <a:rPr lang="en-US" sz="1200"/>
              <a:t>Libraries: A collection of pre-written code that can be used to perform common tasks.</a:t>
            </a:r>
          </a:p>
          <a:p>
            <a:r>
              <a:rPr lang="en-US" sz="1200"/>
              <a:t>Object-oriented Programming (OOP): A programming paradigm that organizes code into objects, which have properties and methods.</a:t>
            </a:r>
          </a:p>
          <a:p>
            <a:r>
              <a:rPr lang="en-US" sz="1200"/>
              <a:t>Event-driven Programming: A programming paradigm that is based on reacting to specific events, like mouse clicks or button presses.</a:t>
            </a:r>
          </a:p>
          <a:p>
            <a:r>
              <a:rPr lang="en-US" sz="1200"/>
              <a:t>These concepts are common among many programming languages and are the basic building blocks of writing software. However, each language has its own unique syntax, set of libraries and frameworks, and specific uses cases. Some popular programming languages are C, C++, C#, Python, Java, JavaScript, Ruby, and Go.</a:t>
            </a:r>
          </a:p>
          <a:p>
            <a:endParaRPr lang="en-IL" sz="1200"/>
          </a:p>
        </p:txBody>
      </p:sp>
    </p:spTree>
    <p:extLst>
      <p:ext uri="{BB962C8B-B14F-4D97-AF65-F5344CB8AC3E}">
        <p14:creationId xmlns:p14="http://schemas.microsoft.com/office/powerpoint/2010/main" val="3669582196"/>
      </p:ext>
    </p:extLst>
  </p:cSld>
  <p:clrMapOvr>
    <a:masterClrMapping/>
  </p:clrMapOvr>
</p:sld>
</file>

<file path=ppt/theme/theme1.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2914</TotalTime>
  <Words>4857</Words>
  <Application>Microsoft Macintosh PowerPoint</Application>
  <PresentationFormat>Widescreen</PresentationFormat>
  <Paragraphs>187</Paragraphs>
  <Slides>44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Arial</vt:lpstr>
      <vt:lpstr>Calibri</vt:lpstr>
      <vt:lpstr>Calibri Light</vt:lpstr>
      <vt:lpstr>Consolas</vt:lpstr>
      <vt:lpstr>Inter</vt:lpstr>
      <vt:lpstr>Segoe UI</vt:lpstr>
      <vt:lpstr>Söhne</vt:lpstr>
      <vt:lpstr>Söhne Mono</vt:lpstr>
      <vt:lpstr>Verdana</vt:lpstr>
      <vt:lpstr>Office Theme 2013 - 2022</vt:lpstr>
      <vt:lpstr>Let’s go!</vt:lpstr>
      <vt:lpstr>Media Queries </vt:lpstr>
      <vt:lpstr>Media Queries - example</vt:lpstr>
      <vt:lpstr>List style (some small stuff)</vt:lpstr>
      <vt:lpstr>More option to style it </vt:lpstr>
      <vt:lpstr>transform</vt:lpstr>
      <vt:lpstr>keyframe</vt:lpstr>
      <vt:lpstr>border-radius</vt:lpstr>
      <vt:lpstr>calc</vt:lpstr>
      <vt:lpstr>clamp</vt:lpstr>
      <vt:lpstr>clip-path</vt:lpstr>
      <vt:lpstr>stacking context</vt:lpstr>
      <vt:lpstr>opacity</vt:lpstr>
      <vt:lpstr>transform</vt:lpstr>
      <vt:lpstr>tables</vt:lpstr>
      <vt:lpstr>outlines</vt:lpstr>
      <vt:lpstr>float</vt:lpstr>
      <vt:lpstr>Float more</vt:lpstr>
      <vt:lpstr>PowerPoint Presentation</vt:lpstr>
      <vt:lpstr>Flexbox</vt:lpstr>
      <vt:lpstr>Flexbox- info</vt:lpstr>
      <vt:lpstr>FlexBox – you need </vt:lpstr>
      <vt:lpstr>flex-direction</vt:lpstr>
      <vt:lpstr> flex-wrap</vt:lpstr>
      <vt:lpstr>flex-flow</vt:lpstr>
      <vt:lpstr>justify-content</vt:lpstr>
      <vt:lpstr>align-items</vt:lpstr>
      <vt:lpstr>align-content</vt:lpstr>
      <vt:lpstr>summery</vt:lpstr>
      <vt:lpstr>Flex Item</vt:lpstr>
      <vt:lpstr>Flex Item - order</vt:lpstr>
      <vt:lpstr>Flex Item- flex-grow</vt:lpstr>
      <vt:lpstr>Flex Item- flex-grow</vt:lpstr>
      <vt:lpstr>Flex Item - flex-shrink</vt:lpstr>
      <vt:lpstr>Flex Item – grow vs shrink</vt:lpstr>
      <vt:lpstr>Shrink vs grow summary</vt:lpstr>
      <vt:lpstr>Flex item - align-self</vt:lpstr>
      <vt:lpstr>Flex item summary</vt:lpstr>
      <vt:lpstr>inline-flex</vt:lpstr>
      <vt:lpstr>Flex-item: flex-basis</vt:lpstr>
      <vt:lpstr>Flex-item- flex</vt:lpstr>
      <vt:lpstr>Link to id ?</vt:lpstr>
      <vt:lpstr>Animate it </vt:lpstr>
      <vt:lpstr>Javascript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Recap</dc:title>
  <dc:creator>Shaked Chen</dc:creator>
  <cp:lastModifiedBy>Shaked Chen</cp:lastModifiedBy>
  <cp:revision>52</cp:revision>
  <dcterms:created xsi:type="dcterms:W3CDTF">2023-01-07T23:33:56Z</dcterms:created>
  <dcterms:modified xsi:type="dcterms:W3CDTF">2023-01-23T11:37:54Z</dcterms:modified>
</cp:coreProperties>
</file>